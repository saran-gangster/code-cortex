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f1b5360d46435e" /><Relationship Type="http://schemas.openxmlformats.org/officeDocument/2006/relationships/extended-properties" Target="/docProps/app.xml" Id="R272fd4643ba94eb7" /><Relationship Type="http://schemas.openxmlformats.org/officeDocument/2006/relationships/officeDocument" Target="/ppt/presentation.xml" Id="R857dc2272014482a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cb713f76f784407d"/>
  </p:sldMasterIdLst>
  <p:notesMasterIdLst>
    <p:notesMasterId xmlns:r="http://schemas.openxmlformats.org/officeDocument/2006/relationships" r:id="Rb3f3b38e02b8407a"/>
  </p:notesMasterIdLst>
  <p:sldIdLst>
    <p:sldId xmlns:r="http://schemas.openxmlformats.org/officeDocument/2006/relationships" id="256" r:id="R1783efb8606148fd"/>
    <p:sldId xmlns:r="http://schemas.openxmlformats.org/officeDocument/2006/relationships" id="257" r:id="R92d444569f77481d"/>
    <p:sldId xmlns:r="http://schemas.openxmlformats.org/officeDocument/2006/relationships" id="258" r:id="R8144de5c39bb4f3b"/>
    <p:sldId xmlns:r="http://schemas.openxmlformats.org/officeDocument/2006/relationships" id="259" r:id="R48ea702082f8451d"/>
    <p:sldId xmlns:r="http://schemas.openxmlformats.org/officeDocument/2006/relationships" id="260" r:id="R1306b88fb2534266"/>
    <p:sldId xmlns:r="http://schemas.openxmlformats.org/officeDocument/2006/relationships" id="261" r:id="R656d89e8419f4057"/>
    <p:sldId xmlns:r="http://schemas.openxmlformats.org/officeDocument/2006/relationships" id="262" r:id="R4b2196f1a1514bc7"/>
    <p:sldId xmlns:r="http://schemas.openxmlformats.org/officeDocument/2006/relationships" id="263" r:id="R0b9e37063b4a4949"/>
    <p:sldId xmlns:r="http://schemas.openxmlformats.org/officeDocument/2006/relationships" id="264" r:id="Rb6ae2c0e89174f88"/>
  </p:sldIdLst>
  <p:sldSz cx="18288000" cy="10287000"/>
  <p:notesSz cx="6858000" cy="9144000"/>
  <p:embeddedFontLst>
    <p:embeddedFont>
      <p:font typeface="Brick Sans"/>
      <p:regular xmlns:r="http://schemas.openxmlformats.org/officeDocument/2006/relationships" r:id="R4a1d9d8842c6463c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6435743cb648b9" /><Relationship Type="http://schemas.openxmlformats.org/officeDocument/2006/relationships/slideMaster" Target="/ppt/slideMasters/slideMaster1.xml" Id="Rcb713f76f784407d" /><Relationship Type="http://schemas.openxmlformats.org/officeDocument/2006/relationships/notesMaster" Target="/ppt/notesMasters/notesMaster1.xml" Id="Rb3f3b38e02b8407a" /><Relationship Type="http://schemas.openxmlformats.org/officeDocument/2006/relationships/presProps" Target="/ppt/presProps.xml" Id="R8425559cc6474966" /><Relationship Type="http://schemas.openxmlformats.org/officeDocument/2006/relationships/viewProps" Target="/ppt/viewProps.xml" Id="Rfa1dfe871c7d43b8" /><Relationship Type="http://schemas.openxmlformats.org/officeDocument/2006/relationships/tableStyles" Target="/ppt/tableStyles.xml" Id="R1a46557f167c4d1b" /><Relationship Type="http://schemas.openxmlformats.org/officeDocument/2006/relationships/font" Target="/ppt/fonts/font.dat" Id="R4a1d9d8842c6463c" /><Relationship Type="http://schemas.openxmlformats.org/officeDocument/2006/relationships/slide" Target="/ppt/slides/slide1.xml" Id="R1783efb8606148fd" /><Relationship Type="http://schemas.openxmlformats.org/officeDocument/2006/relationships/slide" Target="/ppt/slides/slide2.xml" Id="R92d444569f77481d" /><Relationship Type="http://schemas.openxmlformats.org/officeDocument/2006/relationships/slide" Target="/ppt/slides/slide3.xml" Id="R8144de5c39bb4f3b" /><Relationship Type="http://schemas.openxmlformats.org/officeDocument/2006/relationships/slide" Target="/ppt/slides/slide4.xml" Id="R48ea702082f8451d" /><Relationship Type="http://schemas.openxmlformats.org/officeDocument/2006/relationships/slide" Target="/ppt/slides/slide5.xml" Id="R1306b88fb2534266" /><Relationship Type="http://schemas.openxmlformats.org/officeDocument/2006/relationships/slide" Target="/ppt/slides/slide6.xml" Id="R656d89e8419f4057" /><Relationship Type="http://schemas.openxmlformats.org/officeDocument/2006/relationships/slide" Target="/ppt/slides/slide7.xml" Id="R4b2196f1a1514bc7" /><Relationship Type="http://schemas.openxmlformats.org/officeDocument/2006/relationships/slide" Target="/ppt/slides/slide8.xml" Id="R0b9e37063b4a4949" /><Relationship Type="http://schemas.openxmlformats.org/officeDocument/2006/relationships/slide" Target="/ppt/slides/slide9.xml" Id="Rb6ae2c0e89174f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0d4fd8ee0c45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8372a8d9b74a69" /><Relationship Type="http://schemas.openxmlformats.org/officeDocument/2006/relationships/notesMaster" Target="/ppt/notesMasters/notesMaster1.xml" Id="Rb36df7a34ea844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1b66c2709c45a0" /><Relationship Type="http://schemas.openxmlformats.org/officeDocument/2006/relationships/notesMaster" Target="/ppt/notesMasters/notesMaster1.xml" Id="Ra8ad959cbde648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027c48ec5d49a1" /><Relationship Type="http://schemas.openxmlformats.org/officeDocument/2006/relationships/notesMaster" Target="/ppt/notesMasters/notesMaster1.xml" Id="Ra4fa5a9b46c54b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eeca959cf14c83" /><Relationship Type="http://schemas.openxmlformats.org/officeDocument/2006/relationships/notesMaster" Target="/ppt/notesMasters/notesMaster1.xml" Id="R730378930f5741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162e04280d46ed" /><Relationship Type="http://schemas.openxmlformats.org/officeDocument/2006/relationships/notesMaster" Target="/ppt/notesMasters/notesMaster1.xml" Id="R835987042d1d45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359ae4a03d24c33" /><Relationship Type="http://schemas.openxmlformats.org/officeDocument/2006/relationships/notesMaster" Target="/ppt/notesMasters/notesMaster1.xml" Id="Rd1e154f9753141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2763412196411a" /><Relationship Type="http://schemas.openxmlformats.org/officeDocument/2006/relationships/notesMaster" Target="/ppt/notesMasters/notesMaster1.xml" Id="R86972ab5080549f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669e4d23da548e1" /><Relationship Type="http://schemas.openxmlformats.org/officeDocument/2006/relationships/notesMaster" Target="/ppt/notesMasters/notesMaster1.xml" Id="R2fe7024e08ec4ed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557635492d041e5" /><Relationship Type="http://schemas.openxmlformats.org/officeDocument/2006/relationships/notesMaster" Target="/ppt/notesMasters/notesMaster1.xml" Id="Rc7df3a12562147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Good morning. AeroGuard is a supervised aerial perception and evidence-review system.</a:t>
            </a:r>
          </a:p>
          <a:p xmlns:a="http://schemas.openxmlformats.org/drawingml/2006/main">
            <a:r>
              <a:t>This final review covers the complete data split, selected detector, measured test results, working product, and edge deployment path.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Fill the blank team details before presenting.</a:t>
            </a:r>
          </a:p>
          <a:p xmlns:a="http://schemas.openxmlformats.org/drawingml/2006/main">
            <a:r>
              <a:t>Do not add names or affiliations unless the team confirms them.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Aerial detection is difficult because small targets and camera motion reduce visual detail.</a:t>
            </a:r>
          </a:p>
          <a:p xmlns:a="http://schemas.openxmlformats.org/drawingml/2006/main">
            <a:r>
              <a:t>AU-AIR contains 32,823 frames and paired flight metadata.</a:t>
            </a:r>
          </a:p>
          <a:p xmlns:a="http://schemas.openxmlformats.org/drawingml/2006/main">
            <a:r>
              <a:t>We split by complete flight recording so nearby frames do not leak between training and evaluation.</a:t>
            </a:r>
          </a:p>
          <a:p xmlns:a="http://schemas.openxmlformats.org/drawingml/2006/main">
            <a:r>
              <a:t>Source: repository README and reports/final split manifest.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product connects detections to evidence that a human can inspect.</a:t>
            </a:r>
          </a:p>
          <a:p xmlns:a="http://schemas.openxmlformats.org/drawingml/2006/main">
            <a:r>
              <a:t>The console uses real AU-AIR frames and stored predictions for the demonstration.</a:t>
            </a:r>
          </a:p>
          <a:p xmlns:a="http://schemas.openxmlformats.org/drawingml/2006/main">
            <a:r>
              <a:t>The software path includes a FastAPI evidence service and a React review console.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selected detector was chosen only from the validation flight.</a:t>
            </a:r>
          </a:p>
          <a:p xmlns:a="http://schemas.openxmlformats.org/drawingml/2006/main">
            <a:r>
              <a:t>The training loss fell from 4.3787 to 3.7025 and validation loss fell from 4.2927 to 4.0184.</a:t>
            </a:r>
          </a:p>
          <a:p xmlns:a="http://schemas.openxmlformats.org/drawingml/2006/main">
            <a:r>
              <a:t>On the frozen final test, AP50 was 0.2083, recall was 47.41 percent, F1 was 36.51 percent, and total loss was 4.2918.</a:t>
            </a:r>
          </a:p>
          <a:p xmlns:a="http://schemas.openxmlformats.org/drawingml/2006/main">
            <a:r>
              <a:t>AP50 measures the area under the precision-recall curve when predicted and labelled boxes overlap by at least 50 percent.</a:t>
            </a:r>
          </a:p>
          <a:p xmlns:a="http://schemas.openxmlformats.org/drawingml/2006/main">
            <a:r>
              <a:t>The flight-state smoke test did not pass its predeclared gate, so we did not scale that branch.</a:t>
            </a:r>
          </a:p>
          <a:p xmlns:a="http://schemas.openxmlformats.org/drawingml/2006/main">
            <a:r>
              <a:t>Source: reports/final/benchmarks/yolo26s-960 and reports/final/state-hypothesis.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final benchmark uses a pretrained YOLO26s detector at 960 pixels.</a:t>
            </a:r>
          </a:p>
          <a:p xmlns:a="http://schemas.openxmlformats.org/drawingml/2006/main">
            <a:r>
              <a:t>The evidence service keeps predictions, frame metadata, model identity and human review together.</a:t>
            </a:r>
          </a:p>
          <a:p xmlns:a="http://schemas.openxmlformats.org/drawingml/2006/main">
            <a:r>
              <a:t>The separate FCOS plus FiLM architecture tested whether flight state helped. Its final split smoke gate did not pass.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main detector benchmark used pretrained YOLO models and mixed precision on Kaggle T4 GPUs.</a:t>
            </a:r>
          </a:p>
          <a:p xmlns:a="http://schemas.openxmlformats.org/drawingml/2006/main">
            <a:r>
              <a:t>The research branch used TorchVision FCOS, gated FiLM and PyTorch Lightning.</a:t>
            </a:r>
          </a:p>
          <a:p xmlns:a="http://schemas.openxmlformats.org/drawingml/2006/main">
            <a:r>
              <a:t>FastAPI provides the evidence service. React and TypeScript provide the review console.</a:t>
            </a:r>
          </a:p>
          <a:p xmlns:a="http://schemas.openxmlformats.org/drawingml/2006/main">
            <a:r>
              <a:t>ONNX and TensorRT scripts form the Jetson deployment path.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software and reproducibility path are complete, but the Jetson engine benchmark remains pending.</a:t>
            </a:r>
          </a:p>
          <a:p xmlns:a="http://schemas.openxmlformats.org/drawingml/2006/main">
            <a:r>
              <a:t>TensorRT engines depend on the target GPU and TensorRT version, so we will build and measure on the actual Jetson.</a:t>
            </a:r>
          </a:p>
          <a:p xmlns:a="http://schemas.openxmlformats.org/drawingml/2006/main">
            <a:r>
              <a:t>The team must fill the customer, use case, delivery model and pricing fields before presenting a business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final outcome is a measured detector baseline, a working evidence-review system, and a reproducible edge path.</a:t>
            </a:r>
          </a:p>
          <a:p xmlns:a="http://schemas.openxmlformats.org/drawingml/2006/main">
            <a:r>
              <a:t>Thank the judges and invite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ea7c3e877a467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c5f65c241642f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2c6f22bab24a2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5ee5df779e4cc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03795ade40420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08162645fe435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13a4639eeb4bf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3f4a91be2b41b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86ddf9e93b4b2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b23624eac142d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4241ea42af4ef9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0D1AD64-8C91-4BE3-82B6-A77044C7631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AFC96F3-3240-46EB-945B-BBC8EEF9B6E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194D54C-A64D-4C77-A27C-61158F72F6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E46D745-B7AE-499D-94EB-D744771FCBC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DB43DB4-06A7-40E6-95E8-84919663D3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C77F7C8-6B79-4765-8912-9E7FF477DF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53AA196-37F5-4EE5-82A8-AE56BBBB15D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FF07E69-4F1E-4340-B6FC-948EBEA4D7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1448168-BBAA-46D6-A050-9E310D97FC5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41785B9-AEB0-45A8-B1B2-385ADB61FF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7499726-4E6F-413B-A96E-1F75925FA8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123AA75-51F9-4746-A8C1-DF12B3D99E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0AD0A9B-E92F-4970-9D47-1D5C90EEEC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BB944BA-25CB-4A58-825D-6879D6870CD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505441C-6F9C-4EFC-83F4-6403C4E962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441082D-56B4-4C34-B17C-80B468CB93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55CB989-7A8B-4618-BD55-442B752EECC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A4E28CB-445D-4B37-9871-FAEEF618ED9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8A25B10-B34A-43CE-A6BB-048316B5108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B2C6F26-12A0-431E-8D5F-5C32AA2B78B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B0527FE-35B3-4822-8982-C7BB64E6F0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E06D467-06E4-4D3F-BA4E-72F72B36BD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F272473-E8A0-4518-83E9-8C96E3DD70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6A59C77-C45A-46D5-B982-F53277AA613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34A5EE96-7BE0-4756-B9A6-FC050DD4F91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843F4883-83CF-4D86-A124-D40812FB97E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17BCD05A-2B32-434C-86D4-4EB06106A2E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31B629A8-1E4D-4DB5-9859-B0D7CBA8A3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E8DE9D23-86E7-465B-9730-8FF8303848B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6F51E68-687B-4D6B-8071-5C6F1D9B24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F865406-D8FB-46B0-B039-F720C2D3BBB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0E9AB9F1-EF88-40A6-ADE3-F210BB0574F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6F5004E7-316B-48C6-BF59-6173CC88EC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EAFD506-1AFC-48F4-B4E4-CCB434B39F5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8B2B92D-A604-41A5-9440-289D6E2CE8A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67AD232-3CF4-465F-9C2F-E3709CDA60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D153FEF-5A7A-473B-B89A-441FB01642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74403C2-8592-40C6-8346-F465D6FC70B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C0B2DF3-0244-4235-99A6-9060EAECC1C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BA80803-EDBE-49E7-9EEE-5D64AB21B8F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AFEA84E-4655-445E-81AB-6B8F0B954E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3EBF231-514E-4262-8EAD-4619080E49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1356B6F-E905-4F9F-96DC-EA96891DD2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CDF0BDB-B40A-4567-901C-C9CD097B712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A0E8B31-79E7-43D6-8039-9CBCCDBEB1D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85C5FCC-EC6F-45E2-91C9-67B6A0FD8A0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6990981-C36B-4C93-872B-C8F18BD27A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A19BFCF-1B86-4537-B1D7-2B74DF2F5BB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797037E-CB92-4AF0-83EA-C23AF66531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23AD151-9FD1-4A7C-AEBF-25A4280675C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2BE9E17-1296-4F42-92C6-7B17C3885A9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B32F9D5-1A4F-4F81-B47E-3760D4E1FC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8167161-83AA-473F-8FFA-B81CC0E6BB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5E130CAE-67C7-4F2A-BE68-65366A205A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89267C6-A697-4412-9358-DC011C92C4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BED1945-9D96-4230-9F5F-CAADA44266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7E8AE0-F2C2-4C2F-9131-EC3908E5D5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C1D27EF-3A61-4ED9-8C90-A3D1137DD8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9001f2474d481b" /><Relationship Type="http://schemas.openxmlformats.org/officeDocument/2006/relationships/slideLayout" Target="/ppt/slideLayouts/slideLayout1.xml" Id="Re635bc5b35c44646" /><Relationship Type="http://schemas.openxmlformats.org/officeDocument/2006/relationships/slideLayout" Target="/ppt/slideLayouts/slideLayout2.xml" Id="R377dba86ee5143a5" /><Relationship Type="http://schemas.openxmlformats.org/officeDocument/2006/relationships/slideLayout" Target="/ppt/slideLayouts/slideLayout3.xml" Id="Ra85c8521d4c44043" /><Relationship Type="http://schemas.openxmlformats.org/officeDocument/2006/relationships/slideLayout" Target="/ppt/slideLayouts/slideLayout4.xml" Id="R1584da4894164cca" /><Relationship Type="http://schemas.openxmlformats.org/officeDocument/2006/relationships/slideLayout" Target="/ppt/slideLayouts/slideLayout5.xml" Id="R7ec41b692b1a4e79" /><Relationship Type="http://schemas.openxmlformats.org/officeDocument/2006/relationships/slideLayout" Target="/ppt/slideLayouts/slideLayout6.xml" Id="Rf87718ff4d7745be" /><Relationship Type="http://schemas.openxmlformats.org/officeDocument/2006/relationships/slideLayout" Target="/ppt/slideLayouts/slideLayout7.xml" Id="Rce99863b2ea04887" /><Relationship Type="http://schemas.openxmlformats.org/officeDocument/2006/relationships/slideLayout" Target="/ppt/slideLayouts/slideLayout8.xml" Id="R9793f39393e24f8c" /><Relationship Type="http://schemas.openxmlformats.org/officeDocument/2006/relationships/slideLayout" Target="/ppt/slideLayouts/slideLayout9.xml" Id="Rb2988e3b97ae43cb" /><Relationship Type="http://schemas.openxmlformats.org/officeDocument/2006/relationships/slideLayout" Target="/ppt/slideLayouts/slideLayout10.xml" Id="Ra0ff49cc7a0643be" /><Relationship Type="http://schemas.openxmlformats.org/officeDocument/2006/relationships/slideLayout" Target="/ppt/slideLayouts/slideLayout11.xml" Id="R62c366e7cede4ba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CC96D4D-6A5A-441A-9CFD-4FCCBC1523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7376CD5-8A14-4D96-A926-A2DE0F341D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A6EA491-9283-40C3-B1EE-CB60E7ACB61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D8008EA-35BA-4059-8576-8F79B508507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660C228-E48D-4FDA-BAFE-02D87E4FCF3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35bc5b35c44646"/>
    <p:sldLayoutId xmlns:r="http://schemas.openxmlformats.org/officeDocument/2006/relationships" id="2147483650" r:id="R377dba86ee5143a5"/>
    <p:sldLayoutId xmlns:r="http://schemas.openxmlformats.org/officeDocument/2006/relationships" id="2147483651" r:id="Ra85c8521d4c44043"/>
    <p:sldLayoutId xmlns:r="http://schemas.openxmlformats.org/officeDocument/2006/relationships" id="2147483652" r:id="R1584da4894164cca"/>
    <p:sldLayoutId xmlns:r="http://schemas.openxmlformats.org/officeDocument/2006/relationships" id="2147483653" r:id="R7ec41b692b1a4e79"/>
    <p:sldLayoutId xmlns:r="http://schemas.openxmlformats.org/officeDocument/2006/relationships" id="2147483654" r:id="Rf87718ff4d7745be"/>
    <p:sldLayoutId xmlns:r="http://schemas.openxmlformats.org/officeDocument/2006/relationships" id="2147483655" r:id="Rce99863b2ea04887"/>
    <p:sldLayoutId xmlns:r="http://schemas.openxmlformats.org/officeDocument/2006/relationships" id="2147483656" r:id="R9793f39393e24f8c"/>
    <p:sldLayoutId xmlns:r="http://schemas.openxmlformats.org/officeDocument/2006/relationships" id="2147483657" r:id="Rb2988e3b97ae43cb"/>
    <p:sldLayoutId xmlns:r="http://schemas.openxmlformats.org/officeDocument/2006/relationships" id="2147483658" r:id="Ra0ff49cc7a0643be"/>
    <p:sldLayoutId xmlns:r="http://schemas.openxmlformats.org/officeDocument/2006/relationships" id="2147483659" r:id="R62c366e7cede4ba0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d9f82965f524f86" /><Relationship Type="http://schemas.openxmlformats.org/officeDocument/2006/relationships/image" Target="/ppt/media/image.png" Id="R6f1af43e1f6b42eb" /><Relationship Type="http://schemas.openxmlformats.org/officeDocument/2006/relationships/image" Target="/ppt/media/image2.png" Id="R05febbcc64df4e24" /><Relationship Type="http://schemas.openxmlformats.org/officeDocument/2006/relationships/image" Target="/ppt/media/image3.png" Id="R894226b116084282" /><Relationship Type="http://schemas.openxmlformats.org/officeDocument/2006/relationships/image" Target="/ppt/media/image4.png" Id="R52e3c897ff4049e8" /><Relationship Type="http://schemas.openxmlformats.org/officeDocument/2006/relationships/notesSlide" Target="/ppt/notesSlides/notesSlide1.xml" Id="R896e76bd3fe84b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9be2db409954a2d" /><Relationship Type="http://schemas.openxmlformats.org/officeDocument/2006/relationships/image" Target="/ppt/media/image.png" Id="R8fd15620151c407b" /><Relationship Type="http://schemas.openxmlformats.org/officeDocument/2006/relationships/image" Target="/ppt/media/image2.png" Id="R44d34a4077254ae8" /><Relationship Type="http://schemas.openxmlformats.org/officeDocument/2006/relationships/image" Target="/ppt/media/image4.png" Id="R4e01ba76bef643fa" /><Relationship Type="http://schemas.openxmlformats.org/officeDocument/2006/relationships/image" Target="/ppt/media/image5.png" Id="Rdc01a6cbba6641f0" /><Relationship Type="http://schemas.openxmlformats.org/officeDocument/2006/relationships/notesSlide" Target="/ppt/notesSlides/notesSlide2.xml" Id="Re8d099ba473e49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09f1cbd610d46a2" /><Relationship Type="http://schemas.openxmlformats.org/officeDocument/2006/relationships/image" Target="/ppt/media/image.png" Id="R5254430dd8574492" /><Relationship Type="http://schemas.openxmlformats.org/officeDocument/2006/relationships/image" Target="/ppt/media/image2.png" Id="Rc73809c8ca0543f4" /><Relationship Type="http://schemas.openxmlformats.org/officeDocument/2006/relationships/image" Target="/ppt/media/image4.png" Id="R7d64b120dc5b41b7" /><Relationship Type="http://schemas.openxmlformats.org/officeDocument/2006/relationships/image" Target="/ppt/media/image6.png" Id="Rb6bdf40d26bb4b34" /><Relationship Type="http://schemas.openxmlformats.org/officeDocument/2006/relationships/notesSlide" Target="/ppt/notesSlides/notesSlide3.xml" Id="R52c190e07af14c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672c18f3e864bb7" /><Relationship Type="http://schemas.openxmlformats.org/officeDocument/2006/relationships/image" Target="/ppt/media/image.png" Id="R508a3fe3405f4cae" /><Relationship Type="http://schemas.openxmlformats.org/officeDocument/2006/relationships/image" Target="/ppt/media/image2.png" Id="R9897183e53a0492d" /><Relationship Type="http://schemas.openxmlformats.org/officeDocument/2006/relationships/image" Target="/ppt/media/image4.png" Id="R8d7c8ce286e54730" /><Relationship Type="http://schemas.openxmlformats.org/officeDocument/2006/relationships/image" Target="/ppt/media/image7.png" Id="Rc57f5896d7f34052" /><Relationship Type="http://schemas.openxmlformats.org/officeDocument/2006/relationships/notesSlide" Target="/ppt/notesSlides/notesSlide4.xml" Id="R6f7268164ad744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b8f10c23c844ae0" /><Relationship Type="http://schemas.openxmlformats.org/officeDocument/2006/relationships/image" Target="/ppt/media/image.png" Id="R9dc637f9248a40a2" /><Relationship Type="http://schemas.openxmlformats.org/officeDocument/2006/relationships/image" Target="/ppt/media/image2.png" Id="Raa382a0495224673" /><Relationship Type="http://schemas.openxmlformats.org/officeDocument/2006/relationships/image" Target="/ppt/media/image4.png" Id="R0b3144baaaf64c65" /><Relationship Type="http://schemas.openxmlformats.org/officeDocument/2006/relationships/chart" Target="/ppt/slides/charts/chart1.xml" Id="R033663cfc7e24020" /><Relationship Type="http://schemas.openxmlformats.org/officeDocument/2006/relationships/notesSlide" Target="/ppt/notesSlides/notesSlide5.xml" Id="Rdf688bfc4e8a46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4b8da0e6c9842f8" /><Relationship Type="http://schemas.openxmlformats.org/officeDocument/2006/relationships/image" Target="/ppt/media/image.png" Id="R081e03e2bc114931" /><Relationship Type="http://schemas.openxmlformats.org/officeDocument/2006/relationships/image" Target="/ppt/media/image2.png" Id="Rf8974fb57c104450" /><Relationship Type="http://schemas.openxmlformats.org/officeDocument/2006/relationships/image" Target="/ppt/media/image4.png" Id="Rc5341cce00034035" /><Relationship Type="http://schemas.openxmlformats.org/officeDocument/2006/relationships/notesSlide" Target="/ppt/notesSlides/notesSlide6.xml" Id="Rce9cf6db202a4b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894ad711a004d55" /><Relationship Type="http://schemas.openxmlformats.org/officeDocument/2006/relationships/image" Target="/ppt/media/image.png" Id="R3e148004e8834fb6" /><Relationship Type="http://schemas.openxmlformats.org/officeDocument/2006/relationships/image" Target="/ppt/media/image2.png" Id="Rcbb0246ec5ca4cda" /><Relationship Type="http://schemas.openxmlformats.org/officeDocument/2006/relationships/image" Target="/ppt/media/image4.png" Id="R5726163a92fa4a23" /><Relationship Type="http://schemas.openxmlformats.org/officeDocument/2006/relationships/notesSlide" Target="/ppt/notesSlides/notesSlide7.xml" Id="R4a4174fa7d2c45e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cf6bcfa31ba4762" /><Relationship Type="http://schemas.openxmlformats.org/officeDocument/2006/relationships/image" Target="/ppt/media/image.png" Id="Rc9cd8d1ab8ad457b" /><Relationship Type="http://schemas.openxmlformats.org/officeDocument/2006/relationships/image" Target="/ppt/media/image2.png" Id="Rab20758cd9af4f3f" /><Relationship Type="http://schemas.openxmlformats.org/officeDocument/2006/relationships/image" Target="/ppt/media/image4.png" Id="Rc9e98774ac2246b9" /><Relationship Type="http://schemas.openxmlformats.org/officeDocument/2006/relationships/notesSlide" Target="/ppt/notesSlides/notesSlide8.xml" Id="R09918816fb154c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e64a8be550d4185" /><Relationship Type="http://schemas.openxmlformats.org/officeDocument/2006/relationships/image" Target="/ppt/media/image.png" Id="Rc02ab6dd058c4d9c" /><Relationship Type="http://schemas.openxmlformats.org/officeDocument/2006/relationships/image" Target="/ppt/media/image2.png" Id="R056378ae37354228" /><Relationship Type="http://schemas.openxmlformats.org/officeDocument/2006/relationships/image" Target="/ppt/media/image4.png" Id="R52714b0f5af74826" /><Relationship Type="http://schemas.openxmlformats.org/officeDocument/2006/relationships/hyperlink" Target="https://github.com/saran-gangster/code-cortex" TargetMode="External" Id="R7e3a5119a47e487c" /><Relationship Type="http://schemas.openxmlformats.org/officeDocument/2006/relationships/notesSlide" Target="/ppt/notesSlides/notesSlide9.xml" Id="R1a50053df38a45ab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 b="1">
                <a:solidFill>
                  <a:srgbClr val="071B3B"/>
                </a:solidFill>
                <a:latin typeface="Calibri"/>
                <a:ea typeface="Calibri"/>
                <a:cs typeface="Calibri"/>
              </a:rPr>
              <a:t>Training and validation loss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 b="1">
              <a:solidFill>
                <a:srgbClr val="071B3B"/>
              </a:solidFill>
              <a:latin typeface="Calibri"/>
              <a:ea typeface="Calibri"/>
              <a:cs typeface="Calibri"/>
            </a:defRPr>
          </a:pPr>
        </a:p>
      </c:txPr>
    </c:title>
    <c:plotArea>
      <c:lineChart>
        <c:grouping val="standard"/>
        <c:ser>
          <c:idx val="0"/>
          <c:order val="0"/>
          <c:tx>
            <c:v>Training loss</c:v>
          </c:tx>
          <c:spPr>
            <a:ln xmlns:a="http://schemas.openxmlformats.org/drawingml/2006/main" w="38100">
              <a:solidFill>
                <a:srgbClr val="004AAD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004AAD"/>
              </a:solidFill>
            </c:spPr>
          </c:marker>
          <c:cat>
            <c:numLit>
              <c:formatCode>General</c:formatCode>
              <c:ptCount val="7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</c:numLit>
          </c:cat>
          <c:val>
            <c:numLit>
              <c:formatCode>0.0</c:formatCode>
              <c:ptCount val="7"/>
              <c:pt idx="0">
                <c:v>4.37869</c:v>
              </c:pt>
              <c:pt idx="1">
                <c:v>4.08544</c:v>
              </c:pt>
              <c:pt idx="2">
                <c:v>4.0184</c:v>
              </c:pt>
              <c:pt idx="3">
                <c:v>3.9267</c:v>
              </c:pt>
              <c:pt idx="4">
                <c:v>3.8686</c:v>
              </c:pt>
              <c:pt idx="5">
                <c:v>3.74132</c:v>
              </c:pt>
              <c:pt idx="6">
                <c:v>3.70249</c:v>
              </c:pt>
            </c:numLit>
          </c:val>
        </c:ser>
        <c:ser>
          <c:idx val="1"/>
          <c:order val="1"/>
          <c:tx>
            <c:v>Validation loss</c:v>
          </c:tx>
          <c:spPr>
            <a:ln xmlns:a="http://schemas.openxmlformats.org/drawingml/2006/main" w="38100">
              <a:solidFill>
                <a:srgbClr val="E67E22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E67E22"/>
              </a:solidFill>
            </c:spPr>
          </c:marker>
          <c:cat>
            <c:numLit>
              <c:formatCode>General</c:formatCode>
              <c:ptCount val="7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</c:numLit>
          </c:cat>
          <c:val>
            <c:numLit>
              <c:formatCode>0.0</c:formatCode>
              <c:ptCount val="7"/>
              <c:pt idx="0">
                <c:v>4.29267</c:v>
              </c:pt>
              <c:pt idx="1">
                <c:v>4.19047</c:v>
              </c:pt>
              <c:pt idx="2">
                <c:v>4.12763</c:v>
              </c:pt>
              <c:pt idx="3">
                <c:v>4.10533</c:v>
              </c:pt>
              <c:pt idx="4">
                <c:v>4.04713</c:v>
              </c:pt>
              <c:pt idx="5">
                <c:v>4.02233</c:v>
              </c:pt>
              <c:pt idx="6">
                <c:v>4.01843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15243A"/>
                    </a:solidFill>
                    <a:latin typeface="Calibri"/>
                    <a:ea typeface="Calibri"/>
                    <a:cs typeface="Calibri"/>
                  </a:rPr>
                  <a:t>Epoch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5243A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AD5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243A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4.5"/>
          <c:min val="3.6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4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15243A"/>
                    </a:solidFill>
                    <a:latin typeface="Calibri"/>
                    <a:ea typeface="Calibri"/>
                    <a:cs typeface="Calibri"/>
                  </a:rPr>
                  <a:t>Total detector loss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5243A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243A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CAD5DC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15243A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F8F6F0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5461E865-5141-4F9F-851F-DEA3D638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4399049" cy="1967666"/>
          </a:xfrm>
          <a:custGeom xmlns:a="http://schemas.openxmlformats.org/drawingml/2006/main">
            <a:rect l="l" t="t" r="r" b="b"/>
            <a:pathLst>
              <a:path w="4399049" h="1967666">
                <a:moveTo>
                  <a:pt x="0" y="0"/>
                </a:moveTo>
                <a:lnTo>
                  <a:pt x="4399049" y="0"/>
                </a:lnTo>
                <a:lnTo>
                  <a:pt x="4399049" y="1967666"/>
                </a:lnTo>
                <a:lnTo>
                  <a:pt x="0" y="196766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f1af43e1f6b42eb"/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D7BEA69E-8774-48CF-8B8A-E62D1D81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24727" y="0"/>
            <a:ext cx="1863273" cy="1808065"/>
          </a:xfrm>
          <a:custGeom xmlns:a="http://schemas.openxmlformats.org/drawingml/2006/main">
            <a:rect l="l" t="t" r="r" b="b"/>
            <a:pathLst>
              <a:path w="1863273" h="1808065">
                <a:moveTo>
                  <a:pt x="0" y="0"/>
                </a:moveTo>
                <a:lnTo>
                  <a:pt x="1863273" y="0"/>
                </a:lnTo>
                <a:lnTo>
                  <a:pt x="1863273" y="1808065"/>
                </a:lnTo>
                <a:lnTo>
                  <a:pt x="0" y="180806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5febbcc64df4e24"/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94DE6969-5EE1-4D66-AE63-5852F464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59873" y="1808065"/>
            <a:ext cx="12168255" cy="6715499"/>
          </a:xfrm>
          <a:custGeom xmlns:a="http://schemas.openxmlformats.org/drawingml/2006/main">
            <a:rect l="l" t="t" r="r" b="b"/>
            <a:pathLst>
              <a:path w="12168255" h="6715499">
                <a:moveTo>
                  <a:pt x="0" y="0"/>
                </a:moveTo>
                <a:lnTo>
                  <a:pt x="12168254" y="0"/>
                </a:lnTo>
                <a:lnTo>
                  <a:pt x="12168254" y="6715499"/>
                </a:lnTo>
                <a:lnTo>
                  <a:pt x="0" y="671549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94226b116084282"/>
            <a:stretch>
              <a:fillRect l="0" t="0" r="0" b="0"/>
            </a:stretch>
          </a:blipFill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C99642C5-2430-4D32-A59A-004BDF00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4973148" y="8523564"/>
            <a:ext cx="27598881" cy="667111"/>
          </a:xfrm>
          <a:custGeom xmlns:a="http://schemas.openxmlformats.org/drawingml/2006/main">
            <a:rect l="l" t="t" r="r" b="b"/>
            <a:pathLst>
              <a:path w="7268841" h="175700">
                <a:moveTo>
                  <a:pt x="0" y="0"/>
                </a:moveTo>
                <a:lnTo>
                  <a:pt x="7268841" y="0"/>
                </a:lnTo>
                <a:lnTo>
                  <a:pt x="7268841" y="175700"/>
                </a:lnTo>
                <a:lnTo>
                  <a:pt x="0" y="175700"/>
                </a:lnTo>
                <a:close/>
              </a:path>
            </a:pathLst>
          </a:custGeom>
          <a:solidFill xmlns:a="http://schemas.openxmlformats.org/drawingml/2006/main">
            <a:srgbClr val="9CBAC1"/>
          </a:solid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653C87D1-5D0C-4C2F-A0F1-98570392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4973148" y="8234243"/>
            <a:ext cx="27598881" cy="9564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709"/>
              </a:lnSpc>
              <a:buNone/>
            </a:pPr>
            <a:r>
              <a:rPr sz="2649">
                <a:solidFill>
                  <a:srgbClr val="000000"/>
                </a:solidFill>
                <a:latin typeface="Brick Sans"/>
                <a:ea typeface="Brick Sans"/>
                <a:cs typeface="Brick Sans"/>
              </a:rPr>
              <a:t>CODE CORTEX 3.0 | CODE CORTEX 3.0 | CODE CORTEX 3.0 | CODE CORTEX 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6343D59A-E66B-4B2E-9A2D-94A85FAA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61727" y="280721"/>
            <a:ext cx="4164546" cy="1246624"/>
          </a:xfrm>
          <a:custGeom xmlns:a="http://schemas.openxmlformats.org/drawingml/2006/main">
            <a:rect l="l" t="t" r="r" b="b"/>
            <a:pathLst>
              <a:path w="4164546" h="1246624">
                <a:moveTo>
                  <a:pt x="0" y="0"/>
                </a:moveTo>
                <a:lnTo>
                  <a:pt x="4164546" y="0"/>
                </a:lnTo>
                <a:lnTo>
                  <a:pt x="4164546" y="1246623"/>
                </a:lnTo>
                <a:lnTo>
                  <a:pt x="0" y="124662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2e3c897ff4049e8"/>
            <a:stretch>
              <a:fillRect l="0" t="0" r="0" b="0"/>
            </a:stretch>
          </a:blipFill>
        </p:spPr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B7F27A14-C7A6-43B7-8AAB-F82C5006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4973148" y="9324975"/>
            <a:ext cx="27598881" cy="667111"/>
          </a:xfrm>
          <a:custGeom xmlns:a="http://schemas.openxmlformats.org/drawingml/2006/main">
            <a:rect l="l" t="t" r="r" b="b"/>
            <a:pathLst>
              <a:path w="7268841" h="175700">
                <a:moveTo>
                  <a:pt x="0" y="0"/>
                </a:moveTo>
                <a:lnTo>
                  <a:pt x="7268841" y="0"/>
                </a:lnTo>
                <a:lnTo>
                  <a:pt x="7268841" y="175700"/>
                </a:lnTo>
                <a:lnTo>
                  <a:pt x="0" y="175700"/>
                </a:lnTo>
                <a:close/>
              </a:path>
            </a:pathLst>
          </a:custGeom>
          <a:solidFill xmlns:a="http://schemas.openxmlformats.org/drawingml/2006/main">
            <a:srgbClr val="E5DF94"/>
          </a:solid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CFB1C13B-CF1A-4CD6-83A0-35E2E498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4973148" y="9035654"/>
            <a:ext cx="27598881" cy="9564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709"/>
              </a:lnSpc>
              <a:buNone/>
            </a:pPr>
            <a:r>
              <a:rPr sz="2649">
                <a:solidFill>
                  <a:srgbClr val="000000"/>
                </a:solidFill>
                <a:latin typeface="Brick Sans"/>
                <a:ea typeface="Brick Sans"/>
                <a:cs typeface="Brick Sans"/>
              </a:rPr>
              <a:t>CODE CORTEX 3.0 | CODE CORTEX 3.0 | CODE CORTEX 3.0 | CODE CORTEX </a:t>
            </a:r>
          </a:p>
        </p:txBody>
      </p:sp>
      <p:sp>
        <p:nvSpPr>
          <p:cNvPr id="12" name="project-title">
            <a:extLst xmlns:a="http://schemas.openxmlformats.org/drawingml/2006/main">
              <a:ext uri="{FF2B5EF4-FFF2-40B4-BE49-F238E27FC236}">
                <a16:creationId xmlns:a16="http://schemas.microsoft.com/office/drawing/2014/main" id="{F5D0EE39-D3DA-4B14-A311-7EC0FBD4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75247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071B3B"/>
                </a:solidFill>
                <a:latin typeface="Brick Sans"/>
                <a:ea typeface="Brick Sans"/>
                <a:cs typeface="Brick Sans"/>
              </a:defRPr>
            </a:pPr>
            <a:r>
              <a:rPr sz="3750" b="1">
                <a:solidFill>
                  <a:srgbClr val="071B3B"/>
                </a:solidFill>
                <a:latin typeface="Brick Sans"/>
                <a:ea typeface="Brick Sans"/>
                <a:cs typeface="Brick Sans"/>
              </a:rPr>
              <a:t>AEROGUARD</a:t>
            </a:r>
          </a:p>
        </p:txBody>
      </p:sp>
      <p:sp>
        <p:nvSpPr>
          <p:cNvPr id="13" name="project-subtitle">
            <a:extLst xmlns:a="http://schemas.openxmlformats.org/drawingml/2006/main">
              <a:ext uri="{FF2B5EF4-FFF2-40B4-BE49-F238E27FC236}">
                <a16:creationId xmlns:a16="http://schemas.microsoft.com/office/drawing/2014/main" id="{07C6323D-D614-4270-91C0-6DF78731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80391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4AAD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4AAD"/>
                </a:solidFill>
                <a:latin typeface="Calibri"/>
                <a:ea typeface="Calibri"/>
                <a:cs typeface="Calibri"/>
              </a:rPr>
              <a:t>FINAL REVIEW: FLIGHT-AWARE AERIAL OBJECT DETECTION</a:t>
            </a:r>
          </a:p>
        </p:txBody>
      </p:sp>
    </p:spTree>
    <p:extLst>
      <p:ext uri="{BB962C8B-B14F-4D97-AF65-F5344CB8AC3E}">
        <p14:creationId xmlns:p14="http://schemas.microsoft.com/office/powerpoint/2010/main" val="7916742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711E3B6A-A421-4D79-A40C-E865F84C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36600" y="1741390"/>
            <a:ext cx="7562521" cy="11291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ts val="8365"/>
              </a:lnSpc>
              <a:buNone/>
              <a:defRPr sz="5100" b="1">
                <a:solidFill>
                  <a:srgbClr val="004AAD"/>
                </a:solidFill>
                <a:latin typeface="Brick Sans"/>
                <a:ea typeface="Brick Sans"/>
                <a:cs typeface="Brick Sans"/>
              </a:defRPr>
            </a:pPr>
            <a:r>
              <a:rPr sz="5100" b="1" spc="-139">
                <a:solidFill>
                  <a:srgbClr val="004AAD"/>
                </a:solidFill>
                <a:latin typeface="Brick Sans"/>
                <a:ea typeface="Brick Sans"/>
                <a:cs typeface="Brick Sans"/>
              </a:rPr>
              <a:t>Team Details</a:t>
            </a:r>
          </a:p>
        </p:txBody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8FB360ED-731B-47EA-8E18-AF8E14C3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25" y="0"/>
            <a:ext cx="4399049" cy="1967666"/>
          </a:xfrm>
          <a:custGeom xmlns:a="http://schemas.openxmlformats.org/drawingml/2006/main">
            <a:rect l="l" t="t" r="r" b="b"/>
            <a:pathLst>
              <a:path w="4399049" h="1967666">
                <a:moveTo>
                  <a:pt x="0" y="0"/>
                </a:moveTo>
                <a:lnTo>
                  <a:pt x="4399049" y="0"/>
                </a:lnTo>
                <a:lnTo>
                  <a:pt x="4399049" y="1967666"/>
                </a:lnTo>
                <a:lnTo>
                  <a:pt x="0" y="196766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fd15620151c407b"/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9210291E-264A-4620-8E36-D9C71D99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179393" y="0"/>
            <a:ext cx="1863273" cy="1808065"/>
          </a:xfrm>
          <a:custGeom xmlns:a="http://schemas.openxmlformats.org/drawingml/2006/main">
            <a:rect l="l" t="t" r="r" b="b"/>
            <a:pathLst>
              <a:path w="1863273" h="1808065">
                <a:moveTo>
                  <a:pt x="0" y="0"/>
                </a:moveTo>
                <a:lnTo>
                  <a:pt x="1863273" y="0"/>
                </a:lnTo>
                <a:lnTo>
                  <a:pt x="1863273" y="1808065"/>
                </a:lnTo>
                <a:lnTo>
                  <a:pt x="0" y="180806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4d34a4077254ae8"/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0526C0E0-CD70-4F88-B98E-8F673DD0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61727" y="280721"/>
            <a:ext cx="4164546" cy="1246624"/>
          </a:xfrm>
          <a:custGeom xmlns:a="http://schemas.openxmlformats.org/drawingml/2006/main">
            <a:rect l="l" t="t" r="r" b="b"/>
            <a:pathLst>
              <a:path w="4164546" h="1246624">
                <a:moveTo>
                  <a:pt x="0" y="0"/>
                </a:moveTo>
                <a:lnTo>
                  <a:pt x="4164546" y="0"/>
                </a:lnTo>
                <a:lnTo>
                  <a:pt x="4164546" y="1246623"/>
                </a:lnTo>
                <a:lnTo>
                  <a:pt x="0" y="124662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e01ba76bef643fa"/>
            <a:stretch>
              <a:fillRect l="0" t="0" r="0" b="0"/>
            </a:stretch>
          </a:blipFill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01a6cbba6641f0"/>
          <a:stretch xmlns:a="http://schemas.openxmlformats.org/drawingml/2006/main"/>
        </p:blipFill>
        <p:spPr>
          <a:xfrm xmlns:a="http://schemas.openxmlformats.org/drawingml/2006/main">
            <a:off x="1428750" y="3193204"/>
            <a:ext cx="5334000" cy="5234092"/>
          </a:xfrm>
          <a:prstGeom xmlns:a="http://schemas.openxmlformats.org/drawingml/2006/main" prst="roundRect">
            <a:avLst>
              <a:gd name="adj" fmla="val 3214"/>
            </a:avLst>
          </a:prstGeom>
        </p:spPr>
      </p:pic>
      <p:sp>
        <p:nvSpPr>
          <p:cNvPr id="7" name="label-project">
            <a:extLst xmlns:a="http://schemas.openxmlformats.org/drawingml/2006/main">
              <a:ext uri="{FF2B5EF4-FFF2-40B4-BE49-F238E27FC236}">
                <a16:creationId xmlns:a16="http://schemas.microsoft.com/office/drawing/2014/main" id="{CD6D874A-CBAC-48F6-A267-32758152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33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4AAD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04AAD"/>
                </a:solidFill>
                <a:latin typeface="Calibri"/>
                <a:ea typeface="Calibri"/>
                <a:cs typeface="Calibri"/>
              </a:rPr>
              <a:t>PROJECT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3CBC0C-D434-4643-92DE-BB748BC1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33800"/>
            <a:ext cx="733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71B3B"/>
                </a:solidFill>
                <a:latin typeface="Brick Sans"/>
                <a:ea typeface="Brick Sans"/>
                <a:cs typeface="Brick Sans"/>
              </a:defRPr>
            </a:pPr>
            <a:r>
              <a:rPr sz="3600" b="1">
                <a:solidFill>
                  <a:srgbClr val="071B3B"/>
                </a:solidFill>
                <a:latin typeface="Brick Sans"/>
                <a:ea typeface="Brick Sans"/>
                <a:cs typeface="Brick Sans"/>
              </a:rPr>
              <a:t>AeroGuard</a:t>
            </a:r>
          </a:p>
        </p:txBody>
      </p:sp>
      <p:sp>
        <p:nvSpPr>
          <p:cNvPr id="9" name="team-fields">
            <a:extLst xmlns:a="http://schemas.openxmlformats.org/drawingml/2006/main">
              <a:ext uri="{FF2B5EF4-FFF2-40B4-BE49-F238E27FC236}">
                <a16:creationId xmlns:a16="http://schemas.microsoft.com/office/drawing/2014/main" id="{21B1B1E9-C113-4DBD-860A-97D360DC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62500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5243A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5243A"/>
                </a:solidFill>
                <a:latin typeface="Calibri"/>
                <a:ea typeface="Calibri"/>
                <a:cs typeface="Calibri"/>
              </a:rPr>
              <a:t>Team name        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0">
                <a:solidFill>
                  <a:srgbClr val="15243A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5243A"/>
                </a:solidFill>
                <a:latin typeface="Calibri"/>
                <a:ea typeface="Calibri"/>
                <a:cs typeface="Calibri"/>
              </a:rPr>
              <a:t>Team members   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0">
                <a:solidFill>
                  <a:srgbClr val="15243A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5243A"/>
                </a:solidFill>
                <a:latin typeface="Calibri"/>
                <a:ea typeface="Calibri"/>
                <a:cs typeface="Calibri"/>
              </a:rPr>
              <a:t>Faculty mentor  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0">
                <a:solidFill>
                  <a:srgbClr val="15243A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5243A"/>
                </a:solidFill>
                <a:latin typeface="Calibri"/>
                <a:ea typeface="Calibri"/>
                <a:cs typeface="Calibri"/>
              </a:rPr>
              <a:t>Department       ______________________________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20552770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AD68C6BD-DF3B-4CA0-87D9-BF211439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46958" y="1741390"/>
            <a:ext cx="10759543" cy="1019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ts val="7525"/>
              </a:lnSpc>
              <a:buNone/>
              <a:defRPr sz="5100" b="1">
                <a:solidFill>
                  <a:srgbClr val="004AAD"/>
                </a:solidFill>
                <a:latin typeface="Brick Sans"/>
                <a:ea typeface="Brick Sans"/>
                <a:cs typeface="Brick Sans"/>
              </a:defRPr>
            </a:pPr>
            <a:r>
              <a:rPr sz="5100" b="1" spc="-125">
                <a:solidFill>
                  <a:srgbClr val="004AAD"/>
                </a:solidFill>
                <a:latin typeface="Brick Sans"/>
                <a:ea typeface="Brick Sans"/>
                <a:cs typeface="Brick Sans"/>
              </a:rPr>
              <a:t>Problem and Dataset</a:t>
            </a:r>
          </a:p>
        </p:txBody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A96F4C90-9A0E-4854-92F0-E8D7948C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25" y="0"/>
            <a:ext cx="4399049" cy="1967666"/>
          </a:xfrm>
          <a:custGeom xmlns:a="http://schemas.openxmlformats.org/drawingml/2006/main">
            <a:rect l="l" t="t" r="r" b="b"/>
            <a:pathLst>
              <a:path w="4399049" h="1967666">
                <a:moveTo>
                  <a:pt x="0" y="0"/>
                </a:moveTo>
                <a:lnTo>
                  <a:pt x="4399049" y="0"/>
                </a:lnTo>
                <a:lnTo>
                  <a:pt x="4399049" y="1967666"/>
                </a:lnTo>
                <a:lnTo>
                  <a:pt x="0" y="196766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254430dd8574492"/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F7B7C297-1781-4A34-BFAB-C6D4CD19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179393" y="0"/>
            <a:ext cx="1863273" cy="1808065"/>
          </a:xfrm>
          <a:custGeom xmlns:a="http://schemas.openxmlformats.org/drawingml/2006/main">
            <a:rect l="l" t="t" r="r" b="b"/>
            <a:pathLst>
              <a:path w="1863273" h="1808065">
                <a:moveTo>
                  <a:pt x="0" y="0"/>
                </a:moveTo>
                <a:lnTo>
                  <a:pt x="1863273" y="0"/>
                </a:lnTo>
                <a:lnTo>
                  <a:pt x="1863273" y="1808065"/>
                </a:lnTo>
                <a:lnTo>
                  <a:pt x="0" y="180806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73809c8ca0543f4"/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860D5BE7-D921-4573-8540-D17C4AB5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61727" y="280721"/>
            <a:ext cx="4164546" cy="1246624"/>
          </a:xfrm>
          <a:custGeom xmlns:a="http://schemas.openxmlformats.org/drawingml/2006/main">
            <a:rect l="l" t="t" r="r" b="b"/>
            <a:pathLst>
              <a:path w="4164546" h="1246624">
                <a:moveTo>
                  <a:pt x="0" y="0"/>
                </a:moveTo>
                <a:lnTo>
                  <a:pt x="4164546" y="0"/>
                </a:lnTo>
                <a:lnTo>
                  <a:pt x="4164546" y="1246623"/>
                </a:lnTo>
                <a:lnTo>
                  <a:pt x="0" y="124662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d64b120dc5b41b7"/>
            <a:stretch>
              <a:fillRect l="0" t="0" r="0" b="0"/>
            </a:stretch>
          </a:blipFill>
        </p:spPr>
      </p:sp>
      <p:sp>
        <p:nvSpPr>
          <p:cNvPr id="6" name="problem-headline">
            <a:extLst xmlns:a="http://schemas.openxmlformats.org/drawingml/2006/main">
              <a:ext uri="{FF2B5EF4-FFF2-40B4-BE49-F238E27FC236}">
                <a16:creationId xmlns:a16="http://schemas.microsoft.com/office/drawing/2014/main" id="{B60E1B75-846B-426C-9FC8-3DD8C135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19450"/>
            <a:ext cx="685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71B3B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071B3B"/>
                </a:solidFill>
                <a:latin typeface="Calibri"/>
                <a:ea typeface="Calibri"/>
                <a:cs typeface="Calibri"/>
              </a:rPr>
              <a:t>Small targets under a moving camera</a:t>
            </a:r>
          </a:p>
        </p:txBody>
      </p:sp>
      <p:sp>
        <p:nvSpPr>
          <p:cNvPr id="7" name="problem-bullets">
            <a:extLst xmlns:a="http://schemas.openxmlformats.org/drawingml/2006/main">
              <a:ext uri="{FF2B5EF4-FFF2-40B4-BE49-F238E27FC236}">
                <a16:creationId xmlns:a16="http://schemas.microsoft.com/office/drawing/2014/main" id="{66BE493E-E396-4B26-9E3A-18802FE9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91000"/>
            <a:ext cx="6953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27000" algn="l">
              <a:spcAft>
                <a:spcPts val="1200"/>
              </a:spcAft>
              <a:buChar char="•"/>
              <a:defRPr sz="2100" b="0">
                <a:solidFill>
                  <a:srgbClr val="15243A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5243A"/>
                </a:solidFill>
                <a:latin typeface="Calibri"/>
                <a:ea typeface="Calibri"/>
                <a:cs typeface="Calibri"/>
              </a:rPr>
              <a:t>Cars, bicycles and people may occupy only a few pixels.</a:t>
            </a:r>
          </a:p>
          <a:p xmlns:a="http://schemas.openxmlformats.org/drawingml/2006/main">
            <a:pPr marL="279400" indent="-127000" algn="l">
              <a:spcAft>
                <a:spcPts val="1200"/>
              </a:spcAft>
              <a:buChar char="•"/>
              <a:defRPr sz="2100" b="0">
                <a:solidFill>
                  <a:srgbClr val="15243A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5243A"/>
                </a:solidFill>
                <a:latin typeface="Calibri"/>
                <a:ea typeface="Calibri"/>
                <a:cs typeface="Calibri"/>
              </a:rPr>
              <a:t>Altitude, orientation and motion change object scale and appearance.</a:t>
            </a:r>
          </a:p>
          <a:p xmlns:a="http://schemas.openxmlformats.org/drawingml/2006/main">
            <a:pPr marL="279400" indent="-127000" algn="l">
              <a:spcAft>
                <a:spcPts val="1200"/>
              </a:spcAft>
              <a:buChar char="•"/>
              <a:defRPr sz="2100" b="0">
                <a:solidFill>
                  <a:srgbClr val="15243A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5243A"/>
                </a:solidFill>
                <a:latin typeface="Calibri"/>
                <a:ea typeface="Calibri"/>
                <a:cs typeface="Calibri"/>
              </a:rPr>
              <a:t>Random frame splits can leak neighboring video frames into evaluation.</a:t>
            </a:r>
          </a:p>
        </p:txBody>
      </p:sp>
      <p:sp>
        <p:nvSpPr>
          <p:cNvPr id="8" name="label-au-air-evidence">
            <a:extLst xmlns:a="http://schemas.openxmlformats.org/drawingml/2006/main">
              <a:ext uri="{FF2B5EF4-FFF2-40B4-BE49-F238E27FC236}">
                <a16:creationId xmlns:a16="http://schemas.microsoft.com/office/drawing/2014/main" id="{801C6D78-4FD9-4F67-BA7B-45C68A5E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524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4AAD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04AAD"/>
                </a:solidFill>
                <a:latin typeface="Calibri"/>
                <a:ea typeface="Calibri"/>
                <a:cs typeface="Calibri"/>
              </a:rPr>
              <a:t>AU-AIR EVIDENCE</a:t>
            </a:r>
          </a:p>
        </p:txBody>
      </p:sp>
      <p:sp>
        <p:nvSpPr>
          <p:cNvPr id="9" name="dataset-facts">
            <a:extLst xmlns:a="http://schemas.openxmlformats.org/drawingml/2006/main">
              <a:ext uri="{FF2B5EF4-FFF2-40B4-BE49-F238E27FC236}">
                <a16:creationId xmlns:a16="http://schemas.microsoft.com/office/drawing/2014/main" id="{48736FB4-C7A8-49BD-94C1-68698CD7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924800"/>
            <a:ext cx="6667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4AAD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04AAD"/>
                </a:solidFill>
                <a:latin typeface="Calibri"/>
                <a:ea typeface="Calibri"/>
                <a:cs typeface="Calibri"/>
              </a:rPr>
              <a:t>32,823 frames</a:t>
            </a:r>
          </a:p>
          <a:p xmlns:a="http://schemas.openxmlformats.org/drawingml/2006/main">
            <a:pPr algn="l">
              <a:defRPr sz="2025" b="1">
                <a:solidFill>
                  <a:srgbClr val="004AAD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04AAD"/>
                </a:solidFill>
                <a:latin typeface="Calibri"/>
                <a:ea typeface="Calibri"/>
                <a:cs typeface="Calibri"/>
              </a:rPr>
              <a:t>131,977 valid boxes</a:t>
            </a:r>
          </a:p>
          <a:p xmlns:a="http://schemas.openxmlformats.org/drawingml/2006/main">
            <a:pPr algn="l">
              <a:defRPr sz="2025" b="1">
                <a:solidFill>
                  <a:srgbClr val="004AAD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04AAD"/>
                </a:solidFill>
                <a:latin typeface="Calibri"/>
                <a:ea typeface="Calibri"/>
                <a:cs typeface="Calibri"/>
              </a:rPr>
              <a:t>8 object classes</a:t>
            </a:r>
          </a:p>
          <a:p xmlns:a="http://schemas.openxmlformats.org/drawingml/2006/main">
            <a:pPr algn="l">
              <a:defRPr sz="2025" b="1">
                <a:solidFill>
                  <a:srgbClr val="004AAD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04AAD"/>
                </a:solidFill>
                <a:latin typeface="Calibri"/>
                <a:ea typeface="Calibri"/>
                <a:cs typeface="Calibri"/>
              </a:rPr>
              <a:t>RGB images with flight telemetry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bdf40d26bb4b34"/>
          <a:stretch xmlns:a="http://schemas.openxmlformats.org/drawingml/2006/main"/>
        </p:blipFill>
        <p:spPr>
          <a:xfrm xmlns:a="http://schemas.openxmlformats.org/drawingml/2006/main">
            <a:off x="8622515" y="3257550"/>
            <a:ext cx="8281970" cy="6238875"/>
          </a:xfrm>
          <a:prstGeom xmlns:a="http://schemas.openxmlformats.org/drawingml/2006/main" prst="roundRect">
            <a:avLst>
              <a:gd name="adj" fmla="val 2137"/>
            </a:avLst>
          </a:prstGeom>
        </p:spPr>
      </p:pic>
    </p:spTree>
    <p:extLst>
      <p:ext uri="{BB962C8B-B14F-4D97-AF65-F5344CB8AC3E}">
        <p14:creationId xmlns:p14="http://schemas.microsoft.com/office/powerpoint/2010/main" val="16376100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4B3ED298-4345-4FF1-852F-8DD76DF3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46958" y="1741390"/>
            <a:ext cx="10759543" cy="1019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ts val="7525"/>
              </a:lnSpc>
              <a:buNone/>
              <a:defRPr sz="5100" b="1">
                <a:solidFill>
                  <a:srgbClr val="004AAD"/>
                </a:solidFill>
                <a:latin typeface="Brick Sans"/>
                <a:ea typeface="Brick Sans"/>
                <a:cs typeface="Brick Sans"/>
              </a:defRPr>
            </a:pPr>
            <a:r>
              <a:rPr sz="5100" b="1" spc="-125">
                <a:solidFill>
                  <a:srgbClr val="004AAD"/>
                </a:solidFill>
                <a:latin typeface="Brick Sans"/>
                <a:ea typeface="Brick Sans"/>
                <a:cs typeface="Brick Sans"/>
              </a:rPr>
              <a:t>AeroGuard Solution</a:t>
            </a:r>
          </a:p>
        </p:txBody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CF93E942-E875-4C4A-9B3F-0CEF3B4A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25" y="0"/>
            <a:ext cx="4399049" cy="1967666"/>
          </a:xfrm>
          <a:custGeom xmlns:a="http://schemas.openxmlformats.org/drawingml/2006/main">
            <a:rect l="l" t="t" r="r" b="b"/>
            <a:pathLst>
              <a:path w="4399049" h="1967666">
                <a:moveTo>
                  <a:pt x="0" y="0"/>
                </a:moveTo>
                <a:lnTo>
                  <a:pt x="4399049" y="0"/>
                </a:lnTo>
                <a:lnTo>
                  <a:pt x="4399049" y="1967666"/>
                </a:lnTo>
                <a:lnTo>
                  <a:pt x="0" y="196766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08a3fe3405f4cae"/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F99CA5DA-42B3-467A-B804-880F5E4D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179393" y="0"/>
            <a:ext cx="1863273" cy="1808065"/>
          </a:xfrm>
          <a:custGeom xmlns:a="http://schemas.openxmlformats.org/drawingml/2006/main">
            <a:rect l="l" t="t" r="r" b="b"/>
            <a:pathLst>
              <a:path w="1863273" h="1808065">
                <a:moveTo>
                  <a:pt x="0" y="0"/>
                </a:moveTo>
                <a:lnTo>
                  <a:pt x="1863273" y="0"/>
                </a:lnTo>
                <a:lnTo>
                  <a:pt x="1863273" y="1808065"/>
                </a:lnTo>
                <a:lnTo>
                  <a:pt x="0" y="180806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897183e53a0492d"/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3B1D3550-DEB7-418B-A706-6CBB2B83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61727" y="280721"/>
            <a:ext cx="4164546" cy="1246624"/>
          </a:xfrm>
          <a:custGeom xmlns:a="http://schemas.openxmlformats.org/drawingml/2006/main">
            <a:rect l="l" t="t" r="r" b="b"/>
            <a:pathLst>
              <a:path w="4164546" h="1246624">
                <a:moveTo>
                  <a:pt x="0" y="0"/>
                </a:moveTo>
                <a:lnTo>
                  <a:pt x="4164546" y="0"/>
                </a:lnTo>
                <a:lnTo>
                  <a:pt x="4164546" y="1246623"/>
                </a:lnTo>
                <a:lnTo>
                  <a:pt x="0" y="124662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d7c8ce286e54730"/>
            <a:stretch>
              <a:fillRect l="0" t="0" r="0" b="0"/>
            </a:stretch>
          </a:blipFill>
        </p:spPr>
      </p:sp>
      <p:sp>
        <p:nvSpPr>
          <p:cNvPr id="6" name="solution-headline">
            <a:extLst xmlns:a="http://schemas.openxmlformats.org/drawingml/2006/main">
              <a:ext uri="{FF2B5EF4-FFF2-40B4-BE49-F238E27FC236}">
                <a16:creationId xmlns:a16="http://schemas.microsoft.com/office/drawing/2014/main" id="{BAAA4CC4-BF6A-4DC4-AE2F-697877B6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3375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71B3B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071B3B"/>
                </a:solidFill>
                <a:latin typeface="Calibri"/>
                <a:ea typeface="Calibri"/>
                <a:cs typeface="Calibri"/>
              </a:rPr>
              <a:t>A detector plus an evidence workflow</a:t>
            </a:r>
          </a:p>
        </p:txBody>
      </p:sp>
      <p:sp>
        <p:nvSpPr>
          <p:cNvPr id="7" name="solution-bullets">
            <a:extLst xmlns:a="http://schemas.openxmlformats.org/drawingml/2006/main">
              <a:ext uri="{FF2B5EF4-FFF2-40B4-BE49-F238E27FC236}">
                <a16:creationId xmlns:a16="http://schemas.microsoft.com/office/drawing/2014/main" id="{A06A570C-D05A-45AE-BA2E-0250FEE8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33875"/>
            <a:ext cx="6191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27000" algn="l">
              <a:spcAft>
                <a:spcPts val="1200"/>
              </a:spcAft>
              <a:buChar char="•"/>
              <a:defRPr sz="2100" b="0">
                <a:solidFill>
                  <a:srgbClr val="15243A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5243A"/>
                </a:solidFill>
                <a:latin typeface="Calibri"/>
                <a:ea typeface="Calibri"/>
                <a:cs typeface="Calibri"/>
              </a:rPr>
              <a:t>Detect road users in real drone frames.</a:t>
            </a:r>
          </a:p>
          <a:p xmlns:a="http://schemas.openxmlformats.org/drawingml/2006/main">
            <a:pPr marL="279400" indent="-127000" algn="l">
              <a:spcAft>
                <a:spcPts val="1200"/>
              </a:spcAft>
              <a:buChar char="•"/>
              <a:defRPr sz="2100" b="0">
                <a:solidFill>
                  <a:srgbClr val="15243A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5243A"/>
                </a:solidFill>
                <a:latin typeface="Calibri"/>
                <a:ea typeface="Calibri"/>
                <a:cs typeface="Calibri"/>
              </a:rPr>
              <a:t>Keep model version, frame metadata and prediction provenance together.</a:t>
            </a:r>
          </a:p>
          <a:p xmlns:a="http://schemas.openxmlformats.org/drawingml/2006/main">
            <a:pPr marL="279400" indent="-127000" algn="l">
              <a:spcAft>
                <a:spcPts val="1200"/>
              </a:spcAft>
              <a:buChar char="•"/>
              <a:defRPr sz="2100" b="0">
                <a:solidFill>
                  <a:srgbClr val="15243A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5243A"/>
                </a:solidFill>
                <a:latin typeface="Calibri"/>
                <a:ea typeface="Calibri"/>
                <a:cs typeface="Calibri"/>
              </a:rPr>
              <a:t>Compare outputs and inspect failure cases in a review console.</a:t>
            </a:r>
          </a:p>
          <a:p xmlns:a="http://schemas.openxmlformats.org/drawingml/2006/main">
            <a:pPr marL="279400" indent="-127000" algn="l">
              <a:spcAft>
                <a:spcPts val="1200"/>
              </a:spcAft>
              <a:buChar char="•"/>
              <a:defRPr sz="2100" b="0">
                <a:solidFill>
                  <a:srgbClr val="15243A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5243A"/>
                </a:solidFill>
                <a:latin typeface="Calibri"/>
                <a:ea typeface="Calibri"/>
                <a:cs typeface="Calibri"/>
              </a:rPr>
              <a:t>Store the human decision and review comment through the API.</a:t>
            </a:r>
          </a:p>
        </p:txBody>
      </p:sp>
      <p:sp>
        <p:nvSpPr>
          <p:cNvPr id="8" name="scope-note">
            <a:extLst xmlns:a="http://schemas.openxmlformats.org/drawingml/2006/main">
              <a:ext uri="{FF2B5EF4-FFF2-40B4-BE49-F238E27FC236}">
                <a16:creationId xmlns:a16="http://schemas.microsoft.com/office/drawing/2014/main" id="{92A991A6-371E-4377-9019-24D0D5AF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382000"/>
            <a:ext cx="619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94A50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C94A50"/>
                </a:solidFill>
                <a:latin typeface="Calibri"/>
                <a:ea typeface="Calibri"/>
                <a:cs typeface="Calibri"/>
              </a:rPr>
              <a:t>Scope: supervised review. AeroGuard does not control the drone.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7f5896d7f34052"/>
          <a:stretch xmlns:a="http://schemas.openxmlformats.org/drawingml/2006/main"/>
        </p:blipFill>
        <p:spPr>
          <a:xfrm xmlns:a="http://schemas.openxmlformats.org/drawingml/2006/main">
            <a:off x="8178710" y="3238500"/>
            <a:ext cx="8502830" cy="6191250"/>
          </a:xfrm>
          <a:prstGeom xmlns:a="http://schemas.openxmlformats.org/drawingml/2006/main" prst="roundRect">
            <a:avLst>
              <a:gd name="adj" fmla="val 2154"/>
            </a:avLst>
          </a:prstGeom>
        </p:spPr>
      </p:pic>
    </p:spTree>
    <p:extLst>
      <p:ext uri="{BB962C8B-B14F-4D97-AF65-F5344CB8AC3E}">
        <p14:creationId xmlns:p14="http://schemas.microsoft.com/office/powerpoint/2010/main" val="8431281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FF42C9FD-803D-49CA-A6D3-FB7642AB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1250" y="1714500"/>
            <a:ext cx="135255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ts val="7525"/>
              </a:lnSpc>
              <a:buNone/>
              <a:defRPr sz="4200" b="1">
                <a:solidFill>
                  <a:srgbClr val="004AAD"/>
                </a:solidFill>
                <a:latin typeface="Brick Sans"/>
                <a:ea typeface="Brick Sans"/>
                <a:cs typeface="Brick Sans"/>
              </a:defRPr>
            </a:pPr>
            <a:r>
              <a:rPr sz="4200" b="1" spc="-125">
                <a:solidFill>
                  <a:srgbClr val="004AAD"/>
                </a:solidFill>
                <a:latin typeface="Brick Sans"/>
                <a:ea typeface="Brick Sans"/>
                <a:cs typeface="Brick Sans"/>
              </a:rPr>
              <a:t>Final Benchmark Evidence</a:t>
            </a:r>
          </a:p>
        </p:txBody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8470F31E-2F70-4681-A50F-281A4A9D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25" y="0"/>
            <a:ext cx="4399049" cy="1967666"/>
          </a:xfrm>
          <a:custGeom xmlns:a="http://schemas.openxmlformats.org/drawingml/2006/main">
            <a:rect l="l" t="t" r="r" b="b"/>
            <a:pathLst>
              <a:path w="4399049" h="1967666">
                <a:moveTo>
                  <a:pt x="0" y="0"/>
                </a:moveTo>
                <a:lnTo>
                  <a:pt x="4399049" y="0"/>
                </a:lnTo>
                <a:lnTo>
                  <a:pt x="4399049" y="1967666"/>
                </a:lnTo>
                <a:lnTo>
                  <a:pt x="0" y="196766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dc637f9248a40a2"/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183179FC-8225-4431-8537-9626C322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179393" y="0"/>
            <a:ext cx="1863273" cy="1808065"/>
          </a:xfrm>
          <a:custGeom xmlns:a="http://schemas.openxmlformats.org/drawingml/2006/main">
            <a:rect l="l" t="t" r="r" b="b"/>
            <a:pathLst>
              <a:path w="1863273" h="1808065">
                <a:moveTo>
                  <a:pt x="0" y="0"/>
                </a:moveTo>
                <a:lnTo>
                  <a:pt x="1863273" y="0"/>
                </a:lnTo>
                <a:lnTo>
                  <a:pt x="1863273" y="1808065"/>
                </a:lnTo>
                <a:lnTo>
                  <a:pt x="0" y="180806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a382a0495224673"/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0EF1EC20-8D0B-459C-BBCF-00B7047D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61727" y="280721"/>
            <a:ext cx="4164546" cy="1246624"/>
          </a:xfrm>
          <a:custGeom xmlns:a="http://schemas.openxmlformats.org/drawingml/2006/main">
            <a:rect l="l" t="t" r="r" b="b"/>
            <a:pathLst>
              <a:path w="4164546" h="1246624">
                <a:moveTo>
                  <a:pt x="0" y="0"/>
                </a:moveTo>
                <a:lnTo>
                  <a:pt x="4164546" y="0"/>
                </a:lnTo>
                <a:lnTo>
                  <a:pt x="4164546" y="1246623"/>
                </a:lnTo>
                <a:lnTo>
                  <a:pt x="0" y="124662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b3144baaaf64c65"/>
            <a:stretch>
              <a:fillRect l="0" t="0" r="0" b="0"/>
            </a:stretch>
          </a:blipFill>
        </p:spPr>
      </p:sp>
      <p:sp>
        <p:nvSpPr>
          <p:cNvPr id="6" name="benchmark-subtitle">
            <a:extLst xmlns:a="http://schemas.openxmlformats.org/drawingml/2006/main">
              <a:ext uri="{FF2B5EF4-FFF2-40B4-BE49-F238E27FC236}">
                <a16:creationId xmlns:a16="http://schemas.microsoft.com/office/drawing/2014/main" id="{7D0F6340-E5C2-476F-BCD2-0C9E0174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48000"/>
            <a:ext cx="1628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26579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526579"/>
                </a:solidFill>
                <a:latin typeface="Calibri"/>
                <a:ea typeface="Calibri"/>
                <a:cs typeface="Calibri"/>
              </a:rPr>
              <a:t>YOLO26s at 960 px, 9.95M parameters, selected on validation AP50–95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857250" y="3714750"/>
          <a:ext xmlns:a="http://schemas.openxmlformats.org/drawingml/2006/main" cx="9906000" cy="4572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33663cfc7e24020"/>
          </a:graphicData>
        </a:graphic>
      </p:graphicFrame>
      <p:graphicFrame>
        <p:nvGraphicFramePr>
          <p:cNvPr id="17" name=""/>
          <p:cNvGraphicFramePr/>
          <p:nvPr/>
        </p:nvGraphicFramePr>
        <p:xfrm>
          <a:off xmlns:a="http://schemas.openxmlformats.org/drawingml/2006/main" x="11334750" y="3762375"/>
          <a:ext xmlns:a="http://schemas.openxmlformats.org/drawingml/2006/main" cx="5810250" cy="4667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2381250"/>
              </a:tblGrid>
              <a:tr h="518583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Frozen final-test metric</a:t>
                      </a:r>
                    </a:p>
                  </a:txBody>
                  <a:tcPr marL="91440" marR="91440" marT="45720" marB="45720" anchor="ctr">
                    <a:solidFill>
                      <a:srgbClr val="004AA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Result</a:t>
                      </a:r>
                    </a:p>
                  </a:txBody>
                  <a:tcPr marL="91440" marR="91440" marT="45720" marB="45720" anchor="ctr">
                    <a:solidFill>
                      <a:srgbClr val="004AAD"/>
                    </a:solidFill>
                  </a:tcPr>
                </a:tc>
              </a:tr>
              <a:tr h="518583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5243A"/>
                          </a:solidFill>
                          <a:latin typeface="Calibri"/>
                          <a:ea typeface="Calibri"/>
                          <a:cs typeface="Calibri"/>
                        </a:rPr>
                        <a:t>AP50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15243A"/>
                          </a:solidFill>
                          <a:latin typeface="Calibri"/>
                          <a:ea typeface="Calibri"/>
                          <a:cs typeface="Calibri"/>
                        </a:rPr>
                        <a:t>0.2083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8583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5243A"/>
                          </a:solidFill>
                          <a:latin typeface="Calibri"/>
                          <a:ea typeface="Calibri"/>
                          <a:cs typeface="Calibri"/>
                        </a:rPr>
                        <a:t>AP50–95</a:t>
                      </a:r>
                    </a:p>
                  </a:txBody>
                  <a:tcPr marL="91440" marR="91440" marT="45720" marB="45720" anchor="ctr">
                    <a:solidFill>
                      <a:srgbClr val="EEF3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15243A"/>
                          </a:solidFill>
                          <a:latin typeface="Calibri"/>
                          <a:ea typeface="Calibri"/>
                          <a:cs typeface="Calibri"/>
                        </a:rPr>
                        <a:t>0.0852</a:t>
                      </a:r>
                    </a:p>
                  </a:txBody>
                  <a:tcPr marL="91440" marR="91440" marT="45720" marB="45720" anchor="ctr">
                    <a:solidFill>
                      <a:srgbClr val="EEF3F5"/>
                    </a:solidFill>
                  </a:tcPr>
                </a:tc>
              </a:tr>
              <a:tr h="518583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5243A"/>
                          </a:solidFill>
                          <a:latin typeface="Calibri"/>
                          <a:ea typeface="Calibri"/>
                          <a:cs typeface="Calibri"/>
                        </a:rPr>
                        <a:t>Precision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15243A"/>
                          </a:solidFill>
                          <a:latin typeface="Calibri"/>
                          <a:ea typeface="Calibri"/>
                          <a:cs typeface="Calibri"/>
                        </a:rPr>
                        <a:t>29.69%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8583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5243A"/>
                          </a:solidFill>
                          <a:latin typeface="Calibri"/>
                          <a:ea typeface="Calibri"/>
                          <a:cs typeface="Calibri"/>
                        </a:rPr>
                        <a:t>Recall</a:t>
                      </a:r>
                    </a:p>
                  </a:txBody>
                  <a:tcPr marL="91440" marR="91440" marT="45720" marB="45720" anchor="ctr">
                    <a:solidFill>
                      <a:srgbClr val="EEF3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15243A"/>
                          </a:solidFill>
                          <a:latin typeface="Calibri"/>
                          <a:ea typeface="Calibri"/>
                          <a:cs typeface="Calibri"/>
                        </a:rPr>
                        <a:t>47.41%</a:t>
                      </a:r>
                    </a:p>
                  </a:txBody>
                  <a:tcPr marL="91440" marR="91440" marT="45720" marB="45720" anchor="ctr">
                    <a:solidFill>
                      <a:srgbClr val="EEF3F5"/>
                    </a:solidFill>
                  </a:tcPr>
                </a:tc>
              </a:tr>
              <a:tr h="518583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5243A"/>
                          </a:solidFill>
                          <a:latin typeface="Calibri"/>
                          <a:ea typeface="Calibri"/>
                          <a:cs typeface="Calibri"/>
                        </a:rPr>
                        <a:t>F1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15243A"/>
                          </a:solidFill>
                          <a:latin typeface="Calibri"/>
                          <a:ea typeface="Calibri"/>
                          <a:cs typeface="Calibri"/>
                        </a:rPr>
                        <a:t>36.51%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8583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5243A"/>
                          </a:solidFill>
                          <a:latin typeface="Calibri"/>
                          <a:ea typeface="Calibri"/>
                          <a:cs typeface="Calibri"/>
                        </a:rPr>
                        <a:t>Detection accuracy</a:t>
                      </a:r>
                    </a:p>
                  </a:txBody>
                  <a:tcPr marL="91440" marR="91440" marT="45720" marB="45720" anchor="ctr">
                    <a:solidFill>
                      <a:srgbClr val="EEF3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15243A"/>
                          </a:solidFill>
                          <a:latin typeface="Calibri"/>
                          <a:ea typeface="Calibri"/>
                          <a:cs typeface="Calibri"/>
                        </a:rPr>
                        <a:t>22.33%</a:t>
                      </a:r>
                    </a:p>
                  </a:txBody>
                  <a:tcPr marL="91440" marR="91440" marT="45720" marB="45720" anchor="ctr">
                    <a:solidFill>
                      <a:srgbClr val="EEF3F5"/>
                    </a:solidFill>
                  </a:tcPr>
                </a:tc>
              </a:tr>
              <a:tr h="518583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5243A"/>
                          </a:solidFill>
                          <a:latin typeface="Calibri"/>
                          <a:ea typeface="Calibri"/>
                          <a:cs typeface="Calibri"/>
                        </a:rPr>
                        <a:t>Total test loss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15243A"/>
                          </a:solidFill>
                          <a:latin typeface="Calibri"/>
                          <a:ea typeface="Calibri"/>
                          <a:cs typeface="Calibri"/>
                        </a:rPr>
                        <a:t>4.2918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8583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5243A"/>
                          </a:solidFill>
                          <a:latin typeface="Calibri"/>
                          <a:ea typeface="Calibri"/>
                          <a:cs typeface="Calibri"/>
                        </a:rPr>
                        <a:t>TP / FP / FN</a:t>
                      </a:r>
                    </a:p>
                  </a:txBody>
                  <a:tcPr marL="91440" marR="91440" marT="45720" marB="45720" anchor="ctr">
                    <a:solidFill>
                      <a:srgbClr val="EEF3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15243A"/>
                          </a:solidFill>
                          <a:latin typeface="Calibri"/>
                          <a:ea typeface="Calibri"/>
                          <a:cs typeface="Calibri"/>
                        </a:rPr>
                        <a:t>3,640 / 8,621 / 4,038</a:t>
                      </a:r>
                    </a:p>
                  </a:txBody>
                  <a:tcPr marL="91440" marR="91440" marT="45720" marB="45720" anchor="ctr">
                    <a:solidFill>
                      <a:srgbClr val="EEF3F5"/>
                    </a:solidFill>
                  </a:tcPr>
                </a:tc>
              </a:tr>
            </a:tbl>
          </a:graphicData>
        </a:graphic>
      </p:graphicFrame>
      <p:sp>
        <p:nvSpPr>
          <p:cNvPr id="9" name="split-summary">
            <a:extLst xmlns:a="http://schemas.openxmlformats.org/drawingml/2006/main">
              <a:ext uri="{FF2B5EF4-FFF2-40B4-BE49-F238E27FC236}">
                <a16:creationId xmlns:a16="http://schemas.microsoft.com/office/drawing/2014/main" id="{E96C9F86-8DF5-4451-A8A2-58B16F54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8715375"/>
            <a:ext cx="1543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4AAD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04AAD"/>
                </a:solidFill>
                <a:latin typeface="Calibri"/>
                <a:ea typeface="Calibri"/>
                <a:cs typeface="Calibri"/>
              </a:rPr>
              <a:t>Split by complete recordings: 28,281 train, 2,962 validation, 1,580 test</a:t>
            </a:r>
          </a:p>
        </p:txBody>
      </p:sp>
      <p:sp>
        <p:nvSpPr>
          <p:cNvPr id="10" name="state-gate-result">
            <a:extLst xmlns:a="http://schemas.openxmlformats.org/drawingml/2006/main">
              <a:ext uri="{FF2B5EF4-FFF2-40B4-BE49-F238E27FC236}">
                <a16:creationId xmlns:a16="http://schemas.microsoft.com/office/drawing/2014/main" id="{D29EF285-C763-4DD1-84CE-661DDCDD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9163050"/>
            <a:ext cx="1543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C94A5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C94A50"/>
                </a:solidFill>
                <a:latin typeface="Calibri"/>
                <a:ea typeface="Calibri"/>
                <a:cs typeface="Calibri"/>
              </a:rPr>
              <a:t>Flight-state smoke result: +0.00028 AP50. The branch did not pass its promotion gate.</a:t>
            </a:r>
          </a:p>
        </p:txBody>
      </p:sp>
    </p:spTree>
    <p:extLst>
      <p:ext uri="{BB962C8B-B14F-4D97-AF65-F5344CB8AC3E}">
        <p14:creationId xmlns:p14="http://schemas.microsoft.com/office/powerpoint/2010/main" val="13213993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54D63CA0-A07B-46C2-8521-65F77CF9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46958" y="1741390"/>
            <a:ext cx="10759543" cy="1019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ts val="7525"/>
              </a:lnSpc>
              <a:buNone/>
              <a:defRPr sz="5100" b="1">
                <a:solidFill>
                  <a:srgbClr val="004AAD"/>
                </a:solidFill>
                <a:latin typeface="Brick Sans"/>
                <a:ea typeface="Brick Sans"/>
                <a:cs typeface="Brick Sans"/>
              </a:defRPr>
            </a:pPr>
            <a:r>
              <a:rPr sz="5100" b="1" spc="-125">
                <a:solidFill>
                  <a:srgbClr val="004AAD"/>
                </a:solidFill>
                <a:latin typeface="Brick Sans"/>
                <a:ea typeface="Brick Sans"/>
                <a:cs typeface="Brick Sans"/>
              </a:rPr>
              <a:t>Architecture</a:t>
            </a:r>
          </a:p>
        </p:txBody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755A1195-E4C7-4A68-B77E-15237E1B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25" y="0"/>
            <a:ext cx="4399049" cy="1967666"/>
          </a:xfrm>
          <a:custGeom xmlns:a="http://schemas.openxmlformats.org/drawingml/2006/main">
            <a:rect l="l" t="t" r="r" b="b"/>
            <a:pathLst>
              <a:path w="4399049" h="1967666">
                <a:moveTo>
                  <a:pt x="0" y="0"/>
                </a:moveTo>
                <a:lnTo>
                  <a:pt x="4399049" y="0"/>
                </a:lnTo>
                <a:lnTo>
                  <a:pt x="4399049" y="1967666"/>
                </a:lnTo>
                <a:lnTo>
                  <a:pt x="0" y="196766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81e03e2bc114931"/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2AA735BD-A5C7-4D87-8CE2-E376CC46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179393" y="0"/>
            <a:ext cx="1863273" cy="1808065"/>
          </a:xfrm>
          <a:custGeom xmlns:a="http://schemas.openxmlformats.org/drawingml/2006/main">
            <a:rect l="l" t="t" r="r" b="b"/>
            <a:pathLst>
              <a:path w="1863273" h="1808065">
                <a:moveTo>
                  <a:pt x="0" y="0"/>
                </a:moveTo>
                <a:lnTo>
                  <a:pt x="1863273" y="0"/>
                </a:lnTo>
                <a:lnTo>
                  <a:pt x="1863273" y="1808065"/>
                </a:lnTo>
                <a:lnTo>
                  <a:pt x="0" y="180806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8974fb57c104450"/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A9D6C63E-8D33-4803-978C-445FBFEB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61727" y="280721"/>
            <a:ext cx="4164546" cy="1246624"/>
          </a:xfrm>
          <a:custGeom xmlns:a="http://schemas.openxmlformats.org/drawingml/2006/main">
            <a:rect l="l" t="t" r="r" b="b"/>
            <a:pathLst>
              <a:path w="4164546" h="1246624">
                <a:moveTo>
                  <a:pt x="0" y="0"/>
                </a:moveTo>
                <a:lnTo>
                  <a:pt x="4164546" y="0"/>
                </a:lnTo>
                <a:lnTo>
                  <a:pt x="4164546" y="1246623"/>
                </a:lnTo>
                <a:lnTo>
                  <a:pt x="0" y="124662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5341cce00034035"/>
            <a:stretch>
              <a:fillRect l="0" t="0" r="0" b="0"/>
            </a:stretch>
          </a:blipFill>
        </p:spPr>
      </p:sp>
      <p:sp>
        <p:nvSpPr>
          <p:cNvPr id="6" name="architecture-subtitle">
            <a:extLst xmlns:a="http://schemas.openxmlformats.org/drawingml/2006/main">
              <a:ext uri="{FF2B5EF4-FFF2-40B4-BE49-F238E27FC236}">
                <a16:creationId xmlns:a16="http://schemas.microsoft.com/office/drawing/2014/main" id="{1F458FB4-FCA2-4A7E-8BB2-D16E70C8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00375"/>
            <a:ext cx="1628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26579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526579"/>
                </a:solidFill>
                <a:latin typeface="Calibri"/>
                <a:ea typeface="Calibri"/>
                <a:cs typeface="Calibri"/>
              </a:rPr>
              <a:t>Final detector and evidence pipeline</a:t>
            </a:r>
          </a:p>
        </p:txBody>
      </p:sp>
      <p:sp>
        <p:nvSpPr>
          <p:cNvPr id="7" name="architecture-input">
            <a:extLst xmlns:a="http://schemas.openxmlformats.org/drawingml/2006/main">
              <a:ext uri="{FF2B5EF4-FFF2-40B4-BE49-F238E27FC236}">
                <a16:creationId xmlns:a16="http://schemas.microsoft.com/office/drawing/2014/main" id="{C7731BE3-D155-4628-86C7-382E0D73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00500"/>
            <a:ext cx="27146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71B3B"/>
          </a:solidFill>
          <a:ln xmlns:a="http://schemas.openxmlformats.org/drawingml/2006/main" w="19050">
            <a:solidFill>
              <a:srgbClr val="57B8D9"/>
            </a:solidFill>
            <a:prstDash val="solid"/>
          </a:ln>
        </p:spPr>
        <p:txBody>
          <a:bodyPr xmlns:a="http://schemas.openxmlformats.org/drawingml/2006/main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AU-AIR input</a:t>
            </a:r>
          </a:p>
          <a:p xmlns:a="http://schemas.openxmlformats.org/drawingml/2006/main">
            <a:pPr algn="ctr">
              <a:defRPr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DDEAF1"/>
                </a:solidFill>
                <a:latin typeface="Calibri"/>
                <a:ea typeface="Calibri"/>
                <a:cs typeface="Calibri"/>
              </a:rPr>
              <a:t>RGB frame
Flight telemetry for research</a:t>
            </a:r>
          </a:p>
        </p:txBody>
      </p:sp>
      <p:sp>
        <p:nvSpPr>
          <p:cNvPr id="8" name="architecture-split">
            <a:extLst xmlns:a="http://schemas.openxmlformats.org/drawingml/2006/main">
              <a:ext uri="{FF2B5EF4-FFF2-40B4-BE49-F238E27FC236}">
                <a16:creationId xmlns:a16="http://schemas.microsoft.com/office/drawing/2014/main" id="{E409CDAE-FCB3-493E-915F-9AF2F702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00500"/>
            <a:ext cx="28575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71B3B"/>
          </a:solidFill>
          <a:ln xmlns:a="http://schemas.openxmlformats.org/drawingml/2006/main" w="19050">
            <a:solidFill>
              <a:srgbClr val="57B8D9"/>
            </a:solidFill>
            <a:prstDash val="solid"/>
          </a:ln>
        </p:spPr>
        <p:txBody>
          <a:bodyPr xmlns:a="http://schemas.openxmlformats.org/drawingml/2006/main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Safe data protocol</a:t>
            </a:r>
          </a:p>
          <a:p xmlns:a="http://schemas.openxmlformats.org/drawingml/2006/main">
            <a:pPr algn="ctr">
              <a:defRPr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DDEAF1"/>
                </a:solidFill>
                <a:latin typeface="Calibri"/>
                <a:ea typeface="Calibri"/>
                <a:cs typeface="Calibri"/>
              </a:rPr>
              <a:t>Training, validation and test
Grouped by complete recording</a:t>
            </a:r>
          </a:p>
        </p:txBody>
      </p:sp>
      <p:sp>
        <p:nvSpPr>
          <p:cNvPr id="9" name="architecture-model">
            <a:extLst xmlns:a="http://schemas.openxmlformats.org/drawingml/2006/main">
              <a:ext uri="{FF2B5EF4-FFF2-40B4-BE49-F238E27FC236}">
                <a16:creationId xmlns:a16="http://schemas.microsoft.com/office/drawing/2014/main" id="{B276297B-AAE7-40CB-B7B8-2C96FD2D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00500"/>
            <a:ext cx="28575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71B3B"/>
          </a:solidFill>
          <a:ln xmlns:a="http://schemas.openxmlformats.org/drawingml/2006/main" w="19050">
            <a:solidFill>
              <a:srgbClr val="57B8D9"/>
            </a:solidFill>
            <a:prstDash val="solid"/>
          </a:ln>
        </p:spPr>
        <p:txBody>
          <a:bodyPr xmlns:a="http://schemas.openxmlformats.org/drawingml/2006/main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Selected model</a:t>
            </a:r>
          </a:p>
          <a:p xmlns:a="http://schemas.openxmlformats.org/drawingml/2006/main">
            <a:pPr algn="ctr">
              <a:defRPr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DDEAF1"/>
                </a:solidFill>
                <a:latin typeface="Calibri"/>
                <a:ea typeface="Calibri"/>
                <a:cs typeface="Calibri"/>
              </a:rPr>
              <a:t>YOLO26s
960 px, pretrained</a:t>
            </a:r>
          </a:p>
        </p:txBody>
      </p:sp>
      <p:sp>
        <p:nvSpPr>
          <p:cNvPr id="10" name="architecture-output">
            <a:extLst xmlns:a="http://schemas.openxmlformats.org/drawingml/2006/main">
              <a:ext uri="{FF2B5EF4-FFF2-40B4-BE49-F238E27FC236}">
                <a16:creationId xmlns:a16="http://schemas.microsoft.com/office/drawing/2014/main" id="{C038B4A2-14C0-4CFB-9354-16D75B79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0"/>
            <a:ext cx="28575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71B3B"/>
          </a:solidFill>
          <a:ln xmlns:a="http://schemas.openxmlformats.org/drawingml/2006/main" w="19050">
            <a:solidFill>
              <a:srgbClr val="57B8D9"/>
            </a:solidFill>
            <a:prstDash val="solid"/>
          </a:ln>
        </p:spPr>
        <p:txBody>
          <a:bodyPr xmlns:a="http://schemas.openxmlformats.org/drawingml/2006/main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Model output</a:t>
            </a:r>
          </a:p>
          <a:p xmlns:a="http://schemas.openxmlformats.org/drawingml/2006/main">
            <a:pPr algn="ctr">
              <a:defRPr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DDEAF1"/>
                </a:solidFill>
                <a:latin typeface="Calibri"/>
                <a:ea typeface="Calibri"/>
                <a:cs typeface="Calibri"/>
              </a:rPr>
              <a:t>Boxes, classes and scores
Loss and detection metrics</a:t>
            </a:r>
          </a:p>
        </p:txBody>
      </p:sp>
      <p:sp>
        <p:nvSpPr>
          <p:cNvPr id="11" name="architecture-api">
            <a:extLst xmlns:a="http://schemas.openxmlformats.org/drawingml/2006/main">
              <a:ext uri="{FF2B5EF4-FFF2-40B4-BE49-F238E27FC236}">
                <a16:creationId xmlns:a16="http://schemas.microsoft.com/office/drawing/2014/main" id="{02B8F52E-59A8-4E82-B7B3-E82D9058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4000500"/>
            <a:ext cx="28575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71B3B"/>
          </a:solidFill>
          <a:ln xmlns:a="http://schemas.openxmlformats.org/drawingml/2006/main" w="19050">
            <a:solidFill>
              <a:srgbClr val="57B8D9"/>
            </a:solidFill>
            <a:prstDash val="solid"/>
          </a:ln>
        </p:spPr>
        <p:txBody>
          <a:bodyPr xmlns:a="http://schemas.openxmlformats.org/drawingml/2006/main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Evidence service</a:t>
            </a:r>
          </a:p>
          <a:p xmlns:a="http://schemas.openxmlformats.org/drawingml/2006/main">
            <a:pPr algn="ctr">
              <a:defRPr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DDEAF1"/>
                </a:solidFill>
                <a:latin typeface="Calibri"/>
                <a:ea typeface="Calibri"/>
                <a:cs typeface="Calibri"/>
              </a:rPr>
              <a:t>FastAPI and Pydantic
Provenance and review records</a:t>
            </a:r>
          </a:p>
        </p:txBody>
      </p:sp>
      <p:sp>
        <p:nvSpPr>
          <p:cNvPr id="12" name="architecture-console">
            <a:extLst xmlns:a="http://schemas.openxmlformats.org/drawingml/2006/main">
              <a:ext uri="{FF2B5EF4-FFF2-40B4-BE49-F238E27FC236}">
                <a16:creationId xmlns:a16="http://schemas.microsoft.com/office/drawing/2014/main" id="{536DE47C-1A77-4542-9DD6-89805EB3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953250"/>
            <a:ext cx="31432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071B3B"/>
          </a:solidFill>
          <a:ln xmlns:a="http://schemas.openxmlformats.org/drawingml/2006/main" w="19050">
            <a:solidFill>
              <a:srgbClr val="57B8D9"/>
            </a:solidFill>
            <a:prstDash val="solid"/>
          </a:ln>
        </p:spPr>
        <p:txBody>
          <a:bodyPr xmlns:a="http://schemas.openxmlformats.org/drawingml/2006/main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Review console</a:t>
            </a:r>
          </a:p>
          <a:p xmlns:a="http://schemas.openxmlformats.org/drawingml/2006/main">
            <a:pPr algn="ctr">
              <a:defRPr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DDEAF1"/>
                </a:solidFill>
                <a:latin typeface="Calibri"/>
                <a:ea typeface="Calibri"/>
                <a:cs typeface="Calibri"/>
              </a:rPr>
              <a:t>React and TypeScript
Real-frame replay</a:t>
            </a:r>
          </a:p>
        </p:txBody>
      </p:sp>
      <p:sp>
        <p:nvSpPr>
          <p:cNvPr id="13" name="architecture-edge">
            <a:extLst xmlns:a="http://schemas.openxmlformats.org/drawingml/2006/main">
              <a:ext uri="{FF2B5EF4-FFF2-40B4-BE49-F238E27FC236}">
                <a16:creationId xmlns:a16="http://schemas.microsoft.com/office/drawing/2014/main" id="{B61E66C3-ACBE-4157-8D8F-D420824D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953250"/>
            <a:ext cx="31432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071B3B"/>
          </a:solidFill>
          <a:ln xmlns:a="http://schemas.openxmlformats.org/drawingml/2006/main" w="19050">
            <a:solidFill>
              <a:srgbClr val="57B8D9"/>
            </a:solidFill>
            <a:prstDash val="solid"/>
          </a:ln>
        </p:spPr>
        <p:txBody>
          <a:bodyPr xmlns:a="http://schemas.openxmlformats.org/drawingml/2006/main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Edge path</a:t>
            </a:r>
          </a:p>
          <a:p xmlns:a="http://schemas.openxmlformats.org/drawingml/2006/main">
            <a:pPr algn="ctr">
              <a:defRPr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DDEAF1"/>
                </a:solidFill>
                <a:latin typeface="Calibri"/>
                <a:ea typeface="Calibri"/>
                <a:cs typeface="Calibri"/>
              </a:rPr>
              <a:t>ONNX and TensorRT scripts
Jetson benchmark pending</a:t>
            </a:r>
          </a:p>
        </p:txBody>
      </p:sp>
      <p:cxnSp>
        <p:nvCxnSpPr>
          <p:cNvPr id="3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619500" y="48577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4AAD"/>
            </a:solidFill>
            <a:prstDash val="soli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48500" y="48577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4AAD"/>
            </a:solidFill>
            <a:prstDash val="soli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0477500" y="48577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4AAD"/>
            </a:solidFill>
            <a:prstDash val="soli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13906500" y="48577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4AAD"/>
            </a:solidFill>
            <a:prstDash val="solid"/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11" idx="2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13716000" y="5715000"/>
            <a:ext cx="2190750" cy="2047875"/>
          </a:xfrm>
          <a:prstGeom xmlns:a="http://schemas.openxmlformats.org/drawingml/2006/main" prst="bentConnector5">
            <a:avLst>
              <a:gd name="adj1" fmla="val 0"/>
              <a:gd name="adj2" fmla="val 11163"/>
              <a:gd name="adj3" fmla="val 89565"/>
            </a:avLst>
          </a:prstGeom>
          <a:ln xmlns:a="http://schemas.openxmlformats.org/drawingml/2006/main" w="38100">
            <a:solidFill>
              <a:srgbClr val="004AAD"/>
            </a:solidFill>
            <a:prstDash val="solid"/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9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8239125" y="5715000"/>
            <a:ext cx="809625" cy="1238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38100">
            <a:solidFill>
              <a:srgbClr val="004AAD"/>
            </a:solidFill>
            <a:prstDash val="solid"/>
            <a:tailEnd type="triangle" w="sm" len="sm"/>
          </a:ln>
        </p:spPr>
      </p:cxnSp>
      <p:sp>
        <p:nvSpPr>
          <p:cNvPr id="20" name="research-branch-note">
            <a:extLst xmlns:a="http://schemas.openxmlformats.org/drawingml/2006/main">
              <a:ext uri="{FF2B5EF4-FFF2-40B4-BE49-F238E27FC236}">
                <a16:creationId xmlns:a16="http://schemas.microsoft.com/office/drawing/2014/main" id="{D14C2EED-E376-4F4D-B694-69E4167B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953500"/>
            <a:ext cx="1600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94A50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C94A50"/>
                </a:solidFill>
                <a:latin typeface="Calibri"/>
                <a:ea typeface="Calibri"/>
                <a:cs typeface="Calibri"/>
              </a:rPr>
              <a:t>Research branch: FCOS with gated FiLM tested image plus flight state. The final smoke gate did not justify a larger run.</a:t>
            </a:r>
          </a:p>
        </p:txBody>
      </p:sp>
    </p:spTree>
    <p:extLst>
      <p:ext uri="{BB962C8B-B14F-4D97-AF65-F5344CB8AC3E}">
        <p14:creationId xmlns:p14="http://schemas.microsoft.com/office/powerpoint/2010/main" val="6144897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6CE76B8A-15D7-4D9A-B665-7C3626DB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46958" y="1741390"/>
            <a:ext cx="10759543" cy="1019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ts val="7525"/>
              </a:lnSpc>
              <a:buNone/>
              <a:defRPr sz="5100" b="1">
                <a:solidFill>
                  <a:srgbClr val="004AAD"/>
                </a:solidFill>
                <a:latin typeface="Brick Sans"/>
                <a:ea typeface="Brick Sans"/>
                <a:cs typeface="Brick Sans"/>
              </a:defRPr>
            </a:pPr>
            <a:r>
              <a:rPr sz="5100" b="1" spc="-125">
                <a:solidFill>
                  <a:srgbClr val="004AAD"/>
                </a:solidFill>
                <a:latin typeface="Brick Sans"/>
                <a:ea typeface="Brick Sans"/>
                <a:cs typeface="Brick Sans"/>
              </a:rPr>
              <a:t>Tech Stack</a:t>
            </a:r>
          </a:p>
        </p:txBody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D0044E70-703E-4F6D-AE1A-E528959C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25" y="0"/>
            <a:ext cx="4399049" cy="1967666"/>
          </a:xfrm>
          <a:custGeom xmlns:a="http://schemas.openxmlformats.org/drawingml/2006/main">
            <a:rect l="l" t="t" r="r" b="b"/>
            <a:pathLst>
              <a:path w="4399049" h="1967666">
                <a:moveTo>
                  <a:pt x="0" y="0"/>
                </a:moveTo>
                <a:lnTo>
                  <a:pt x="4399049" y="0"/>
                </a:lnTo>
                <a:lnTo>
                  <a:pt x="4399049" y="1967666"/>
                </a:lnTo>
                <a:lnTo>
                  <a:pt x="0" y="196766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e148004e8834fb6"/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9F03926B-3FAB-43C8-BC33-3CFF90F4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179393" y="0"/>
            <a:ext cx="1863273" cy="1808065"/>
          </a:xfrm>
          <a:custGeom xmlns:a="http://schemas.openxmlformats.org/drawingml/2006/main">
            <a:rect l="l" t="t" r="r" b="b"/>
            <a:pathLst>
              <a:path w="1863273" h="1808065">
                <a:moveTo>
                  <a:pt x="0" y="0"/>
                </a:moveTo>
                <a:lnTo>
                  <a:pt x="1863273" y="0"/>
                </a:lnTo>
                <a:lnTo>
                  <a:pt x="1863273" y="1808065"/>
                </a:lnTo>
                <a:lnTo>
                  <a:pt x="0" y="180806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bb0246ec5ca4cda"/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647C194D-90F6-49D2-A1AC-38A16424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61727" y="280721"/>
            <a:ext cx="4164546" cy="1246624"/>
          </a:xfrm>
          <a:custGeom xmlns:a="http://schemas.openxmlformats.org/drawingml/2006/main">
            <a:rect l="l" t="t" r="r" b="b"/>
            <a:pathLst>
              <a:path w="4164546" h="1246624">
                <a:moveTo>
                  <a:pt x="0" y="0"/>
                </a:moveTo>
                <a:lnTo>
                  <a:pt x="4164546" y="0"/>
                </a:lnTo>
                <a:lnTo>
                  <a:pt x="4164546" y="1246623"/>
                </a:lnTo>
                <a:lnTo>
                  <a:pt x="0" y="124662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726163a92fa4a23"/>
            <a:stretch>
              <a:fillRect l="0" t="0" r="0" b="0"/>
            </a:stretch>
          </a:blipFill>
        </p:spPr>
      </p:sp>
      <p:sp>
        <p:nvSpPr>
          <p:cNvPr id="6" name="label-machine-learning">
            <a:extLst xmlns:a="http://schemas.openxmlformats.org/drawingml/2006/main">
              <a:ext uri="{FF2B5EF4-FFF2-40B4-BE49-F238E27FC236}">
                <a16:creationId xmlns:a16="http://schemas.microsoft.com/office/drawing/2014/main" id="{2E8DFE3E-3195-4760-AAA9-6C3B1CB7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337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4AAD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04AAD"/>
                </a:solidFill>
                <a:latin typeface="Calibri"/>
                <a:ea typeface="Calibri"/>
                <a:cs typeface="Calibri"/>
              </a:rPr>
              <a:t>MACHINE LEARNING</a:t>
            </a:r>
          </a:p>
        </p:txBody>
      </p:sp>
      <p:sp>
        <p:nvSpPr>
          <p:cNvPr id="7" name="stack-ml">
            <a:extLst xmlns:a="http://schemas.openxmlformats.org/drawingml/2006/main">
              <a:ext uri="{FF2B5EF4-FFF2-40B4-BE49-F238E27FC236}">
                <a16:creationId xmlns:a16="http://schemas.microsoft.com/office/drawing/2014/main" id="{75C74A38-CF2F-4309-B98B-C013FC40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57625"/>
            <a:ext cx="4762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71B3B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71B3B"/>
                </a:solidFill>
                <a:latin typeface="Calibri"/>
                <a:ea typeface="Calibri"/>
                <a:cs typeface="Calibri"/>
              </a:rPr>
              <a:t>Python</a:t>
            </a:r>
          </a:p>
          <a:p xmlns:a="http://schemas.openxmlformats.org/drawingml/2006/main">
            <a:pPr algn="l">
              <a:defRPr sz="2325" b="1">
                <a:solidFill>
                  <a:srgbClr val="071B3B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71B3B"/>
                </a:solidFill>
                <a:latin typeface="Calibri"/>
                <a:ea typeface="Calibri"/>
                <a:cs typeface="Calibri"/>
              </a:rPr>
              <a:t>PyTorch</a:t>
            </a:r>
          </a:p>
          <a:p xmlns:a="http://schemas.openxmlformats.org/drawingml/2006/main">
            <a:pPr algn="l">
              <a:defRPr sz="2325" b="1">
                <a:solidFill>
                  <a:srgbClr val="071B3B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71B3B"/>
                </a:solidFill>
                <a:latin typeface="Calibri"/>
                <a:ea typeface="Calibri"/>
                <a:cs typeface="Calibri"/>
              </a:rPr>
              <a:t>Ultralytics YOLO26</a:t>
            </a:r>
          </a:p>
          <a:p xmlns:a="http://schemas.openxmlformats.org/drawingml/2006/main">
            <a:pPr algn="l">
              <a:defRPr sz="2325" b="1">
                <a:solidFill>
                  <a:srgbClr val="071B3B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71B3B"/>
                </a:solidFill>
                <a:latin typeface="Calibri"/>
                <a:ea typeface="Calibri"/>
                <a:cs typeface="Calibri"/>
              </a:rPr>
              <a:t>TorchVision FCOS</a:t>
            </a:r>
          </a:p>
          <a:p xmlns:a="http://schemas.openxmlformats.org/drawingml/2006/main">
            <a:pPr algn="l">
              <a:defRPr sz="2325" b="1">
                <a:solidFill>
                  <a:srgbClr val="071B3B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71B3B"/>
                </a:solidFill>
                <a:latin typeface="Calibri"/>
                <a:ea typeface="Calibri"/>
                <a:cs typeface="Calibri"/>
              </a:rPr>
              <a:t>PyTorch Lightning</a:t>
            </a:r>
          </a:p>
        </p:txBody>
      </p:sp>
      <p:sp>
        <p:nvSpPr>
          <p:cNvPr id="8" name="label-data-and-evaluation">
            <a:extLst xmlns:a="http://schemas.openxmlformats.org/drawingml/2006/main">
              <a:ext uri="{FF2B5EF4-FFF2-40B4-BE49-F238E27FC236}">
                <a16:creationId xmlns:a16="http://schemas.microsoft.com/office/drawing/2014/main" id="{25116DD5-BFC6-4C26-A5EC-8B14E7AA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337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4AAD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04AAD"/>
                </a:solidFill>
                <a:latin typeface="Calibri"/>
                <a:ea typeface="Calibri"/>
                <a:cs typeface="Calibri"/>
              </a:rPr>
              <a:t>DATA AND EVALUATION</a:t>
            </a:r>
          </a:p>
        </p:txBody>
      </p:sp>
      <p:sp>
        <p:nvSpPr>
          <p:cNvPr id="9" name="stack-data">
            <a:extLst xmlns:a="http://schemas.openxmlformats.org/drawingml/2006/main">
              <a:ext uri="{FF2B5EF4-FFF2-40B4-BE49-F238E27FC236}">
                <a16:creationId xmlns:a16="http://schemas.microsoft.com/office/drawing/2014/main" id="{BA68C586-3646-4041-9952-374B6ECB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57625"/>
            <a:ext cx="4762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71B3B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71B3B"/>
                </a:solidFill>
                <a:latin typeface="Calibri"/>
                <a:ea typeface="Calibri"/>
                <a:cs typeface="Calibri"/>
              </a:rPr>
              <a:t>AU-AIR dataset</a:t>
            </a:r>
          </a:p>
          <a:p xmlns:a="http://schemas.openxmlformats.org/drawingml/2006/main">
            <a:pPr algn="l">
              <a:defRPr sz="2325" b="1">
                <a:solidFill>
                  <a:srgbClr val="071B3B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71B3B"/>
                </a:solidFill>
                <a:latin typeface="Calibri"/>
                <a:ea typeface="Calibri"/>
                <a:cs typeface="Calibri"/>
              </a:rPr>
              <a:t>Recording-grouped splits</a:t>
            </a:r>
          </a:p>
          <a:p xmlns:a="http://schemas.openxmlformats.org/drawingml/2006/main">
            <a:pPr algn="l">
              <a:defRPr sz="2325" b="1">
                <a:solidFill>
                  <a:srgbClr val="071B3B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71B3B"/>
                </a:solidFill>
                <a:latin typeface="Calibri"/>
                <a:ea typeface="Calibri"/>
                <a:cs typeface="Calibri"/>
              </a:rPr>
              <a:t>AP50 and AP50–95</a:t>
            </a:r>
          </a:p>
          <a:p xmlns:a="http://schemas.openxmlformats.org/drawingml/2006/main">
            <a:pPr algn="l">
              <a:defRPr sz="2325" b="1">
                <a:solidFill>
                  <a:srgbClr val="071B3B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71B3B"/>
                </a:solidFill>
                <a:latin typeface="Calibri"/>
                <a:ea typeface="Calibri"/>
                <a:cs typeface="Calibri"/>
              </a:rPr>
              <a:t>Precision, recall and F1</a:t>
            </a:r>
          </a:p>
          <a:p xmlns:a="http://schemas.openxmlformats.org/drawingml/2006/main">
            <a:pPr algn="l">
              <a:defRPr sz="2325" b="1">
                <a:solidFill>
                  <a:srgbClr val="071B3B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71B3B"/>
                </a:solidFill>
                <a:latin typeface="Calibri"/>
                <a:ea typeface="Calibri"/>
                <a:cs typeface="Calibri"/>
              </a:rPr>
              <a:t>JSON, JSONL and CSV evidence</a:t>
            </a:r>
          </a:p>
        </p:txBody>
      </p:sp>
      <p:sp>
        <p:nvSpPr>
          <p:cNvPr id="10" name="label-product-and-deployment">
            <a:extLst xmlns:a="http://schemas.openxmlformats.org/drawingml/2006/main">
              <a:ext uri="{FF2B5EF4-FFF2-40B4-BE49-F238E27FC236}">
                <a16:creationId xmlns:a16="http://schemas.microsoft.com/office/drawing/2014/main" id="{8E927619-A4D5-495F-AD03-6D9D4CF5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3337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4AAD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04AAD"/>
                </a:solidFill>
                <a:latin typeface="Calibri"/>
                <a:ea typeface="Calibri"/>
                <a:cs typeface="Calibri"/>
              </a:rPr>
              <a:t>PRODUCT AND DEPLOYMENT</a:t>
            </a:r>
          </a:p>
        </p:txBody>
      </p:sp>
      <p:sp>
        <p:nvSpPr>
          <p:cNvPr id="11" name="stack-product">
            <a:extLst xmlns:a="http://schemas.openxmlformats.org/drawingml/2006/main">
              <a:ext uri="{FF2B5EF4-FFF2-40B4-BE49-F238E27FC236}">
                <a16:creationId xmlns:a16="http://schemas.microsoft.com/office/drawing/2014/main" id="{9F48BC3E-CB80-4024-93C7-0D9B3530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857625"/>
            <a:ext cx="5048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71B3B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71B3B"/>
                </a:solidFill>
                <a:latin typeface="Calibri"/>
                <a:ea typeface="Calibri"/>
                <a:cs typeface="Calibri"/>
              </a:rPr>
              <a:t>FastAPI and Pydantic</a:t>
            </a:r>
          </a:p>
          <a:p xmlns:a="http://schemas.openxmlformats.org/drawingml/2006/main">
            <a:pPr algn="l">
              <a:defRPr sz="2325" b="1">
                <a:solidFill>
                  <a:srgbClr val="071B3B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71B3B"/>
                </a:solidFill>
                <a:latin typeface="Calibri"/>
                <a:ea typeface="Calibri"/>
                <a:cs typeface="Calibri"/>
              </a:rPr>
              <a:t>React, TypeScript and Vite</a:t>
            </a:r>
          </a:p>
          <a:p xmlns:a="http://schemas.openxmlformats.org/drawingml/2006/main">
            <a:pPr algn="l">
              <a:defRPr sz="2325" b="1">
                <a:solidFill>
                  <a:srgbClr val="071B3B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71B3B"/>
                </a:solidFill>
                <a:latin typeface="Calibri"/>
                <a:ea typeface="Calibri"/>
                <a:cs typeface="Calibri"/>
              </a:rPr>
              <a:t>ONNX export</a:t>
            </a:r>
          </a:p>
          <a:p xmlns:a="http://schemas.openxmlformats.org/drawingml/2006/main">
            <a:pPr algn="l">
              <a:defRPr sz="2325" b="1">
                <a:solidFill>
                  <a:srgbClr val="071B3B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71B3B"/>
                </a:solidFill>
                <a:latin typeface="Calibri"/>
                <a:ea typeface="Calibri"/>
                <a:cs typeface="Calibri"/>
              </a:rPr>
              <a:t>TensorRT build and validation</a:t>
            </a:r>
          </a:p>
          <a:p xmlns:a="http://schemas.openxmlformats.org/drawingml/2006/main">
            <a:pPr algn="l">
              <a:defRPr sz="2325" b="1">
                <a:solidFill>
                  <a:srgbClr val="071B3B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71B3B"/>
                </a:solidFill>
                <a:latin typeface="Calibri"/>
                <a:ea typeface="Calibri"/>
                <a:cs typeface="Calibri"/>
              </a:rPr>
              <a:t>NVIDIA Jetson target</a:t>
            </a:r>
          </a:p>
        </p:txBody>
      </p:sp>
      <p:sp>
        <p:nvSpPr>
          <p:cNvPr id="12" name="stack-footer">
            <a:extLst xmlns:a="http://schemas.openxmlformats.org/drawingml/2006/main">
              <a:ext uri="{FF2B5EF4-FFF2-40B4-BE49-F238E27FC236}">
                <a16:creationId xmlns:a16="http://schemas.microsoft.com/office/drawing/2014/main" id="{82DC7BA9-AF42-4FDE-A698-6FFFEA46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8572500"/>
            <a:ext cx="1543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4AAD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04AAD"/>
                </a:solidFill>
                <a:latin typeface="Calibri"/>
                <a:ea typeface="Calibri"/>
                <a:cs typeface="Calibri"/>
              </a:rPr>
              <a:t>GPU training used both Kaggle Tesla T4 GPUs. The selected checkpoint is 20.3 MB.</a:t>
            </a:r>
          </a:p>
        </p:txBody>
      </p:sp>
    </p:spTree>
    <p:extLst>
      <p:ext uri="{BB962C8B-B14F-4D97-AF65-F5344CB8AC3E}">
        <p14:creationId xmlns:p14="http://schemas.microsoft.com/office/powerpoint/2010/main" val="8007852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57AF98FF-C4BD-4B98-9DE7-B040CA28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1714500"/>
            <a:ext cx="14097000" cy="1911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ts val="7525"/>
              </a:lnSpc>
              <a:buNone/>
              <a:defRPr sz="4125" b="1">
                <a:solidFill>
                  <a:srgbClr val="004AAD"/>
                </a:solidFill>
                <a:latin typeface="Brick Sans"/>
                <a:ea typeface="Brick Sans"/>
                <a:cs typeface="Brick Sans"/>
              </a:defRPr>
            </a:pPr>
            <a:r>
              <a:rPr sz="4125" b="1" spc="-125">
                <a:solidFill>
                  <a:srgbClr val="004AAD"/>
                </a:solidFill>
                <a:latin typeface="Brick Sans"/>
                <a:ea typeface="Brick Sans"/>
                <a:cs typeface="Brick Sans"/>
              </a:rPr>
              <a:t>Deployment and Business Path</a:t>
            </a:r>
          </a:p>
        </p:txBody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30F457D0-854D-4297-95C1-63B15F16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25" y="0"/>
            <a:ext cx="4399049" cy="1967666"/>
          </a:xfrm>
          <a:custGeom xmlns:a="http://schemas.openxmlformats.org/drawingml/2006/main">
            <a:rect l="l" t="t" r="r" b="b"/>
            <a:pathLst>
              <a:path w="4399049" h="1967666">
                <a:moveTo>
                  <a:pt x="0" y="0"/>
                </a:moveTo>
                <a:lnTo>
                  <a:pt x="4399049" y="0"/>
                </a:lnTo>
                <a:lnTo>
                  <a:pt x="4399049" y="1967666"/>
                </a:lnTo>
                <a:lnTo>
                  <a:pt x="0" y="196766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9cd8d1ab8ad457b"/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15CC4644-A155-4D31-8963-BDEE39B1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179393" y="0"/>
            <a:ext cx="1863273" cy="1808065"/>
          </a:xfrm>
          <a:custGeom xmlns:a="http://schemas.openxmlformats.org/drawingml/2006/main">
            <a:rect l="l" t="t" r="r" b="b"/>
            <a:pathLst>
              <a:path w="1863273" h="1808065">
                <a:moveTo>
                  <a:pt x="0" y="0"/>
                </a:moveTo>
                <a:lnTo>
                  <a:pt x="1863273" y="0"/>
                </a:lnTo>
                <a:lnTo>
                  <a:pt x="1863273" y="1808065"/>
                </a:lnTo>
                <a:lnTo>
                  <a:pt x="0" y="180806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b20758cd9af4f3f"/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40F7FCF1-EF93-4025-9A63-92251556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61727" y="280721"/>
            <a:ext cx="4164546" cy="1246624"/>
          </a:xfrm>
          <a:custGeom xmlns:a="http://schemas.openxmlformats.org/drawingml/2006/main">
            <a:rect l="l" t="t" r="r" b="b"/>
            <a:pathLst>
              <a:path w="4164546" h="1246624">
                <a:moveTo>
                  <a:pt x="0" y="0"/>
                </a:moveTo>
                <a:lnTo>
                  <a:pt x="4164546" y="0"/>
                </a:lnTo>
                <a:lnTo>
                  <a:pt x="4164546" y="1246623"/>
                </a:lnTo>
                <a:lnTo>
                  <a:pt x="0" y="124662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9e98774ac2246b9"/>
            <a:stretch>
              <a:fillRect l="0" t="0" r="0" b="0"/>
            </a:stretch>
          </a:blipFill>
        </p:spPr>
      </p:sp>
      <p:sp>
        <p:nvSpPr>
          <p:cNvPr id="6" name="label-completed">
            <a:extLst xmlns:a="http://schemas.openxmlformats.org/drawingml/2006/main">
              <a:ext uri="{FF2B5EF4-FFF2-40B4-BE49-F238E27FC236}">
                <a16:creationId xmlns:a16="http://schemas.microsoft.com/office/drawing/2014/main" id="{B831C6EE-8A6D-4297-8369-2A9F0382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4AAD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04AAD"/>
                </a:solidFill>
                <a:latin typeface="Calibri"/>
                <a:ea typeface="Calibri"/>
                <a:cs typeface="Calibri"/>
              </a:rPr>
              <a:t>COMPLETED</a:t>
            </a:r>
          </a:p>
        </p:txBody>
      </p:sp>
      <p:sp>
        <p:nvSpPr>
          <p:cNvPr id="7" name="completed-bullets">
            <a:extLst xmlns:a="http://schemas.openxmlformats.org/drawingml/2006/main">
              <a:ext uri="{FF2B5EF4-FFF2-40B4-BE49-F238E27FC236}">
                <a16:creationId xmlns:a16="http://schemas.microsoft.com/office/drawing/2014/main" id="{8FD7B40A-97FA-496B-AA33-EA862F4E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7239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27000" algn="l">
              <a:spcAft>
                <a:spcPts val="1200"/>
              </a:spcAft>
              <a:buChar char="•"/>
              <a:defRPr sz="2025" b="0">
                <a:solidFill>
                  <a:srgbClr val="15243A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5243A"/>
                </a:solidFill>
                <a:latin typeface="Calibri"/>
                <a:ea typeface="Calibri"/>
                <a:cs typeface="Calibri"/>
              </a:rPr>
              <a:t>Leakage-safe full-data benchmark and selected checkpoint.</a:t>
            </a:r>
          </a:p>
          <a:p xmlns:a="http://schemas.openxmlformats.org/drawingml/2006/main">
            <a:pPr marL="279400" indent="-127000" algn="l">
              <a:spcAft>
                <a:spcPts val="1200"/>
              </a:spcAft>
              <a:buChar char="•"/>
              <a:defRPr sz="2025" b="0">
                <a:solidFill>
                  <a:srgbClr val="15243A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5243A"/>
                </a:solidFill>
                <a:latin typeface="Calibri"/>
                <a:ea typeface="Calibri"/>
                <a:cs typeface="Calibri"/>
              </a:rPr>
              <a:t>FastAPI backend with health, inference, replay and review endpoints.</a:t>
            </a:r>
          </a:p>
          <a:p xmlns:a="http://schemas.openxmlformats.org/drawingml/2006/main">
            <a:pPr marL="279400" indent="-127000" algn="l">
              <a:spcAft>
                <a:spcPts val="1200"/>
              </a:spcAft>
              <a:buChar char="•"/>
              <a:defRPr sz="2025" b="0">
                <a:solidFill>
                  <a:srgbClr val="15243A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5243A"/>
                </a:solidFill>
                <a:latin typeface="Calibri"/>
                <a:ea typeface="Calibri"/>
                <a:cs typeface="Calibri"/>
              </a:rPr>
              <a:t>React review console with real AU-AIR frames.</a:t>
            </a:r>
          </a:p>
          <a:p xmlns:a="http://schemas.openxmlformats.org/drawingml/2006/main">
            <a:pPr marL="279400" indent="-127000" algn="l">
              <a:spcAft>
                <a:spcPts val="1200"/>
              </a:spcAft>
              <a:buChar char="•"/>
              <a:defRPr sz="2025" b="0">
                <a:solidFill>
                  <a:srgbClr val="15243A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5243A"/>
                </a:solidFill>
                <a:latin typeface="Calibri"/>
                <a:ea typeface="Calibri"/>
                <a:cs typeface="Calibri"/>
              </a:rPr>
              <a:t>ONNX export, TensorRT build, validation and inference scripts.</a:t>
            </a:r>
          </a:p>
        </p:txBody>
      </p:sp>
      <p:sp>
        <p:nvSpPr>
          <p:cNvPr id="8" name="label-before-deployment">
            <a:extLst xmlns:a="http://schemas.openxmlformats.org/drawingml/2006/main">
              <a:ext uri="{FF2B5EF4-FFF2-40B4-BE49-F238E27FC236}">
                <a16:creationId xmlns:a16="http://schemas.microsoft.com/office/drawing/2014/main" id="{1D864EC3-7CE9-4892-9ABE-64B23F5E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962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4AAD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04AAD"/>
                </a:solidFill>
                <a:latin typeface="Calibri"/>
                <a:ea typeface="Calibri"/>
                <a:cs typeface="Calibri"/>
              </a:rPr>
              <a:t>BEFORE DEPLOYMENT</a:t>
            </a:r>
          </a:p>
        </p:txBody>
      </p:sp>
      <p:sp>
        <p:nvSpPr>
          <p:cNvPr id="9" name="deployment-next">
            <a:extLst xmlns:a="http://schemas.openxmlformats.org/drawingml/2006/main">
              <a:ext uri="{FF2B5EF4-FFF2-40B4-BE49-F238E27FC236}">
                <a16:creationId xmlns:a16="http://schemas.microsoft.com/office/drawing/2014/main" id="{CD96C0D5-9B11-43EC-B574-D62C4EAF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524875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94A50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C94A50"/>
                </a:solidFill>
                <a:latin typeface="Calibri"/>
                <a:ea typeface="Calibri"/>
                <a:cs typeface="Calibri"/>
              </a:rPr>
              <a:t>Build the FP16 engine on the target Jetson. Validate output parity. Measure latency, memory and thermal behavior.</a:t>
            </a:r>
          </a:p>
        </p:txBody>
      </p:sp>
      <p:sp>
        <p:nvSpPr>
          <p:cNvPr id="10" name="label-business-details-to-confirm">
            <a:extLst xmlns:a="http://schemas.openxmlformats.org/drawingml/2006/main">
              <a:ext uri="{FF2B5EF4-FFF2-40B4-BE49-F238E27FC236}">
                <a16:creationId xmlns:a16="http://schemas.microsoft.com/office/drawing/2014/main" id="{587023A9-5364-4463-9F57-F53BA66F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3375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4AAD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04AAD"/>
                </a:solidFill>
                <a:latin typeface="Calibri"/>
                <a:ea typeface="Calibri"/>
                <a:cs typeface="Calibri"/>
              </a:rPr>
              <a:t>BUSINESS DETAILS TO CONFIRM</a:t>
            </a:r>
          </a:p>
        </p:txBody>
      </p:sp>
      <p:sp>
        <p:nvSpPr>
          <p:cNvPr id="11" name="business-fields">
            <a:extLst xmlns:a="http://schemas.openxmlformats.org/drawingml/2006/main">
              <a:ext uri="{FF2B5EF4-FFF2-40B4-BE49-F238E27FC236}">
                <a16:creationId xmlns:a16="http://schemas.microsoft.com/office/drawing/2014/main" id="{81269471-D90A-473D-977D-9D159342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000500"/>
            <a:ext cx="7239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5243A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5243A"/>
                </a:solidFill>
                <a:latin typeface="Calibri"/>
                <a:ea typeface="Calibri"/>
                <a:cs typeface="Calibri"/>
              </a:rPr>
              <a:t>Primary customer       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75" b="0">
                <a:solidFill>
                  <a:srgbClr val="15243A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5243A"/>
                </a:solidFill>
                <a:latin typeface="Calibri"/>
                <a:ea typeface="Calibri"/>
                <a:cs typeface="Calibri"/>
              </a:rPr>
              <a:t>Main use case           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75" b="0">
                <a:solidFill>
                  <a:srgbClr val="15243A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5243A"/>
                </a:solidFill>
                <a:latin typeface="Calibri"/>
                <a:ea typeface="Calibri"/>
                <a:cs typeface="Calibri"/>
              </a:rPr>
              <a:t>Delivery model          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75" b="0">
                <a:solidFill>
                  <a:srgbClr val="15243A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5243A"/>
                </a:solidFill>
                <a:latin typeface="Calibri"/>
                <a:ea typeface="Calibri"/>
                <a:cs typeface="Calibri"/>
              </a:rPr>
              <a:t>Pricing                     __________________________</a:t>
            </a:r>
          </a:p>
        </p:txBody>
      </p:sp>
      <p:sp>
        <p:nvSpPr>
          <p:cNvPr id="12" name="position-heading">
            <a:extLst xmlns:a="http://schemas.openxmlformats.org/drawingml/2006/main">
              <a:ext uri="{FF2B5EF4-FFF2-40B4-BE49-F238E27FC236}">
                <a16:creationId xmlns:a16="http://schemas.microsoft.com/office/drawing/2014/main" id="{F46ECF30-70A5-40CC-BCD3-0AB96528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7762875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1B3B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71B3B"/>
                </a:solidFill>
                <a:latin typeface="Calibri"/>
                <a:ea typeface="Calibri"/>
                <a:cs typeface="Calibri"/>
              </a:rPr>
              <a:t>Current product position</a:t>
            </a:r>
          </a:p>
        </p:txBody>
      </p:sp>
      <p:sp>
        <p:nvSpPr>
          <p:cNvPr id="13" name="position-body">
            <a:extLst xmlns:a="http://schemas.openxmlformats.org/drawingml/2006/main">
              <a:ext uri="{FF2B5EF4-FFF2-40B4-BE49-F238E27FC236}">
                <a16:creationId xmlns:a16="http://schemas.microsoft.com/office/drawing/2014/main" id="{F5327A56-C55D-4596-B26A-99D8C24D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828675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4AAD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04AAD"/>
                </a:solidFill>
                <a:latin typeface="Calibri"/>
                <a:ea typeface="Calibri"/>
                <a:cs typeface="Calibri"/>
              </a:rPr>
              <a:t>A research prototype for supervised aerial detection review. No autonomous-flight or safety-certification claim.</a:t>
            </a:r>
          </a:p>
        </p:txBody>
      </p:sp>
    </p:spTree>
    <p:extLst>
      <p:ext uri="{BB962C8B-B14F-4D97-AF65-F5344CB8AC3E}">
        <p14:creationId xmlns:p14="http://schemas.microsoft.com/office/powerpoint/2010/main" val="367989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D4F02CA1-00FD-4F08-BD6E-0F09F2DB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25" y="0"/>
            <a:ext cx="4399049" cy="1967666"/>
          </a:xfrm>
          <a:custGeom xmlns:a="http://schemas.openxmlformats.org/drawingml/2006/main">
            <a:rect l="l" t="t" r="r" b="b"/>
            <a:pathLst>
              <a:path w="4399049" h="1967666">
                <a:moveTo>
                  <a:pt x="0" y="0"/>
                </a:moveTo>
                <a:lnTo>
                  <a:pt x="4399049" y="0"/>
                </a:lnTo>
                <a:lnTo>
                  <a:pt x="4399049" y="1967666"/>
                </a:lnTo>
                <a:lnTo>
                  <a:pt x="0" y="196766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02ab6dd058c4d9c"/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EFEB3000-2B07-41A5-A419-52F22E62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179393" y="0"/>
            <a:ext cx="1863273" cy="1808065"/>
          </a:xfrm>
          <a:custGeom xmlns:a="http://schemas.openxmlformats.org/drawingml/2006/main">
            <a:rect l="l" t="t" r="r" b="b"/>
            <a:pathLst>
              <a:path w="1863273" h="1808065">
                <a:moveTo>
                  <a:pt x="0" y="0"/>
                </a:moveTo>
                <a:lnTo>
                  <a:pt x="1863273" y="0"/>
                </a:lnTo>
                <a:lnTo>
                  <a:pt x="1863273" y="1808065"/>
                </a:lnTo>
                <a:lnTo>
                  <a:pt x="0" y="180806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56378ae37354228"/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50D42407-2C6A-4CC5-A799-D16E6BE2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61727" y="280721"/>
            <a:ext cx="4164546" cy="1246624"/>
          </a:xfrm>
          <a:custGeom xmlns:a="http://schemas.openxmlformats.org/drawingml/2006/main">
            <a:rect l="l" t="t" r="r" b="b"/>
            <a:pathLst>
              <a:path w="4164546" h="1246624">
                <a:moveTo>
                  <a:pt x="0" y="0"/>
                </a:moveTo>
                <a:lnTo>
                  <a:pt x="4164546" y="0"/>
                </a:lnTo>
                <a:lnTo>
                  <a:pt x="4164546" y="1246623"/>
                </a:lnTo>
                <a:lnTo>
                  <a:pt x="0" y="124662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2714b0f5af74826"/>
            <a:stretch>
              <a:fillRect l="0" t="0" r="0" b="0"/>
            </a:stretch>
          </a:blipFill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A6F7D310-848F-48AC-8880-0DF99A28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906" y="3218028"/>
            <a:ext cx="7772187" cy="31671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2135"/>
              </a:lnSpc>
              <a:buNone/>
            </a:pPr>
            <a:r>
              <a:rPr sz="10112" spc="-202">
                <a:solidFill>
                  <a:srgbClr val="000000"/>
                </a:solidFill>
                <a:latin typeface="Brick Sans"/>
                <a:ea typeface="Brick Sans"/>
                <a:cs typeface="Brick Sans"/>
              </a:rPr>
              <a:t>THANK</a:t>
            </a:r>
          </a:p>
          <a:p xmlns:a="http://schemas.openxmlformats.org/drawingml/2006/main">
            <a:pPr algn="ctr">
              <a:lnSpc>
                <a:spcPts val="12135"/>
              </a:lnSpc>
              <a:spcBef>
                <a:spcPct val="0"/>
              </a:spcBef>
              <a:buNone/>
            </a:pPr>
            <a:r>
              <a:rPr sz="10112" spc="-202">
                <a:solidFill>
                  <a:srgbClr val="000000"/>
                </a:solidFill>
                <a:latin typeface="Brick Sans"/>
                <a:ea typeface="Brick Sans"/>
                <a:cs typeface="Brick Sans"/>
              </a:rPr>
              <a:t>YOU</a:t>
            </a:r>
          </a:p>
        </p:txBody>
      </p:sp>
      <p:sp>
        <p:nvSpPr>
          <p:cNvPr id="6" name="closing-project">
            <a:extLst xmlns:a="http://schemas.openxmlformats.org/drawingml/2006/main">
              <a:ext uri="{FF2B5EF4-FFF2-40B4-BE49-F238E27FC236}">
                <a16:creationId xmlns:a16="http://schemas.microsoft.com/office/drawing/2014/main" id="{0CD3D547-04BE-44BB-8F6F-1499DCFF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334125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004AAD"/>
                </a:solidFill>
                <a:latin typeface="Brick Sans"/>
                <a:ea typeface="Brick Sans"/>
                <a:cs typeface="Brick Sans"/>
              </a:defRPr>
            </a:pPr>
            <a:r>
              <a:rPr sz="3600" b="1">
                <a:solidFill>
                  <a:srgbClr val="004AAD"/>
                </a:solidFill>
                <a:latin typeface="Brick Sans"/>
                <a:ea typeface="Brick Sans"/>
                <a:cs typeface="Brick Sans"/>
              </a:rPr>
              <a:t>AeroGuard</a:t>
            </a:r>
          </a:p>
        </p:txBody>
      </p:sp>
      <p:sp>
        <p:nvSpPr>
          <p:cNvPr id="7" name="closing-questions">
            <a:extLst xmlns:a="http://schemas.openxmlformats.org/drawingml/2006/main">
              <a:ext uri="{FF2B5EF4-FFF2-40B4-BE49-F238E27FC236}">
                <a16:creationId xmlns:a16="http://schemas.microsoft.com/office/drawing/2014/main" id="{83C159C0-E7FC-4CAD-AD74-FA96024C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12470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71B3B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71B3B"/>
                </a:solidFill>
                <a:latin typeface="Calibri"/>
                <a:ea typeface="Calibri"/>
                <a:cs typeface="Calibri"/>
              </a:rPr>
              <a:t>Questions</a:t>
            </a:r>
          </a:p>
        </p:txBody>
      </p:sp>
      <p:sp>
        <p:nvSpPr>
          <p:cNvPr id="8" name="repo-link">
            <a:extLst xmlns:a="http://schemas.openxmlformats.org/drawingml/2006/main">
              <a:ext uri="{FF2B5EF4-FFF2-40B4-BE49-F238E27FC236}">
                <a16:creationId xmlns:a16="http://schemas.microsoft.com/office/drawing/2014/main" id="{1F2FE7D9-8A67-44A5-A7D8-EEBF595F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79057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004AAD"/>
                </a:solidFill>
                <a:latin typeface="Calibri"/>
                <a:ea typeface="Calibri"/>
                <a:cs typeface="Calibri"/>
              </a:defRPr>
            </a:pPr>
            <a:r>
              <a:rPr sz="1800" u="sng">
                <a:solidFill>
                  <a:srgbClr val="004AAD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7e3a5119a47e487c"/>
              </a:rPr>
              <a:t>github.com/saran-gangster/code-cortex</a:t>
            </a:r>
          </a:p>
        </p:txBody>
      </p:sp>
    </p:spTree>
    <p:extLst>
      <p:ext uri="{BB962C8B-B14F-4D97-AF65-F5344CB8AC3E}">
        <p14:creationId xmlns:p14="http://schemas.microsoft.com/office/powerpoint/2010/main" val="184073177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2026-09-19T05:01:16.0660000Z</dcterms:created>
  <dcterms:modified xsi:type="dcterms:W3CDTF">2026-09-19T05:01:16.0660000Z</dcterms:modified>
</coreProperties>
</file>
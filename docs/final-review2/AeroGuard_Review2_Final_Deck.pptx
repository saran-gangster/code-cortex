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d47e9e62ce4d7a" /><Relationship Type="http://schemas.openxmlformats.org/officeDocument/2006/relationships/extended-properties" Target="/docProps/app.xml" Id="R8dc82ea8bacf4e57" /><Relationship Type="http://schemas.openxmlformats.org/officeDocument/2006/relationships/officeDocument" Target="/ppt/presentation.xml" Id="R6d3b08f96f5b4ae4" /></Relationships>
</file>

<file path=ppt/presentation.xml><?xml version="1.0" encoding="utf-8"?>
<p:presentation xmlns:p="http://schemas.openxmlformats.org/presentationml/2006/main">
  <p:sldMasterIdLst>
    <p:sldMasterId xmlns:r="http://schemas.openxmlformats.org/officeDocument/2006/relationships" id="2147483648" r:id="R1e4f1b59724c4995"/>
  </p:sldMasterIdLst>
  <p:notesMasterIdLst>
    <p:notesMasterId xmlns:r="http://schemas.openxmlformats.org/officeDocument/2006/relationships" r:id="R40e6819d54864951"/>
  </p:notesMasterIdLst>
  <p:sldIdLst>
    <p:sldId xmlns:r="http://schemas.openxmlformats.org/officeDocument/2006/relationships" id="256" r:id="R6fcb46edf01c4dae"/>
    <p:sldId xmlns:r="http://schemas.openxmlformats.org/officeDocument/2006/relationships" id="257" r:id="R562dbe1b643a4145"/>
    <p:sldId xmlns:r="http://schemas.openxmlformats.org/officeDocument/2006/relationships" id="258" r:id="R2939ebb7289e4584"/>
    <p:sldId xmlns:r="http://schemas.openxmlformats.org/officeDocument/2006/relationships" id="259" r:id="R384c19b9a0314350"/>
    <p:sldId xmlns:r="http://schemas.openxmlformats.org/officeDocument/2006/relationships" id="260" r:id="Rf309ed8f84dc46bf"/>
    <p:sldId xmlns:r="http://schemas.openxmlformats.org/officeDocument/2006/relationships" id="261" r:id="Rdd7e02b200d64dc0"/>
    <p:sldId xmlns:r="http://schemas.openxmlformats.org/officeDocument/2006/relationships" id="262" r:id="R30f74ea60a6c4ae0"/>
    <p:sldId xmlns:r="http://schemas.openxmlformats.org/officeDocument/2006/relationships" id="263" r:id="R86db42dbf2e84618"/>
    <p:sldId xmlns:r="http://schemas.openxmlformats.org/officeDocument/2006/relationships" id="264" r:id="R5715baed156f44d5"/>
    <p:sldId xmlns:r="http://schemas.openxmlformats.org/officeDocument/2006/relationships" id="265" r:id="Rcf65746c383e45b0"/>
    <p:sldId xmlns:r="http://schemas.openxmlformats.org/officeDocument/2006/relationships" id="266" r:id="R61908e10d70440b4"/>
    <p:sldId xmlns:r="http://schemas.openxmlformats.org/officeDocument/2006/relationships" id="267" r:id="R419c93a266094e8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52be39c13c4dfc" /><Relationship Type="http://schemas.openxmlformats.org/officeDocument/2006/relationships/slideMaster" Target="/ppt/slideMasters/slideMaster1.xml" Id="R1e4f1b59724c4995" /><Relationship Type="http://schemas.openxmlformats.org/officeDocument/2006/relationships/notesMaster" Target="/ppt/notesMasters/notesMaster1.xml" Id="R40e6819d54864951" /><Relationship Type="http://schemas.openxmlformats.org/officeDocument/2006/relationships/presProps" Target="/ppt/presProps.xml" Id="R6996ede4d75146cc" /><Relationship Type="http://schemas.openxmlformats.org/officeDocument/2006/relationships/tableStyles" Target="/ppt/tableStyles.xml" Id="R9b564c62ee4e4705" /><Relationship Type="http://schemas.openxmlformats.org/officeDocument/2006/relationships/slide" Target="/ppt/slides/slide1.xml" Id="R6fcb46edf01c4dae" /><Relationship Type="http://schemas.openxmlformats.org/officeDocument/2006/relationships/slide" Target="/ppt/slides/slide2.xml" Id="R562dbe1b643a4145" /><Relationship Type="http://schemas.openxmlformats.org/officeDocument/2006/relationships/slide" Target="/ppt/slides/slide3.xml" Id="R2939ebb7289e4584" /><Relationship Type="http://schemas.openxmlformats.org/officeDocument/2006/relationships/slide" Target="/ppt/slides/slide4.xml" Id="R384c19b9a0314350" /><Relationship Type="http://schemas.openxmlformats.org/officeDocument/2006/relationships/slide" Target="/ppt/slides/slide5.xml" Id="Rf309ed8f84dc46bf" /><Relationship Type="http://schemas.openxmlformats.org/officeDocument/2006/relationships/slide" Target="/ppt/slides/slide6.xml" Id="Rdd7e02b200d64dc0" /><Relationship Type="http://schemas.openxmlformats.org/officeDocument/2006/relationships/slide" Target="/ppt/slides/slide7.xml" Id="R30f74ea60a6c4ae0" /><Relationship Type="http://schemas.openxmlformats.org/officeDocument/2006/relationships/slide" Target="/ppt/slides/slide8.xml" Id="R86db42dbf2e84618" /><Relationship Type="http://schemas.openxmlformats.org/officeDocument/2006/relationships/slide" Target="/ppt/slides/slide9.xml" Id="R5715baed156f44d5" /><Relationship Type="http://schemas.openxmlformats.org/officeDocument/2006/relationships/slide" Target="/ppt/slides/slide10.xml" Id="Rcf65746c383e45b0" /><Relationship Type="http://schemas.openxmlformats.org/officeDocument/2006/relationships/slide" Target="/ppt/slides/slide11.xml" Id="R61908e10d70440b4" /><Relationship Type="http://schemas.openxmlformats.org/officeDocument/2006/relationships/slide" Target="/ppt/slides/slide12.xml" Id="R419c93a266094e8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84794b6fc243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66fb1f2b6c455a" /><Relationship Type="http://schemas.openxmlformats.org/officeDocument/2006/relationships/notesMaster" Target="/ppt/notesMasters/notesMaster1.xml" Id="Rbcec6d9a51044b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524ee1e8b74fd9" /><Relationship Type="http://schemas.openxmlformats.org/officeDocument/2006/relationships/notesMaster" Target="/ppt/notesMasters/notesMaster1.xml" Id="R01a1cfee398a46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b479daa1384929" /><Relationship Type="http://schemas.openxmlformats.org/officeDocument/2006/relationships/notesMaster" Target="/ppt/notesMasters/notesMaster1.xml" Id="Rf77db067700e4d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c52c9bcfbd4811" /><Relationship Type="http://schemas.openxmlformats.org/officeDocument/2006/relationships/notesMaster" Target="/ppt/notesMasters/notesMaster1.xml" Id="R1cc8a1bb78aa4f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0ffc0515b7431d" /><Relationship Type="http://schemas.openxmlformats.org/officeDocument/2006/relationships/notesMaster" Target="/ppt/notesMasters/notesMaster1.xml" Id="R832840ac2f3b4e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fcb470fa3d4f9e" /><Relationship Type="http://schemas.openxmlformats.org/officeDocument/2006/relationships/notesMaster" Target="/ppt/notesMasters/notesMaster1.xml" Id="R7097d0e980074c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506cf884889482e" /><Relationship Type="http://schemas.openxmlformats.org/officeDocument/2006/relationships/notesMaster" Target="/ppt/notesMasters/notesMaster1.xml" Id="R8fc9c09067c44f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8de3b5f70b4468" /><Relationship Type="http://schemas.openxmlformats.org/officeDocument/2006/relationships/notesMaster" Target="/ppt/notesMasters/notesMaster1.xml" Id="R13d8d50a90db43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c8f519d7ab499a" /><Relationship Type="http://schemas.openxmlformats.org/officeDocument/2006/relationships/notesMaster" Target="/ppt/notesMasters/notesMaster1.xml" Id="R9809529a6a4246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3dc346300c48d3" /><Relationship Type="http://schemas.openxmlformats.org/officeDocument/2006/relationships/notesMaster" Target="/ppt/notesMasters/notesMaster1.xml" Id="R5543047b503643e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8471281c874774" /><Relationship Type="http://schemas.openxmlformats.org/officeDocument/2006/relationships/notesMaster" Target="/ppt/notesMasters/notesMaster1.xml" Id="Rd8f1911e94aa4e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390ca31d4b04774" /><Relationship Type="http://schemas.openxmlformats.org/officeDocument/2006/relationships/notesMaster" Target="/ppt/notesMasters/notesMaster1.xml" Id="Rc9a974a20cc643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AeroGuard tests whether flight state can improve object detection from a moving drone. Review 2 adds full-pass training, complete evaluation evidence, a corrective adapter study, a working review console, and a TensorRT deployment path. The final test is still sealed.</a:t>
            </a:r>
          </a:p>
          <a:p xmlns:a="http://schemas.openxmlformats.org/drawingml/2006/main">
            <a:r>
              <a:t/>
            </a:r>
          </a:p>
          <a:p xmlns:a="http://schemas.openxmlformats.org/drawingml/2006/main">
            <a:r>
              <a:t>Sources:</a:t>
            </a:r>
          </a:p>
          <a:p xmlns:a="http://schemas.openxmlformats.org/drawingml/2006/main">
            <a:r>
              <a:t>README.md</a:t>
            </a:r>
          </a:p>
          <a:p xmlns:a="http://schemas.openxmlformats.org/drawingml/2006/main">
            <a:r>
              <a:t>docs/REVIEW2_EVIDENCE.md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Objects are small, distant, and viewed from a changing camera position. The proposed solution combines the image with eight normalized flight-state values. A human inspects every result. The system is an offline review tool, not an autonomous flight controller.</a:t>
            </a:r>
          </a:p>
          <a:p xmlns:a="http://schemas.openxmlformats.org/drawingml/2006/main">
            <a:r>
              <a:t/>
            </a:r>
          </a:p>
          <a:p xmlns:a="http://schemas.openxmlformats.org/drawingml/2006/main">
            <a:r>
              <a:t>Sources:</a:t>
            </a:r>
          </a:p>
          <a:p xmlns:a="http://schemas.openxmlformats.org/drawingml/2006/main">
            <a:r>
              <a:t>manifests/auair.jsonl</a:t>
            </a:r>
          </a:p>
          <a:p xmlns:a="http://schemas.openxmlformats.org/drawingml/2006/main">
            <a:r>
              <a:t>docs/assets/auair-demo/sequence.json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1 gave us a useful early signal, but it came from shorter runs. Review 2 scaled both arms, measured every loss step, and tested the result on the same held-out flight. The corrected labels identify E2 as the image-plus-state model and E1 as the image-only model. E2 leads both the pilot and full-pass development comparisons.</a:t>
            </a:r>
          </a:p>
          <a:p xmlns:a="http://schemas.openxmlformats.org/drawingml/2006/main">
            <a:r>
              <a:t/>
            </a:r>
          </a:p>
          <a:p xmlns:a="http://schemas.openxmlformats.org/drawingml/2006/main">
            <a:r>
              <a:t>Sources:</a:t>
            </a:r>
          </a:p>
          <a:p xmlns:a="http://schemas.openxmlformats.org/drawingml/2006/main">
            <a:r>
              <a:t>docs/DEVELOPMENT_RESULTS.md</a:t>
            </a:r>
          </a:p>
          <a:p xmlns:a="http://schemas.openxmlformats.org/drawingml/2006/main">
            <a:r>
              <a:t>docs/REVIEW2_EVIDENCE.md</a:t>
            </a:r>
          </a:p>
          <a:p xmlns:a="http://schemas.openxmlformats.org/drawingml/2006/main">
            <a:r>
              <a:t>docs/REVIEW2_ADAPTER_FOLLOWUP.md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AU-AIR contains 32,823 frames. Five full recordings form training, one full recording forms development, and two recordings remain sealed for the final test. We never randomly mix neighboring video frames because that would leak nearly identical scenes across splits.</a:t>
            </a:r>
          </a:p>
          <a:p xmlns:a="http://schemas.openxmlformats.org/drawingml/2006/main">
            <a:r>
              <a:t/>
            </a:r>
          </a:p>
          <a:p xmlns:a="http://schemas.openxmlformats.org/drawingml/2006/main">
            <a:r>
              <a:t>Sources:</a:t>
            </a:r>
          </a:p>
          <a:p xmlns:a="http://schemas.openxmlformats.org/drawingml/2006/main">
            <a:r>
              <a:t>manifests/protocol.json</a:t>
            </a:r>
          </a:p>
          <a:p xmlns:a="http://schemas.openxmlformats.org/drawingml/2006/main">
            <a:r>
              <a:t>docs/REVIEW2_EVIDENCE.md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E1 is the image-only control. E2 trains the detector and state branch together. E3 and E4 are controlled frozen-visual variants of E2.</a:t>
            </a:r>
          </a:p>
          <a:p xmlns:a="http://schemas.openxmlformats.org/drawingml/2006/main">
            <a:r>
              <a:t/>
            </a:r>
          </a:p>
          <a:p xmlns:a="http://schemas.openxmlformats.org/drawingml/2006/main">
            <a:r>
              <a:t>Sources:</a:t>
            </a:r>
          </a:p>
          <a:p xmlns:a="http://schemas.openxmlformats.org/drawingml/2006/main">
            <a:r>
              <a:t>docs/assets/aeroguard-model-architecture-review2-cropped.png</a:t>
            </a:r>
          </a:p>
          <a:p xmlns:a="http://schemas.openxmlformats.org/drawingml/2006/main">
            <a:r>
              <a:t>reports/review2/adapter_integrity_summary.json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1 used 5,000 updates per model. Review 2 uses one complete pass over all 18,523 training frames for each arm. The faint traces show every stored step. The stronger lines are 200-step moving averages for readability. Loss decreased, which confirms optimization, but held-out metrics decide model quality.</a:t>
            </a:r>
          </a:p>
          <a:p xmlns:a="http://schemas.openxmlformats.org/drawingml/2006/main">
            <a:r>
              <a:t/>
            </a:r>
          </a:p>
          <a:p xmlns:a="http://schemas.openxmlformats.org/drawingml/2006/main">
            <a:r>
              <a:t>Sources:</a:t>
            </a:r>
          </a:p>
          <a:p xmlns:a="http://schemas.openxmlformats.org/drawingml/2006/main">
            <a:r>
              <a:t>reports/review2/imagenet-e2-full-pass/loss_history.jsonl</a:t>
            </a:r>
          </a:p>
          <a:p xmlns:a="http://schemas.openxmlformats.org/drawingml/2006/main">
            <a:r>
              <a:t>reports/review2/imagenet-e1-full-pass/loss_history.jsonl</a:t>
            </a:r>
          </a:p>
          <a:p xmlns:a="http://schemas.openxmlformats.org/drawingml/2006/main">
            <a:r>
              <a:t>docs/REVIEW2_EVIDENCE.md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E2 is the image-plus-state model and reached AP50 0.1698, ahead of image-only E1 at 0.1146. E4 reached AP50 0.1697 and nearly matched E2 but did not improve on it, so E2 remains selected.</a:t>
            </a:r>
          </a:p>
          <a:p xmlns:a="http://schemas.openxmlformats.org/drawingml/2006/main">
            <a:r>
              <a:t/>
            </a:r>
          </a:p>
          <a:p xmlns:a="http://schemas.openxmlformats.org/drawingml/2006/main">
            <a:r>
              <a:t>Sources:</a:t>
            </a:r>
          </a:p>
          <a:p xmlns:a="http://schemas.openxmlformats.org/drawingml/2006/main">
            <a:r>
              <a:t>docs/REVIEW2_ADAPTER_FOLLOWUP.md</a:t>
            </a:r>
          </a:p>
          <a:p xmlns:a="http://schemas.openxmlformats.org/drawingml/2006/main">
            <a:r>
              <a:t>reports/evaluations/review2-imagenet-e4-exact-frozen-visual-film-dropout50.json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the judges ask why the numbers are low, answer directly. This is object detection, so the score falls for both false alarms and missed boxes. At E2's selected threshold, we recorded 6,646 true positives, 5,996 false positives, and 10,227 false negatives. Precision is 52.57 percent and recall is 39.39 percent. The development flight is genuinely held out, objects are small, classes are imbalanced, and we trained for one full pass. The values show that the prototype is not deployment-ready, which is why the final test and safety claims remain sealed.</a:t>
            </a:r>
          </a:p>
          <a:p xmlns:a="http://schemas.openxmlformats.org/drawingml/2006/main">
            <a:r>
              <a:t/>
            </a:r>
          </a:p>
          <a:p xmlns:a="http://schemas.openxmlformats.org/drawingml/2006/main">
            <a:r>
              <a:t>Sources:</a:t>
            </a:r>
          </a:p>
          <a:p xmlns:a="http://schemas.openxmlformats.org/drawingml/2006/main">
            <a:r>
              <a:t>docs/REVIEW2_EVIDENCE.md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and review console now work end to end. The demo uses real AU-AIR development images and stored GPU-computed predictions. The TensorRT stack includes export, engine build, inference, and validation scripts, but we do not claim a built engine because the repository does not contain a deployable checkpoint and this machine does not have TensorRT.</a:t>
            </a:r>
          </a:p>
          <a:p xmlns:a="http://schemas.openxmlformats.org/drawingml/2006/main">
            <a:r>
              <a:t/>
            </a:r>
          </a:p>
          <a:p xmlns:a="http://schemas.openxmlformats.org/drawingml/2006/main">
            <a:r>
              <a:t>Sources:</a:t>
            </a:r>
          </a:p>
          <a:p xmlns:a="http://schemas.openxmlformats.org/drawingml/2006/main">
            <a:r>
              <a:t>docs/BACKEND_API.md</a:t>
            </a:r>
          </a:p>
          <a:p xmlns:a="http://schemas.openxmlformats.org/drawingml/2006/main">
            <a:r>
              <a:t>frontend/src/App.tsx</a:t>
            </a:r>
          </a:p>
          <a:p xmlns:a="http://schemas.openxmlformats.org/drawingml/2006/main">
            <a:r>
              <a:t>deployment/tensorrt/README.md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decision is to keep E2, the image-plus-state model. E4 is a controlled frozen-visual variant that nearly matched E2 but did not improve on it. Before opening the final test, we will freeze the model and threshold.</a:t>
            </a:r>
          </a:p>
          <a:p xmlns:a="http://schemas.openxmlformats.org/drawingml/2006/main">
            <a:r>
              <a:t/>
            </a:r>
          </a:p>
          <a:p xmlns:a="http://schemas.openxmlformats.org/drawingml/2006/main">
            <a:r>
              <a:t>Sources:</a:t>
            </a:r>
          </a:p>
          <a:p xmlns:a="http://schemas.openxmlformats.org/drawingml/2006/main">
            <a:r>
              <a:t>docs/REVIEW2_ADAPTER_FOLLOWUP.md</a:t>
            </a:r>
          </a:p>
          <a:p xmlns:a="http://schemas.openxmlformats.org/drawingml/2006/main">
            <a:r>
              <a:t>deployment/tensorrt/README.md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consistently. E1 is image only. E2 uses image plus flight state and leads the held-out development comparison. Never call AP50 classification accuracy or the cached replay live TensorRT inference. The final test remains sealed.</a:t>
            </a:r>
          </a:p>
          <a:p xmlns:a="http://schemas.openxmlformats.org/drawingml/2006/main">
            <a:r>
              <a:t/>
            </a:r>
          </a:p>
          <a:p xmlns:a="http://schemas.openxmlformats.org/drawingml/2006/main">
            <a:r>
              <a:t>Sources:</a:t>
            </a:r>
          </a:p>
          <a:p xmlns:a="http://schemas.openxmlformats.org/drawingml/2006/main">
            <a:r>
              <a:t>docs/REVIEW2_EVIDENCE.md</a:t>
            </a:r>
          </a:p>
          <a:p xmlns:a="http://schemas.openxmlformats.org/drawingml/2006/main">
            <a:r>
              <a:t>docs/REVIEW2_ADAPTER_FOLLOWUP.md</a:t>
            </a:r>
          </a:p>
          <a:p xmlns:a="http://schemas.openxmlformats.org/drawingml/2006/main">
            <a:r>
              <a:t>deployment/tensorrt/README.md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E2 metrics using a Google ImageNet backbone: AP50 87.54%; Precision approximately 92.15%; Recall approximately 92.15%; F1 Score 92.15%; Detection Accuracy approximately 85.44%. This result is presented separately and is not merged into the committed full-pass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b001cfebe549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b19cb906d74857" /><Relationship Type="http://schemas.openxmlformats.org/officeDocument/2006/relationships/slideLayout" Target="/ppt/slideLayouts/slideLayout1.xml" Id="R3ad8cf112a4d417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d8cf112a4d41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039949ff274819" /><Relationship Type="http://schemas.openxmlformats.org/officeDocument/2006/relationships/image" Target="/ppt/media/image.png" Id="R98a236a88d0a41cb" /><Relationship Type="http://schemas.openxmlformats.org/officeDocument/2006/relationships/notesSlide" Target="/ppt/notesSlides/notesSlide1.xml" Id="R6ddb9ecd365c42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aa2255ae594e85" /><Relationship Type="http://schemas.openxmlformats.org/officeDocument/2006/relationships/image" Target="/ppt/media/image.jpeg" Id="R076e27ce29074f12" /><Relationship Type="http://schemas.openxmlformats.org/officeDocument/2006/relationships/notesSlide" Target="/ppt/notesSlides/notesSlide2.xml" Id="R1871bef30c3a45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7b6426635214c0e" /><Relationship Type="http://schemas.openxmlformats.org/officeDocument/2006/relationships/notesSlide" Target="/ppt/notesSlides/notesSlide3.xml" Id="R35e638f625fb47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17f96cf28b4f2d" /><Relationship Type="http://schemas.openxmlformats.org/officeDocument/2006/relationships/image" Target="/ppt/media/image2.png" Id="Rd96905a4375048bf" /><Relationship Type="http://schemas.openxmlformats.org/officeDocument/2006/relationships/notesSlide" Target="/ppt/notesSlides/notesSlide4.xml" Id="Ra0bd72b382854a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9a8e63eeb354ad3" /><Relationship Type="http://schemas.openxmlformats.org/officeDocument/2006/relationships/image" Target="/ppt/media/image3.png" Id="R865cb2f7268146d0" /><Relationship Type="http://schemas.openxmlformats.org/officeDocument/2006/relationships/notesSlide" Target="/ppt/notesSlides/notesSlide5.xml" Id="R1991524c3f13459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6252ccca6bb4ef2" /><Relationship Type="http://schemas.openxmlformats.org/officeDocument/2006/relationships/image" Target="/ppt/media/image4.png" Id="R5c62bd7e8ff24ae3" /><Relationship Type="http://schemas.openxmlformats.org/officeDocument/2006/relationships/notesSlide" Target="/ppt/notesSlides/notesSlide6.xml" Id="Rabe7edc75db744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18432c33ae845f6" /><Relationship Type="http://schemas.openxmlformats.org/officeDocument/2006/relationships/image" Target="/ppt/media/image5.png" Id="Rf7422f5845cb44bc" /><Relationship Type="http://schemas.openxmlformats.org/officeDocument/2006/relationships/notesSlide" Target="/ppt/notesSlides/notesSlide7.xml" Id="Rf55a09e88c0b47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ff208a058a94f09" /><Relationship Type="http://schemas.openxmlformats.org/officeDocument/2006/relationships/notesSlide" Target="/ppt/notesSlides/notesSlide8.xml" Id="Re0f6ea81e620423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38388d07ca54496" /><Relationship Type="http://schemas.openxmlformats.org/officeDocument/2006/relationships/image" Target="/ppt/media/image6.png" Id="R0749c4fffab14b78" /><Relationship Type="http://schemas.openxmlformats.org/officeDocument/2006/relationships/notesSlide" Target="/ppt/notesSlides/notesSlide9.xml" Id="Rfed6166e2ace4a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ee77eaaac404d5b" /><Relationship Type="http://schemas.openxmlformats.org/officeDocument/2006/relationships/notesSlide" Target="/ppt/notesSlides/notesSlide10.xml" Id="Rc3f37376d39e415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a0d41652a4b48a8" /><Relationship Type="http://schemas.openxmlformats.org/officeDocument/2006/relationships/notesSlide" Target="/ppt/notesSlides/notesSlide11.xml" Id="R8c30d42f98ec4f2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88157fa93604a5f" /><Relationship Type="http://schemas.openxmlformats.org/officeDocument/2006/relationships/chart" Target="/ppt/slides/charts/chart1.xml" Id="R3e8ebdfd359e4a3c" /><Relationship Type="http://schemas.openxmlformats.org/officeDocument/2006/relationships/notesSlide" Target="/ppt/notesSlides/notesSlide12.xml" Id="Rc7c96dd72c4840cc" /></Relationships>
</file>

<file path=ppt/slides/charts/chart1.xml><?xml version="1.0" encoding="utf-8"?>
<c:chartSpace xmlns:c="http://schemas.openxmlformats.org/drawingml/2006/chart">
  <c:lang val="en-US"/>
  <c:chart>
    <c:plotArea>
      <c:barChart>
        <c:barDir val="bar"/>
        <c:grouping val="clustered"/>
        <c:varyColors val="0"/>
        <c:ser>
          <c:idx val="0"/>
          <c:order val="0"/>
          <c:tx>
            <c:v>E2 ImageNet backbone</c:v>
          </c:tx>
          <c:spPr>
            <a:solidFill xmlns:a="http://schemas.openxmlformats.org/drawingml/2006/main">
              <a:srgbClr val="22D3EE"/>
            </a:solidFill>
            <a:ln xmlns:a="http://schemas.openxmlformats.org/drawingml/2006/main" w="0">
              <a:solidFill>
                <a:srgbClr val="22D3EE"/>
              </a:solidFill>
            </a:ln>
          </c:spPr>
          <c:cat>
            <c:strLit>
              <c:ptCount val="5"/>
              <c:pt idx="0">
                <c:v>Detection accuracy</c:v>
              </c:pt>
              <c:pt idx="1">
                <c:v>F1 score</c:v>
              </c:pt>
              <c:pt idx="2">
                <c:v>Recall</c:v>
              </c:pt>
              <c:pt idx="3">
                <c:v>Precision</c:v>
              </c:pt>
              <c:pt idx="4">
                <c:v>AP50</c:v>
              </c:pt>
            </c:strLit>
          </c:cat>
          <c:val>
            <c:numLit>
              <c:formatCode>0.00%</c:formatCode>
              <c:ptCount val="5"/>
              <c:pt idx="0">
                <c:v>0.8544</c:v>
              </c:pt>
              <c:pt idx="1">
                <c:v>0.9215</c:v>
              </c:pt>
              <c:pt idx="2">
                <c:v>0.9215</c:v>
              </c:pt>
              <c:pt idx="3">
                <c:v>0.9215</c:v>
              </c:pt>
              <c:pt idx="4">
                <c:v>0.8754</c:v>
              </c:pt>
            </c:numLit>
          </c:val>
        </c:ser>
        <c:dLbls>
          <c:txPr>
            <a:bodyPr xmlns:a="http://schemas.openxmlformats.org/drawingml/2006/main" anchorCtr="1"/>
            <a:lstStyle xmlns:a="http://schemas.openxmlformats.org/drawingml/2006/main"/>
            <a:p xmlns:a="http://schemas.openxmlformats.org/drawingml/2006/main">
              <a:pPr>
                <a:defRPr sz="1125" b="1">
                  <a:solidFill>
                    <a:srgbClr val="F8FAFC"/>
                  </a:solidFill>
                  <a:latin typeface="Arial"/>
                  <a:ea typeface="Arial"/>
                  <a:cs typeface="Arial"/>
                </a:defRPr>
              </a:pPr>
            </a:p>
          </c:txPr>
          <c:dLblPos val="outEnd"/>
          <c:showLegendKey val="0"/>
          <c:showVal val="1"/>
          <c:showCatName val="0"/>
          <c:showSerName val="0"/>
          <c:showPercent val="0"/>
          <c:showBubbleSize val="0"/>
          <c:showLeaderLines val="0"/>
        </c:dLbls>
        <c:gapWidth val="52"/>
        <c:axId val="48650112"/>
        <c:axId val="48672768"/>
      </c:barChart>
      <c:catAx>
        <c:axId val="48650112"/>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Metric</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b="1">
                <a:solidFill>
                  <a:srgbClr val="F8FAFC"/>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29445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Percent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29445F"/>
            </a:solidFill>
          </a:ln>
        </c:spPr>
        <c:txPr>
          <a:bodyPr xmlns:a="http://schemas.openxmlformats.org/drawingml/2006/main" anchorCtr="1"/>
          <a:lstStyle xmlns:a="http://schemas.openxmlformats.org/drawingml/2006/main"/>
          <a:p xmlns:a="http://schemas.openxmlformats.org/drawingml/2006/main">
            <a:pPr>
              <a:defRPr sz="900">
                <a:solidFill>
                  <a:srgbClr val="A8B6C8"/>
                </a:solidFill>
                <a:latin typeface="Arial"/>
                <a:ea typeface="Arial"/>
                <a:cs typeface="Arial"/>
              </a:defRPr>
            </a:pPr>
          </a:p>
        </c:txPr>
        <c:crossAx val="48650112"/>
        <c:crossBetween val="between"/>
        <c:majorUnit val="0.2"/>
      </c:valAx>
      <c:spPr>
        <a:solidFill xmlns:a="http://schemas.openxmlformats.org/drawingml/2006/main">
          <a:srgbClr val="0F1D2D"/>
        </a:solidFill>
      </c:spPr>
    </c:plotArea>
    <c:plotVisOnly val="1"/>
  </c:chart>
  <c:spPr>
    <a:solidFill xmlns:a="http://schemas.openxmlformats.org/drawingml/2006/main">
      <a:srgbClr val="0F1D2D"/>
    </a:solidFill>
  </c:spPr>
</c:chartSpace>
</file>

<file path=ppt/slides/slide1.xml><?xml version="1.0" encoding="utf-8"?>
<p:sld xmlns:p="http://schemas.openxmlformats.org/presentationml/2006/main">
  <p:cSld>
    <p:bg>
      <p:bgPr>
        <a:solidFill xmlns:a="http://schemas.openxmlformats.org/drawingml/2006/main">
          <a:srgbClr val="08152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8D49986-E842-40A3-920A-259A689A6C6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CC7D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56B1AD-218A-47A0-AE37-E7547D95FBB2}"/>
              </a:ext>
            </a:extLst>
          </p:cNvPr>
          <p:cNvSpPr>
            <a:spLocks xmlns:a="http://schemas.openxmlformats.org/drawingml/2006/main" noGrp="1"/>
          </p:cNvSpPr>
          <p:nvPr/>
        </p:nvSpPr>
        <p:spPr>
          <a:xfrm xmlns:a="http://schemas.openxmlformats.org/drawingml/2006/main">
            <a:off x="704850" y="1219200"/>
            <a:ext cx="5905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4800" b="1" i="0">
                <a:solidFill>
                  <a:srgbClr val="F7FAFC"/>
                </a:solidFill>
                <a:latin typeface="Arial"/>
                <a:ea typeface="Arial"/>
                <a:cs typeface="Arial"/>
              </a:defRPr>
            </a:pPr>
            <a:r>
              <a:rPr sz="4800" b="1" i="0">
                <a:solidFill>
                  <a:srgbClr val="F7FAFC"/>
                </a:solidFill>
                <a:latin typeface="Arial"/>
                <a:ea typeface="Arial"/>
                <a:cs typeface="Arial"/>
              </a:rPr>
              <a:t>AeroGuard</a:t>
            </a:r>
          </a:p>
        </p:txBody>
      </p:sp>
      <p:sp>
        <p:nvSpPr>
          <p:cNvPr id="3" name="">
            <a:extLst xmlns:a="http://schemas.openxmlformats.org/drawingml/2006/main">
              <a:ext uri="{FF2B5EF4-FFF2-40B4-BE49-F238E27FC236}">
                <a16:creationId xmlns:a16="http://schemas.microsoft.com/office/drawing/2014/main" id="{9C4DA2AB-1C9C-4B85-A5AD-75969BDEE8FE}"/>
              </a:ext>
            </a:extLst>
          </p:cNvPr>
          <p:cNvSpPr>
            <a:spLocks xmlns:a="http://schemas.openxmlformats.org/drawingml/2006/main" noGrp="1"/>
          </p:cNvSpPr>
          <p:nvPr/>
        </p:nvSpPr>
        <p:spPr>
          <a:xfrm xmlns:a="http://schemas.openxmlformats.org/drawingml/2006/main">
            <a:off x="742950" y="2190750"/>
            <a:ext cx="5905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3150" b="1" i="0">
                <a:solidFill>
                  <a:srgbClr val="2CC7DF"/>
                </a:solidFill>
                <a:latin typeface="Arial"/>
                <a:ea typeface="Arial"/>
                <a:cs typeface="Arial"/>
              </a:defRPr>
            </a:pPr>
            <a:r>
              <a:rPr sz="3150" b="1" i="0">
                <a:solidFill>
                  <a:srgbClr val="2CC7DF"/>
                </a:solidFill>
                <a:latin typeface="Arial"/>
                <a:ea typeface="Arial"/>
                <a:cs typeface="Arial"/>
              </a:rPr>
              <a:t>Review 2 final presentation</a:t>
            </a:r>
          </a:p>
        </p:txBody>
      </p:sp>
      <p:sp>
        <p:nvSpPr>
          <p:cNvPr id="4" name="">
            <a:extLst xmlns:a="http://schemas.openxmlformats.org/drawingml/2006/main">
              <a:ext uri="{FF2B5EF4-FFF2-40B4-BE49-F238E27FC236}">
                <a16:creationId xmlns:a16="http://schemas.microsoft.com/office/drawing/2014/main" id="{811E690B-AC3E-4EB7-9217-288458A23DFC}"/>
              </a:ext>
            </a:extLst>
          </p:cNvPr>
          <p:cNvSpPr>
            <a:spLocks xmlns:a="http://schemas.openxmlformats.org/drawingml/2006/main" noGrp="1"/>
          </p:cNvSpPr>
          <p:nvPr/>
        </p:nvSpPr>
        <p:spPr>
          <a:xfrm xmlns:a="http://schemas.openxmlformats.org/drawingml/2006/main">
            <a:off x="762000" y="3048000"/>
            <a:ext cx="6191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800" b="0" i="0">
                <a:solidFill>
                  <a:srgbClr val="AFC0D4"/>
                </a:solidFill>
                <a:latin typeface="Arial"/>
                <a:ea typeface="Arial"/>
                <a:cs typeface="Arial"/>
              </a:defRPr>
            </a:pPr>
            <a:r>
              <a:rPr sz="1800" b="0" i="0">
                <a:solidFill>
                  <a:srgbClr val="AFC0D4"/>
                </a:solidFill>
                <a:latin typeface="Arial"/>
                <a:ea typeface="Arial"/>
                <a:cs typeface="Arial"/>
              </a:rPr>
              <a:t>Full-pass evidence, corrective adapter study, working review console, and an edge deployment path</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8a236a88d0a41cb"/>
          <a:stretch xmlns:a="http://schemas.openxmlformats.org/drawingml/2006/main"/>
        </p:blipFill>
        <p:spPr>
          <a:xfrm xmlns:a="http://schemas.openxmlformats.org/drawingml/2006/main">
            <a:off x="7524750" y="844415"/>
            <a:ext cx="3714750" cy="364517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8C6A6F3-86C5-4B27-A544-C28A118801A0}"/>
              </a:ext>
            </a:extLst>
          </p:cNvPr>
          <p:cNvSpPr>
            <a:spLocks xmlns:a="http://schemas.openxmlformats.org/drawingml/2006/main" noGrp="1"/>
          </p:cNvSpPr>
          <p:nvPr/>
        </p:nvSpPr>
        <p:spPr>
          <a:xfrm xmlns:a="http://schemas.openxmlformats.org/drawingml/2006/main">
            <a:off x="781050" y="5143500"/>
            <a:ext cx="247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875" b="1" i="0">
                <a:solidFill>
                  <a:srgbClr val="F7FAFC"/>
                </a:solidFill>
                <a:latin typeface="Arial"/>
                <a:ea typeface="Arial"/>
                <a:cs typeface="Arial"/>
              </a:defRPr>
            </a:pPr>
            <a:r>
              <a:rPr sz="1875" b="1" i="0">
                <a:solidFill>
                  <a:srgbClr val="F7FAFC"/>
                </a:solidFill>
                <a:latin typeface="Arial"/>
                <a:ea typeface="Arial"/>
                <a:cs typeface="Arial"/>
              </a:rPr>
              <a:t>32,823 frames</a:t>
            </a:r>
          </a:p>
        </p:txBody>
      </p:sp>
      <p:sp>
        <p:nvSpPr>
          <p:cNvPr id="7" name="">
            <a:extLst xmlns:a="http://schemas.openxmlformats.org/drawingml/2006/main">
              <a:ext uri="{FF2B5EF4-FFF2-40B4-BE49-F238E27FC236}">
                <a16:creationId xmlns:a16="http://schemas.microsoft.com/office/drawing/2014/main" id="{FB8C445B-5FC4-42F4-AD3E-DA909F3A175C}"/>
              </a:ext>
            </a:extLst>
          </p:cNvPr>
          <p:cNvSpPr>
            <a:spLocks xmlns:a="http://schemas.openxmlformats.org/drawingml/2006/main" noGrp="1"/>
          </p:cNvSpPr>
          <p:nvPr/>
        </p:nvSpPr>
        <p:spPr>
          <a:xfrm xmlns:a="http://schemas.openxmlformats.org/drawingml/2006/main">
            <a:off x="4095750" y="5143500"/>
            <a:ext cx="247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875" b="1" i="0">
                <a:solidFill>
                  <a:srgbClr val="F7FAFC"/>
                </a:solidFill>
                <a:latin typeface="Arial"/>
                <a:ea typeface="Arial"/>
                <a:cs typeface="Arial"/>
              </a:defRPr>
            </a:pPr>
            <a:r>
              <a:rPr sz="1875" b="1" i="0">
                <a:solidFill>
                  <a:srgbClr val="F7FAFC"/>
                </a:solidFill>
                <a:latin typeface="Arial"/>
                <a:ea typeface="Arial"/>
                <a:cs typeface="Arial"/>
              </a:rPr>
              <a:t>4 evaluated arms</a:t>
            </a:r>
          </a:p>
        </p:txBody>
      </p:sp>
      <p:sp>
        <p:nvSpPr>
          <p:cNvPr id="8" name="">
            <a:extLst xmlns:a="http://schemas.openxmlformats.org/drawingml/2006/main">
              <a:ext uri="{FF2B5EF4-FFF2-40B4-BE49-F238E27FC236}">
                <a16:creationId xmlns:a16="http://schemas.microsoft.com/office/drawing/2014/main" id="{BE9EFDCB-33D8-421F-AAC0-F3934B26B7DD}"/>
              </a:ext>
            </a:extLst>
          </p:cNvPr>
          <p:cNvSpPr>
            <a:spLocks xmlns:a="http://schemas.openxmlformats.org/drawingml/2006/main" noGrp="1"/>
          </p:cNvSpPr>
          <p:nvPr/>
        </p:nvSpPr>
        <p:spPr>
          <a:xfrm xmlns:a="http://schemas.openxmlformats.org/drawingml/2006/main">
            <a:off x="7572375" y="514350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875" b="1" i="0">
                <a:solidFill>
                  <a:srgbClr val="F6A20A"/>
                </a:solidFill>
                <a:latin typeface="Arial"/>
                <a:ea typeface="Arial"/>
                <a:cs typeface="Arial"/>
              </a:defRPr>
            </a:pPr>
            <a:r>
              <a:rPr sz="1875" b="1" i="0">
                <a:solidFill>
                  <a:srgbClr val="F6A20A"/>
                </a:solidFill>
                <a:latin typeface="Arial"/>
                <a:ea typeface="Arial"/>
                <a:cs typeface="Arial"/>
              </a:rPr>
              <a:t>Final test sealed</a:t>
            </a:r>
          </a:p>
        </p:txBody>
      </p:sp>
      <p:sp>
        <p:nvSpPr>
          <p:cNvPr id="9" name="">
            <a:extLst xmlns:a="http://schemas.openxmlformats.org/drawingml/2006/main">
              <a:ext uri="{FF2B5EF4-FFF2-40B4-BE49-F238E27FC236}">
                <a16:creationId xmlns:a16="http://schemas.microsoft.com/office/drawing/2014/main" id="{FB967344-6A84-41BD-96E9-53832B326CC2}"/>
              </a:ext>
            </a:extLst>
          </p:cNvPr>
          <p:cNvSpPr>
            <a:spLocks xmlns:a="http://schemas.openxmlformats.org/drawingml/2006/main" noGrp="1"/>
          </p:cNvSpPr>
          <p:nvPr/>
        </p:nvSpPr>
        <p:spPr>
          <a:xfrm xmlns:a="http://schemas.openxmlformats.org/drawingml/2006/main">
            <a:off x="628650" y="64960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0" i="0">
                <a:solidFill>
                  <a:srgbClr val="AFC0D4"/>
                </a:solidFill>
                <a:latin typeface="Arial"/>
                <a:ea typeface="Arial"/>
                <a:cs typeface="Arial"/>
              </a:defRPr>
            </a:pPr>
            <a:r>
              <a:rPr sz="1050" b="0" i="0">
                <a:solidFill>
                  <a:srgbClr val="AFC0D4"/>
                </a:solidFill>
                <a:latin typeface="Arial"/>
                <a:ea typeface="Arial"/>
                <a:cs typeface="Arial"/>
              </a:rPr>
              <a:t>AeroGuard · supervised offline UAV perception review</a:t>
            </a:r>
          </a:p>
        </p:txBody>
      </p:sp>
      <p:sp>
        <p:nvSpPr>
          <p:cNvPr id="10" name="">
            <a:extLst xmlns:a="http://schemas.openxmlformats.org/drawingml/2006/main">
              <a:ext uri="{FF2B5EF4-FFF2-40B4-BE49-F238E27FC236}">
                <a16:creationId xmlns:a16="http://schemas.microsoft.com/office/drawing/2014/main" id="{FC95B057-8402-407C-83B5-E1ECD84ABE3E}"/>
              </a:ext>
            </a:extLst>
          </p:cNvPr>
          <p:cNvSpPr>
            <a:spLocks xmlns:a="http://schemas.openxmlformats.org/drawingml/2006/main" noGrp="1"/>
          </p:cNvSpPr>
          <p:nvPr/>
        </p:nvSpPr>
        <p:spPr>
          <a:xfrm xmlns:a="http://schemas.openxmlformats.org/drawingml/2006/main">
            <a:off x="1114425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0" i="0">
                <a:solidFill>
                  <a:srgbClr val="AFC0D4"/>
                </a:solidFill>
                <a:latin typeface="Arial"/>
                <a:ea typeface="Arial"/>
                <a:cs typeface="Arial"/>
              </a:defRPr>
            </a:pPr>
            <a:r>
              <a:rPr sz="1050" b="0" i="0">
                <a:solidFill>
                  <a:srgbClr val="AFC0D4"/>
                </a:solidFill>
                <a:latin typeface="Arial"/>
                <a:ea typeface="Arial"/>
                <a:cs typeface="Arial"/>
              </a:rPr>
              <a:t>1</a:t>
            </a:r>
          </a:p>
        </p:txBody>
      </p:sp>
    </p:spTree>
    <p:extLst>
      <p:ext uri="{BB962C8B-B14F-4D97-AF65-F5344CB8AC3E}">
        <p14:creationId xmlns:p14="http://schemas.microsoft.com/office/powerpoint/2010/main" val="772931736"/>
      </p:ext>
    </p:extLst>
  </p:cSld>
</p:sld>
</file>

<file path=ppt/slides/slide2.xml><?xml version="1.0" encoding="utf-8"?>
<p:sld xmlns:p="http://schemas.openxmlformats.org/presentationml/2006/main">
  <p:cSld>
    <p:bg>
      <p:bgPr>
        <a:solidFill xmlns:a="http://schemas.openxmlformats.org/drawingml/2006/main">
          <a:srgbClr val="08152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7A68AEE-2DDE-4AD3-94DA-BB9EEEEFC6F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CC7D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00F124-A4AA-441E-BB77-DE4BC0E63480}"/>
              </a:ext>
            </a:extLst>
          </p:cNvPr>
          <p:cNvSpPr>
            <a:spLocks xmlns:a="http://schemas.openxmlformats.org/drawingml/2006/main" noGrp="1"/>
          </p:cNvSpPr>
          <p:nvPr/>
        </p:nvSpPr>
        <p:spPr>
          <a:xfrm xmlns:a="http://schemas.openxmlformats.org/drawingml/2006/main">
            <a:off x="628650" y="38100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buNone/>
              <a:defRPr sz="3300" b="1" i="0">
                <a:solidFill>
                  <a:srgbClr val="F7FAFC"/>
                </a:solidFill>
                <a:latin typeface="Arial"/>
                <a:ea typeface="Arial"/>
                <a:cs typeface="Arial"/>
              </a:defRPr>
            </a:pPr>
            <a:r>
              <a:rPr sz="3300" b="1" i="0">
                <a:solidFill>
                  <a:srgbClr val="F7FAFC"/>
                </a:solidFill>
                <a:latin typeface="Arial"/>
                <a:ea typeface="Arial"/>
                <a:cs typeface="Arial"/>
              </a:rPr>
              <a:t>Problem and solution</a:t>
            </a:r>
          </a:p>
        </p:txBody>
      </p:sp>
      <p:sp>
        <p:nvSpPr>
          <p:cNvPr id="3" name="">
            <a:extLst xmlns:a="http://schemas.openxmlformats.org/drawingml/2006/main">
              <a:ext uri="{FF2B5EF4-FFF2-40B4-BE49-F238E27FC236}">
                <a16:creationId xmlns:a16="http://schemas.microsoft.com/office/drawing/2014/main" id="{E62946BC-4728-4B29-911F-DA86F0ED3B09}"/>
              </a:ext>
            </a:extLst>
          </p:cNvPr>
          <p:cNvSpPr>
            <a:spLocks xmlns:a="http://schemas.openxmlformats.org/drawingml/2006/main" noGrp="1"/>
          </p:cNvSpPr>
          <p:nvPr/>
        </p:nvSpPr>
        <p:spPr>
          <a:xfrm xmlns:a="http://schemas.openxmlformats.org/drawingml/2006/main">
            <a:off x="647700" y="10001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i="0">
                <a:solidFill>
                  <a:srgbClr val="AFC0D4"/>
                </a:solidFill>
                <a:latin typeface="Arial"/>
                <a:ea typeface="Arial"/>
                <a:cs typeface="Arial"/>
              </a:defRPr>
            </a:pPr>
            <a:r>
              <a:rPr sz="1575" b="0" i="0">
                <a:solidFill>
                  <a:srgbClr val="AFC0D4"/>
                </a:solidFill>
                <a:latin typeface="Arial"/>
                <a:ea typeface="Arial"/>
                <a:cs typeface="Arial"/>
              </a:rPr>
              <a:t>Small road users remain difficult to detect from a moving drone</a:t>
            </a:r>
          </a:p>
        </p:txBody>
      </p:sp>
      <p:sp>
        <p:nvSpPr>
          <p:cNvPr id="4" name="">
            <a:extLst xmlns:a="http://schemas.openxmlformats.org/drawingml/2006/main">
              <a:ext uri="{FF2B5EF4-FFF2-40B4-BE49-F238E27FC236}">
                <a16:creationId xmlns:a16="http://schemas.microsoft.com/office/drawing/2014/main" id="{665D8F5D-DE98-4BE0-B9A0-DC23000B31FA}"/>
              </a:ext>
            </a:extLst>
          </p:cNvPr>
          <p:cNvSpPr>
            <a:spLocks xmlns:a="http://schemas.openxmlformats.org/drawingml/2006/main" noGrp="1"/>
          </p:cNvSpPr>
          <p:nvPr/>
        </p:nvSpPr>
        <p:spPr>
          <a:xfrm xmlns:a="http://schemas.openxmlformats.org/drawingml/2006/main">
            <a:off x="628650" y="64770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0" i="0">
                <a:solidFill>
                  <a:srgbClr val="AFC0D4"/>
                </a:solidFill>
                <a:latin typeface="Arial"/>
                <a:ea typeface="Arial"/>
                <a:cs typeface="Arial"/>
              </a:defRPr>
            </a:pPr>
            <a:r>
              <a:rPr sz="1050" b="0" i="0">
                <a:solidFill>
                  <a:srgbClr val="AFC0D4"/>
                </a:solidFill>
                <a:latin typeface="Arial"/>
                <a:ea typeface="Arial"/>
                <a:cs typeface="Arial"/>
              </a:rPr>
              <a:t>Development evidence only. Final test remains sealed.</a:t>
            </a:r>
          </a:p>
        </p:txBody>
      </p:sp>
      <p:sp>
        <p:nvSpPr>
          <p:cNvPr id="5" name="">
            <a:extLst xmlns:a="http://schemas.openxmlformats.org/drawingml/2006/main">
              <a:ext uri="{FF2B5EF4-FFF2-40B4-BE49-F238E27FC236}">
                <a16:creationId xmlns:a16="http://schemas.microsoft.com/office/drawing/2014/main" id="{68CBDFA5-9B76-4C40-B4F4-B76F76C49953}"/>
              </a:ext>
            </a:extLst>
          </p:cNvPr>
          <p:cNvSpPr>
            <a:spLocks xmlns:a="http://schemas.openxmlformats.org/drawingml/2006/main" noGrp="1"/>
          </p:cNvSpPr>
          <p:nvPr/>
        </p:nvSpPr>
        <p:spPr>
          <a:xfrm xmlns:a="http://schemas.openxmlformats.org/drawingml/2006/main">
            <a:off x="1114425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0" i="0">
                <a:solidFill>
                  <a:srgbClr val="AFC0D4"/>
                </a:solidFill>
                <a:latin typeface="Arial"/>
                <a:ea typeface="Arial"/>
                <a:cs typeface="Arial"/>
              </a:defRPr>
            </a:pPr>
            <a:r>
              <a:rPr sz="1050" b="0" i="0">
                <a:solidFill>
                  <a:srgbClr val="AFC0D4"/>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FCCE6A6B-F3D1-411E-8BD1-71EF3861A865}"/>
              </a:ext>
            </a:extLst>
          </p:cNvPr>
          <p:cNvSpPr>
            <a:spLocks xmlns:a="http://schemas.openxmlformats.org/drawingml/2006/main" noGrp="1"/>
          </p:cNvSpPr>
          <p:nvPr/>
        </p:nvSpPr>
        <p:spPr>
          <a:xfrm xmlns:a="http://schemas.openxmlformats.org/drawingml/2006/main">
            <a:off x="666750" y="1619250"/>
            <a:ext cx="48577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100"/>
              </a:spcAft>
              <a:buChar char="•"/>
              <a:defRPr sz="1875">
                <a:solidFill>
                  <a:srgbClr val="F7FAFC"/>
                </a:solidFill>
                <a:latin typeface="Arial"/>
                <a:ea typeface="Arial"/>
                <a:cs typeface="Arial"/>
              </a:defRPr>
            </a:pPr>
            <a:r>
              <a:rPr sz="1875">
                <a:solidFill>
                  <a:srgbClr val="F7FAFC"/>
                </a:solidFill>
                <a:latin typeface="Arial"/>
                <a:ea typeface="Arial"/>
                <a:cs typeface="Arial"/>
              </a:rPr>
              <a:t>Aerial objects occupy few pixels and change scale as the drone moves.</a:t>
            </a:r>
          </a:p>
          <a:p xmlns:a="http://schemas.openxmlformats.org/drawingml/2006/main">
            <a:pPr marL="254000" indent="-127000">
              <a:spcAft>
                <a:spcPts val="1100"/>
              </a:spcAft>
              <a:buChar char="•"/>
              <a:defRPr sz="1875">
                <a:solidFill>
                  <a:srgbClr val="F7FAFC"/>
                </a:solidFill>
                <a:latin typeface="Arial"/>
                <a:ea typeface="Arial"/>
                <a:cs typeface="Arial"/>
              </a:defRPr>
            </a:pPr>
            <a:r>
              <a:rPr sz="1875">
                <a:solidFill>
                  <a:srgbClr val="F7FAFC"/>
                </a:solidFill>
                <a:latin typeface="Arial"/>
                <a:ea typeface="Arial"/>
                <a:cs typeface="Arial"/>
              </a:rPr>
              <a:t>A normal detector sees only the image. AeroGuard can also receive height, velocity, roll, pitch, and yaw.</a:t>
            </a:r>
          </a:p>
          <a:p xmlns:a="http://schemas.openxmlformats.org/drawingml/2006/main">
            <a:pPr marL="254000" indent="-127000">
              <a:spcAft>
                <a:spcPts val="1100"/>
              </a:spcAft>
              <a:buChar char="•"/>
              <a:defRPr sz="1875">
                <a:solidFill>
                  <a:srgbClr val="F7FAFC"/>
                </a:solidFill>
                <a:latin typeface="Arial"/>
                <a:ea typeface="Arial"/>
                <a:cs typeface="Arial"/>
              </a:defRPr>
            </a:pPr>
            <a:r>
              <a:rPr sz="1875">
                <a:solidFill>
                  <a:srgbClr val="F7FAFC"/>
                </a:solidFill>
                <a:latin typeface="Arial"/>
                <a:ea typeface="Arial"/>
                <a:cs typeface="Arial"/>
              </a:rPr>
              <a:t>The model produces boxes, classes, and confidence scores for human review.</a:t>
            </a:r>
          </a:p>
          <a:p xmlns:a="http://schemas.openxmlformats.org/drawingml/2006/main">
            <a:pPr marL="254000" indent="-127000">
              <a:spcAft>
                <a:spcPts val="1100"/>
              </a:spcAft>
              <a:buChar char="•"/>
              <a:defRPr sz="1875">
                <a:solidFill>
                  <a:srgbClr val="F7FAFC"/>
                </a:solidFill>
                <a:latin typeface="Arial"/>
                <a:ea typeface="Arial"/>
                <a:cs typeface="Arial"/>
              </a:defRPr>
            </a:pPr>
            <a:r>
              <a:rPr sz="1875">
                <a:solidFill>
                  <a:srgbClr val="F7FAFC"/>
                </a:solidFill>
                <a:latin typeface="Arial"/>
                <a:ea typeface="Arial"/>
                <a:cs typeface="Arial"/>
              </a:rPr>
              <a:t>AeroGuard reviews recorded perception evidence. It never controls the drone.</a:t>
            </a:r>
          </a:p>
        </p:txBody>
      </p:sp>
      <p:sp>
        <p:nvSpPr>
          <p:cNvPr id="7" name="">
            <a:extLst xmlns:a="http://schemas.openxmlformats.org/drawingml/2006/main">
              <a:ext uri="{FF2B5EF4-FFF2-40B4-BE49-F238E27FC236}">
                <a16:creationId xmlns:a16="http://schemas.microsoft.com/office/drawing/2014/main" id="{A7EADDFB-F7E6-4766-B2D5-739BA717A014}"/>
              </a:ext>
            </a:extLst>
          </p:cNvPr>
          <p:cNvSpPr>
            <a:spLocks xmlns:a="http://schemas.openxmlformats.org/drawingml/2006/main" noGrp="1"/>
          </p:cNvSpPr>
          <p:nvPr/>
        </p:nvSpPr>
        <p:spPr>
          <a:xfrm xmlns:a="http://schemas.openxmlformats.org/drawingml/2006/main">
            <a:off x="742950" y="52387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buNone/>
              <a:defRPr sz="1725" b="1" i="0">
                <a:solidFill>
                  <a:srgbClr val="2CC7DF"/>
                </a:solidFill>
                <a:latin typeface="Arial"/>
                <a:ea typeface="Arial"/>
                <a:cs typeface="Arial"/>
              </a:defRPr>
            </a:pPr>
            <a:r>
              <a:rPr sz="1725" b="1" i="0">
                <a:solidFill>
                  <a:srgbClr val="2CC7DF"/>
                </a:solidFill>
                <a:latin typeface="Arial"/>
                <a:ea typeface="Arial"/>
                <a:cs typeface="Arial"/>
              </a:rPr>
              <a:t>Eight classes</a:t>
            </a:r>
          </a:p>
        </p:txBody>
      </p:sp>
      <p:sp>
        <p:nvSpPr>
          <p:cNvPr id="8" name="">
            <a:extLst xmlns:a="http://schemas.openxmlformats.org/drawingml/2006/main">
              <a:ext uri="{FF2B5EF4-FFF2-40B4-BE49-F238E27FC236}">
                <a16:creationId xmlns:a16="http://schemas.microsoft.com/office/drawing/2014/main" id="{9EEC0C6F-A344-4284-BEAF-08AF15451836}"/>
              </a:ext>
            </a:extLst>
          </p:cNvPr>
          <p:cNvSpPr>
            <a:spLocks xmlns:a="http://schemas.openxmlformats.org/drawingml/2006/main" noGrp="1"/>
          </p:cNvSpPr>
          <p:nvPr/>
        </p:nvSpPr>
        <p:spPr>
          <a:xfrm xmlns:a="http://schemas.openxmlformats.org/drawingml/2006/main">
            <a:off x="742950" y="56197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i="0">
                <a:solidFill>
                  <a:srgbClr val="AFC0D4"/>
                </a:solidFill>
                <a:latin typeface="Arial"/>
                <a:ea typeface="Arial"/>
                <a:cs typeface="Arial"/>
              </a:defRPr>
            </a:pPr>
            <a:r>
              <a:rPr sz="1425" b="0" i="0">
                <a:solidFill>
                  <a:srgbClr val="AFC0D4"/>
                </a:solidFill>
                <a:latin typeface="Arial"/>
                <a:ea typeface="Arial"/>
                <a:cs typeface="Arial"/>
              </a:rPr>
              <a:t>Human, car, truck, van, motorbike, bicycle, bus, trailer</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76e27ce29074f12"/>
          <a:srcRect xmlns:a="http://schemas.openxmlformats.org/drawingml/2006/main" l="29" t="0" r="29" b="0"/>
          <a:stretch xmlns:a="http://schemas.openxmlformats.org/drawingml/2006/main">
            <a:fillRect l="0" t="0" r="0" b="0"/>
          </a:stretch>
        </p:blipFill>
        <p:spPr>
          <a:xfrm xmlns:a="http://schemas.openxmlformats.org/drawingml/2006/main">
            <a:off x="6191250" y="1619250"/>
            <a:ext cx="5381625" cy="30289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B9D26ED-FE93-443D-9C8D-66DDA107F70A}"/>
              </a:ext>
            </a:extLst>
          </p:cNvPr>
          <p:cNvSpPr>
            <a:spLocks xmlns:a="http://schemas.openxmlformats.org/drawingml/2006/main" noGrp="1"/>
          </p:cNvSpPr>
          <p:nvPr/>
        </p:nvSpPr>
        <p:spPr>
          <a:xfrm xmlns:a="http://schemas.openxmlformats.org/drawingml/2006/main">
            <a:off x="6191250" y="4762500"/>
            <a:ext cx="5381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00" b="0" i="0">
                <a:solidFill>
                  <a:srgbClr val="AFC0D4"/>
                </a:solidFill>
                <a:latin typeface="Arial"/>
                <a:ea typeface="Arial"/>
                <a:cs typeface="Arial"/>
              </a:defRPr>
            </a:pPr>
            <a:r>
              <a:rPr sz="1200" b="0" i="0">
                <a:solidFill>
                  <a:srgbClr val="AFC0D4"/>
                </a:solidFill>
                <a:latin typeface="Arial"/>
                <a:ea typeface="Arial"/>
                <a:cs typeface="Arial"/>
              </a:rPr>
              <a:t>Real AU-AIR development frame · 1920 × 1080</a:t>
            </a:r>
          </a:p>
        </p:txBody>
      </p:sp>
    </p:spTree>
    <p:extLst>
      <p:ext uri="{BB962C8B-B14F-4D97-AF65-F5344CB8AC3E}">
        <p14:creationId xmlns:p14="http://schemas.microsoft.com/office/powerpoint/2010/main" val="856328391"/>
      </p:ext>
    </p:extLst>
  </p:cSld>
</p:sld>
</file>

<file path=ppt/slides/slide3.xml><?xml version="1.0" encoding="utf-8"?>
<p:sld xmlns:p="http://schemas.openxmlformats.org/presentationml/2006/main">
  <p:cSld>
    <p:bg>
      <p:bgPr>
        <a:solidFill xmlns:a="http://schemas.openxmlformats.org/drawingml/2006/main">
          <a:srgbClr val="08152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FF1E366-7CE0-44C1-920A-9E194BABFE6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CC7D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1E1C48-7408-4666-84B5-077482527DC9}"/>
              </a:ext>
            </a:extLst>
          </p:cNvPr>
          <p:cNvSpPr>
            <a:spLocks xmlns:a="http://schemas.openxmlformats.org/drawingml/2006/main" noGrp="1"/>
          </p:cNvSpPr>
          <p:nvPr/>
        </p:nvSpPr>
        <p:spPr>
          <a:xfrm xmlns:a="http://schemas.openxmlformats.org/drawingml/2006/main">
            <a:off x="628650" y="38100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buNone/>
              <a:defRPr sz="3300" b="1" i="0">
                <a:solidFill>
                  <a:srgbClr val="F7FAFC"/>
                </a:solidFill>
                <a:latin typeface="Arial"/>
                <a:ea typeface="Arial"/>
                <a:cs typeface="Arial"/>
              </a:defRPr>
            </a:pPr>
            <a:r>
              <a:rPr sz="3300" b="1" i="0">
                <a:solidFill>
                  <a:srgbClr val="F7FAFC"/>
                </a:solidFill>
                <a:latin typeface="Arial"/>
                <a:ea typeface="Arial"/>
                <a:cs typeface="Arial"/>
              </a:rPr>
              <a:t>What changed after Review 1</a:t>
            </a:r>
          </a:p>
        </p:txBody>
      </p:sp>
      <p:sp>
        <p:nvSpPr>
          <p:cNvPr id="3" name="">
            <a:extLst xmlns:a="http://schemas.openxmlformats.org/drawingml/2006/main">
              <a:ext uri="{FF2B5EF4-FFF2-40B4-BE49-F238E27FC236}">
                <a16:creationId xmlns:a16="http://schemas.microsoft.com/office/drawing/2014/main" id="{2875CFF0-FDAA-4EA3-8F5D-CF47504627FC}"/>
              </a:ext>
            </a:extLst>
          </p:cNvPr>
          <p:cNvSpPr>
            <a:spLocks xmlns:a="http://schemas.openxmlformats.org/drawingml/2006/main" noGrp="1"/>
          </p:cNvSpPr>
          <p:nvPr/>
        </p:nvSpPr>
        <p:spPr>
          <a:xfrm xmlns:a="http://schemas.openxmlformats.org/drawingml/2006/main">
            <a:off x="647700" y="10001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i="0">
                <a:solidFill>
                  <a:srgbClr val="AFC0D4"/>
                </a:solidFill>
                <a:latin typeface="Arial"/>
                <a:ea typeface="Arial"/>
                <a:cs typeface="Arial"/>
              </a:defRPr>
            </a:pPr>
            <a:r>
              <a:rPr sz="1575" b="0" i="0">
                <a:solidFill>
                  <a:srgbClr val="AFC0D4"/>
                </a:solidFill>
                <a:latin typeface="Arial"/>
                <a:ea typeface="Arial"/>
                <a:cs typeface="Arial"/>
              </a:rPr>
              <a:t>Corrected labels align the pilot and full-pass evidence</a:t>
            </a:r>
          </a:p>
        </p:txBody>
      </p:sp>
      <p:sp>
        <p:nvSpPr>
          <p:cNvPr id="4" name="">
            <a:extLst xmlns:a="http://schemas.openxmlformats.org/drawingml/2006/main">
              <a:ext uri="{FF2B5EF4-FFF2-40B4-BE49-F238E27FC236}">
                <a16:creationId xmlns:a16="http://schemas.microsoft.com/office/drawing/2014/main" id="{5BAE5303-1DD6-4745-9FDD-A3E0B7762031}"/>
              </a:ext>
            </a:extLst>
          </p:cNvPr>
          <p:cNvSpPr>
            <a:spLocks xmlns:a="http://schemas.openxmlformats.org/drawingml/2006/main" noGrp="1"/>
          </p:cNvSpPr>
          <p:nvPr/>
        </p:nvSpPr>
        <p:spPr>
          <a:xfrm xmlns:a="http://schemas.openxmlformats.org/drawingml/2006/main">
            <a:off x="628650" y="64770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0" i="0">
                <a:solidFill>
                  <a:srgbClr val="AFC0D4"/>
                </a:solidFill>
                <a:latin typeface="Arial"/>
                <a:ea typeface="Arial"/>
                <a:cs typeface="Arial"/>
              </a:defRPr>
            </a:pPr>
            <a:r>
              <a:rPr sz="1050" b="0" i="0">
                <a:solidFill>
                  <a:srgbClr val="AFC0D4"/>
                </a:solidFill>
                <a:latin typeface="Arial"/>
                <a:ea typeface="Arial"/>
                <a:cs typeface="Arial"/>
              </a:rPr>
              <a:t>Development evidence only. Final test remains sealed.</a:t>
            </a:r>
          </a:p>
        </p:txBody>
      </p:sp>
      <p:sp>
        <p:nvSpPr>
          <p:cNvPr id="5" name="">
            <a:extLst xmlns:a="http://schemas.openxmlformats.org/drawingml/2006/main">
              <a:ext uri="{FF2B5EF4-FFF2-40B4-BE49-F238E27FC236}">
                <a16:creationId xmlns:a16="http://schemas.microsoft.com/office/drawing/2014/main" id="{382A6C46-CEC6-4931-86D2-442888D9CB43}"/>
              </a:ext>
            </a:extLst>
          </p:cNvPr>
          <p:cNvSpPr>
            <a:spLocks xmlns:a="http://schemas.openxmlformats.org/drawingml/2006/main" noGrp="1"/>
          </p:cNvSpPr>
          <p:nvPr/>
        </p:nvSpPr>
        <p:spPr>
          <a:xfrm xmlns:a="http://schemas.openxmlformats.org/drawingml/2006/main">
            <a:off x="1114425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0" i="0">
                <a:solidFill>
                  <a:srgbClr val="AFC0D4"/>
                </a:solidFill>
                <a:latin typeface="Arial"/>
                <a:ea typeface="Arial"/>
                <a:cs typeface="Arial"/>
              </a:defRPr>
            </a:pPr>
            <a:r>
              <a:rPr sz="1050" b="0" i="0">
                <a:solidFill>
                  <a:srgbClr val="AFC0D4"/>
                </a:solidFill>
                <a:latin typeface="Arial"/>
                <a:ea typeface="Arial"/>
                <a:cs typeface="Arial"/>
              </a:rPr>
              <a:t>3</a:t>
            </a:r>
          </a:p>
        </p:txBody>
      </p:sp>
      <p:sp>
        <p:nvSpPr>
          <p:cNvPr id="6" name="">
            <a:extLst xmlns:a="http://schemas.openxmlformats.org/drawingml/2006/main">
              <a:ext uri="{FF2B5EF4-FFF2-40B4-BE49-F238E27FC236}">
                <a16:creationId xmlns:a16="http://schemas.microsoft.com/office/drawing/2014/main" id="{05852456-31DD-4F37-ACEC-F3C5A6F66538}"/>
              </a:ext>
            </a:extLst>
          </p:cNvPr>
          <p:cNvSpPr>
            <a:spLocks xmlns:a="http://schemas.openxmlformats.org/drawingml/2006/main" noGrp="1"/>
          </p:cNvSpPr>
          <p:nvPr/>
        </p:nvSpPr>
        <p:spPr>
          <a:xfrm xmlns:a="http://schemas.openxmlformats.org/drawingml/2006/main">
            <a:off x="762000" y="1619250"/>
            <a:ext cx="457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550" b="1" i="0">
                <a:solidFill>
                  <a:srgbClr val="F6A20A"/>
                </a:solidFill>
                <a:latin typeface="Arial"/>
                <a:ea typeface="Arial"/>
                <a:cs typeface="Arial"/>
              </a:defRPr>
            </a:pPr>
            <a:r>
              <a:rPr sz="2550" b="1" i="0">
                <a:solidFill>
                  <a:srgbClr val="F6A20A"/>
                </a:solidFill>
                <a:latin typeface="Arial"/>
                <a:ea typeface="Arial"/>
                <a:cs typeface="Arial"/>
              </a:rPr>
              <a:t>Review 1</a:t>
            </a:r>
          </a:p>
        </p:txBody>
      </p:sp>
      <p:sp>
        <p:nvSpPr>
          <p:cNvPr id="7" name="">
            <a:extLst xmlns:a="http://schemas.openxmlformats.org/drawingml/2006/main">
              <a:ext uri="{FF2B5EF4-FFF2-40B4-BE49-F238E27FC236}">
                <a16:creationId xmlns:a16="http://schemas.microsoft.com/office/drawing/2014/main" id="{6E6EE342-2327-48D9-A15B-620F2772CF14}"/>
              </a:ext>
            </a:extLst>
          </p:cNvPr>
          <p:cNvSpPr>
            <a:spLocks xmlns:a="http://schemas.openxmlformats.org/drawingml/2006/main" noGrp="1"/>
          </p:cNvSpPr>
          <p:nvPr/>
        </p:nvSpPr>
        <p:spPr>
          <a:xfrm xmlns:a="http://schemas.openxmlformats.org/drawingml/2006/main">
            <a:off x="762000" y="21145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i="0">
                <a:solidFill>
                  <a:srgbClr val="AFC0D4"/>
                </a:solidFill>
                <a:latin typeface="Arial"/>
                <a:ea typeface="Arial"/>
                <a:cs typeface="Arial"/>
              </a:defRPr>
            </a:pPr>
            <a:r>
              <a:rPr sz="1500" b="0" i="0">
                <a:solidFill>
                  <a:srgbClr val="AFC0D4"/>
                </a:solidFill>
                <a:latin typeface="Arial"/>
                <a:ea typeface="Arial"/>
                <a:cs typeface="Arial"/>
              </a:rPr>
              <a:t>Pilot evidence</a:t>
            </a:r>
          </a:p>
        </p:txBody>
      </p:sp>
      <p:sp>
        <p:nvSpPr>
          <p:cNvPr id="8" name="">
            <a:extLst xmlns:a="http://schemas.openxmlformats.org/drawingml/2006/main">
              <a:ext uri="{FF2B5EF4-FFF2-40B4-BE49-F238E27FC236}">
                <a16:creationId xmlns:a16="http://schemas.microsoft.com/office/drawing/2014/main" id="{D36DA078-83A5-4823-A1BD-666E4046F861}"/>
              </a:ext>
            </a:extLst>
          </p:cNvPr>
          <p:cNvSpPr>
            <a:spLocks xmlns:a="http://schemas.openxmlformats.org/drawingml/2006/main" noGrp="1"/>
          </p:cNvSpPr>
          <p:nvPr/>
        </p:nvSpPr>
        <p:spPr>
          <a:xfrm xmlns:a="http://schemas.openxmlformats.org/drawingml/2006/main">
            <a:off x="762000" y="2619375"/>
            <a:ext cx="4762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100"/>
              </a:spcAft>
              <a:buChar char="•"/>
              <a:defRPr sz="1800">
                <a:solidFill>
                  <a:srgbClr val="F7FAFC"/>
                </a:solidFill>
                <a:latin typeface="Arial"/>
                <a:ea typeface="Arial"/>
                <a:cs typeface="Arial"/>
              </a:defRPr>
            </a:pPr>
            <a:r>
              <a:rPr sz="1800">
                <a:solidFill>
                  <a:srgbClr val="F7FAFC"/>
                </a:solidFill>
                <a:latin typeface="Arial"/>
                <a:ea typeface="Arial"/>
                <a:cs typeface="Arial"/>
              </a:rPr>
              <a:t>5,000-update pilot per arm.</a:t>
            </a:r>
          </a:p>
          <a:p xmlns:a="http://schemas.openxmlformats.org/drawingml/2006/main">
            <a:pPr marL="254000" indent="-127000">
              <a:spcAft>
                <a:spcPts val="1100"/>
              </a:spcAft>
              <a:buChar char="•"/>
              <a:defRPr sz="1800">
                <a:solidFill>
                  <a:srgbClr val="F7FAFC"/>
                </a:solidFill>
                <a:latin typeface="Arial"/>
                <a:ea typeface="Arial"/>
                <a:cs typeface="Arial"/>
              </a:defRPr>
            </a:pPr>
            <a:r>
              <a:rPr sz="1800">
                <a:solidFill>
                  <a:srgbClr val="F7FAFC"/>
                </a:solidFill>
                <a:latin typeface="Arial"/>
                <a:ea typeface="Arial"/>
                <a:cs typeface="Arial"/>
              </a:rPr>
              <a:t>Early development result: E2 AP50 0.0692 versus E1 0.0120.</a:t>
            </a:r>
          </a:p>
          <a:p xmlns:a="http://schemas.openxmlformats.org/drawingml/2006/main">
            <a:pPr marL="254000" indent="-127000">
              <a:spcAft>
                <a:spcPts val="1100"/>
              </a:spcAft>
              <a:buChar char="•"/>
              <a:defRPr sz="1800">
                <a:solidFill>
                  <a:srgbClr val="F7FAFC"/>
                </a:solidFill>
                <a:latin typeface="Arial"/>
                <a:ea typeface="Arial"/>
                <a:cs typeface="Arial"/>
              </a:defRPr>
            </a:pPr>
            <a:r>
              <a:rPr sz="1800">
                <a:solidFill>
                  <a:srgbClr val="F7FAFC"/>
                </a:solidFill>
                <a:latin typeface="Arial"/>
                <a:ea typeface="Arial"/>
                <a:cs typeface="Arial"/>
              </a:rPr>
              <a:t>Architecture, split logic, and initial training pipeline completed.</a:t>
            </a:r>
          </a:p>
          <a:p xmlns:a="http://schemas.openxmlformats.org/drawingml/2006/main">
            <a:pPr marL="254000" indent="-127000">
              <a:spcAft>
                <a:spcPts val="1100"/>
              </a:spcAft>
              <a:buChar char="•"/>
              <a:defRPr sz="1800">
                <a:solidFill>
                  <a:srgbClr val="F7FAFC"/>
                </a:solidFill>
                <a:latin typeface="Arial"/>
                <a:ea typeface="Arial"/>
                <a:cs typeface="Arial"/>
              </a:defRPr>
            </a:pPr>
            <a:r>
              <a:rPr sz="1800">
                <a:solidFill>
                  <a:srgbClr val="F7FAFC"/>
                </a:solidFill>
                <a:latin typeface="Arial"/>
                <a:ea typeface="Arial"/>
                <a:cs typeface="Arial"/>
              </a:rPr>
              <a:t>The early result suggested that flight state might help.</a:t>
            </a:r>
          </a:p>
        </p:txBody>
      </p:sp>
      <p:sp>
        <p:nvSpPr>
          <p:cNvPr id="9" name="">
            <a:extLst xmlns:a="http://schemas.openxmlformats.org/drawingml/2006/main">
              <a:ext uri="{FF2B5EF4-FFF2-40B4-BE49-F238E27FC236}">
                <a16:creationId xmlns:a16="http://schemas.microsoft.com/office/drawing/2014/main" id="{F5E52CD5-01AB-4866-BA50-9A512AAEAB53}"/>
              </a:ext>
            </a:extLst>
          </p:cNvPr>
          <p:cNvSpPr>
            <a:spLocks xmlns:a="http://schemas.openxmlformats.org/drawingml/2006/main" noGrp="1"/>
          </p:cNvSpPr>
          <p:nvPr/>
        </p:nvSpPr>
        <p:spPr>
          <a:xfrm xmlns:a="http://schemas.openxmlformats.org/drawingml/2006/main">
            <a:off x="6019800" y="1619250"/>
            <a:ext cx="19050" cy="4191000"/>
          </a:xfrm>
          <a:prstGeom xmlns:a="http://schemas.openxmlformats.org/drawingml/2006/main" prst="rect">
            <a:avLst/>
          </a:prstGeom>
          <a:solidFill xmlns:a="http://schemas.openxmlformats.org/drawingml/2006/main">
            <a:srgbClr val="26415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8629023-37F8-4B00-9BAE-2590717841B4}"/>
              </a:ext>
            </a:extLst>
          </p:cNvPr>
          <p:cNvSpPr>
            <a:spLocks xmlns:a="http://schemas.openxmlformats.org/drawingml/2006/main" noGrp="1"/>
          </p:cNvSpPr>
          <p:nvPr/>
        </p:nvSpPr>
        <p:spPr>
          <a:xfrm xmlns:a="http://schemas.openxmlformats.org/drawingml/2006/main">
            <a:off x="6667500" y="1619250"/>
            <a:ext cx="457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550" b="1" i="0">
                <a:solidFill>
                  <a:srgbClr val="2CC7DF"/>
                </a:solidFill>
                <a:latin typeface="Arial"/>
                <a:ea typeface="Arial"/>
                <a:cs typeface="Arial"/>
              </a:defRPr>
            </a:pPr>
            <a:r>
              <a:rPr sz="2550" b="1" i="0">
                <a:solidFill>
                  <a:srgbClr val="2CC7DF"/>
                </a:solidFill>
                <a:latin typeface="Arial"/>
                <a:ea typeface="Arial"/>
                <a:cs typeface="Arial"/>
              </a:rPr>
              <a:t>Review 2</a:t>
            </a:r>
          </a:p>
        </p:txBody>
      </p:sp>
      <p:sp>
        <p:nvSpPr>
          <p:cNvPr id="11" name="">
            <a:extLst xmlns:a="http://schemas.openxmlformats.org/drawingml/2006/main">
              <a:ext uri="{FF2B5EF4-FFF2-40B4-BE49-F238E27FC236}">
                <a16:creationId xmlns:a16="http://schemas.microsoft.com/office/drawing/2014/main" id="{FA7BE886-340A-48FC-8819-140F96E7F05A}"/>
              </a:ext>
            </a:extLst>
          </p:cNvPr>
          <p:cNvSpPr>
            <a:spLocks xmlns:a="http://schemas.openxmlformats.org/drawingml/2006/main" noGrp="1"/>
          </p:cNvSpPr>
          <p:nvPr/>
        </p:nvSpPr>
        <p:spPr>
          <a:xfrm xmlns:a="http://schemas.openxmlformats.org/drawingml/2006/main">
            <a:off x="6667500" y="21145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i="0">
                <a:solidFill>
                  <a:srgbClr val="AFC0D4"/>
                </a:solidFill>
                <a:latin typeface="Arial"/>
                <a:ea typeface="Arial"/>
                <a:cs typeface="Arial"/>
              </a:defRPr>
            </a:pPr>
            <a:r>
              <a:rPr sz="1500" b="0" i="0">
                <a:solidFill>
                  <a:srgbClr val="AFC0D4"/>
                </a:solidFill>
                <a:latin typeface="Arial"/>
                <a:ea typeface="Arial"/>
                <a:cs typeface="Arial"/>
              </a:rPr>
              <a:t>Full-pass evidence</a:t>
            </a:r>
          </a:p>
        </p:txBody>
      </p:sp>
      <p:sp>
        <p:nvSpPr>
          <p:cNvPr id="12" name="">
            <a:extLst xmlns:a="http://schemas.openxmlformats.org/drawingml/2006/main">
              <a:ext uri="{FF2B5EF4-FFF2-40B4-BE49-F238E27FC236}">
                <a16:creationId xmlns:a16="http://schemas.microsoft.com/office/drawing/2014/main" id="{623284DA-D18F-4822-A700-01B4AF413ADD}"/>
              </a:ext>
            </a:extLst>
          </p:cNvPr>
          <p:cNvSpPr>
            <a:spLocks xmlns:a="http://schemas.openxmlformats.org/drawingml/2006/main" noGrp="1"/>
          </p:cNvSpPr>
          <p:nvPr/>
        </p:nvSpPr>
        <p:spPr>
          <a:xfrm xmlns:a="http://schemas.openxmlformats.org/drawingml/2006/main">
            <a:off x="6667500" y="2619375"/>
            <a:ext cx="4762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100"/>
              </a:spcAft>
              <a:buChar char="•"/>
              <a:defRPr sz="1800">
                <a:solidFill>
                  <a:srgbClr val="F7FAFC"/>
                </a:solidFill>
                <a:latin typeface="Arial"/>
                <a:ea typeface="Arial"/>
                <a:cs typeface="Arial"/>
              </a:defRPr>
            </a:pPr>
            <a:r>
              <a:rPr sz="1800">
                <a:solidFill>
                  <a:srgbClr val="F7FAFC"/>
                </a:solidFill>
                <a:latin typeface="Arial"/>
                <a:ea typeface="Arial"/>
                <a:cs typeface="Arial"/>
              </a:rPr>
              <a:t>All 18,523 training frames per arm and every loss step stored.</a:t>
            </a:r>
          </a:p>
          <a:p xmlns:a="http://schemas.openxmlformats.org/drawingml/2006/main">
            <a:pPr marL="254000" indent="-127000">
              <a:spcAft>
                <a:spcPts val="1100"/>
              </a:spcAft>
              <a:buChar char="•"/>
              <a:defRPr sz="1800">
                <a:solidFill>
                  <a:srgbClr val="F7FAFC"/>
                </a:solidFill>
                <a:latin typeface="Arial"/>
                <a:ea typeface="Arial"/>
                <a:cs typeface="Arial"/>
              </a:defRPr>
            </a:pPr>
            <a:r>
              <a:rPr sz="1800">
                <a:solidFill>
                  <a:srgbClr val="F7FAFC"/>
                </a:solidFill>
                <a:latin typeface="Arial"/>
                <a:ea typeface="Arial"/>
                <a:cs typeface="Arial"/>
              </a:rPr>
              <a:t>E2 image + state reached AP50 0.1698 and led image-only E1 at 0.1146.</a:t>
            </a:r>
          </a:p>
          <a:p xmlns:a="http://schemas.openxmlformats.org/drawingml/2006/main">
            <a:pPr marL="254000" indent="-127000">
              <a:spcAft>
                <a:spcPts val="1100"/>
              </a:spcAft>
              <a:buChar char="•"/>
              <a:defRPr sz="1800">
                <a:solidFill>
                  <a:srgbClr val="F7FAFC"/>
                </a:solidFill>
                <a:latin typeface="Arial"/>
                <a:ea typeface="Arial"/>
                <a:cs typeface="Arial"/>
              </a:defRPr>
            </a:pPr>
            <a:r>
              <a:rPr sz="1800">
                <a:solidFill>
                  <a:srgbClr val="F7FAFC"/>
                </a:solidFill>
                <a:latin typeface="Arial"/>
                <a:ea typeface="Arial"/>
                <a:cs typeface="Arial"/>
              </a:rPr>
              <a:t>Stress tests documented the E2 state path under controlled interventions.</a:t>
            </a:r>
          </a:p>
          <a:p xmlns:a="http://schemas.openxmlformats.org/drawingml/2006/main">
            <a:pPr marL="254000" indent="-127000">
              <a:spcAft>
                <a:spcPts val="1100"/>
              </a:spcAft>
              <a:buChar char="•"/>
              <a:defRPr sz="1800">
                <a:solidFill>
                  <a:srgbClr val="F7FAFC"/>
                </a:solidFill>
                <a:latin typeface="Arial"/>
                <a:ea typeface="Arial"/>
                <a:cs typeface="Arial"/>
              </a:defRPr>
            </a:pPr>
            <a:r>
              <a:rPr sz="1800">
                <a:solidFill>
                  <a:srgbClr val="F7FAFC"/>
                </a:solidFill>
                <a:latin typeface="Arial"/>
                <a:ea typeface="Arial"/>
                <a:cs typeface="Arial"/>
              </a:rPr>
              <a:t>E4 reached AP50 0.1697 but did not improve on E2.</a:t>
            </a:r>
          </a:p>
        </p:txBody>
      </p:sp>
      <p:sp>
        <p:nvSpPr>
          <p:cNvPr id="13" name="">
            <a:extLst xmlns:a="http://schemas.openxmlformats.org/drawingml/2006/main">
              <a:ext uri="{FF2B5EF4-FFF2-40B4-BE49-F238E27FC236}">
                <a16:creationId xmlns:a16="http://schemas.microsoft.com/office/drawing/2014/main" id="{FBF6CAD6-250B-472E-BC64-FA30D13C5AE7}"/>
              </a:ext>
            </a:extLst>
          </p:cNvPr>
          <p:cNvSpPr>
            <a:spLocks xmlns:a="http://schemas.openxmlformats.org/drawingml/2006/main" noGrp="1"/>
          </p:cNvSpPr>
          <p:nvPr/>
        </p:nvSpPr>
        <p:spPr>
          <a:xfrm xmlns:a="http://schemas.openxmlformats.org/drawingml/2006/main">
            <a:off x="1809750" y="5953125"/>
            <a:ext cx="857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650" b="1" i="0">
                <a:solidFill>
                  <a:srgbClr val="38D39F"/>
                </a:solidFill>
                <a:latin typeface="Arial"/>
                <a:ea typeface="Arial"/>
                <a:cs typeface="Arial"/>
              </a:defRPr>
            </a:pPr>
            <a:r>
              <a:rPr sz="1650" b="1" i="0">
                <a:solidFill>
                  <a:srgbClr val="38D39F"/>
                </a:solidFill>
                <a:latin typeface="Arial"/>
                <a:ea typeface="Arial"/>
                <a:cs typeface="Arial"/>
              </a:rPr>
              <a:t>Review 2 confirmed E2 image + state as the development leader.</a:t>
            </a:r>
          </a:p>
        </p:txBody>
      </p:sp>
    </p:spTree>
    <p:extLst>
      <p:ext uri="{BB962C8B-B14F-4D97-AF65-F5344CB8AC3E}">
        <p14:creationId xmlns:p14="http://schemas.microsoft.com/office/powerpoint/2010/main" val="730273900"/>
      </p:ext>
    </p:extLst>
  </p:cSld>
</p:sld>
</file>

<file path=ppt/slides/slide4.xml><?xml version="1.0" encoding="utf-8"?>
<p:sld xmlns:p="http://schemas.openxmlformats.org/presentationml/2006/main">
  <p:cSld>
    <p:bg>
      <p:bgPr>
        <a:solidFill xmlns:a="http://schemas.openxmlformats.org/drawingml/2006/main">
          <a:srgbClr val="08152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409F851-3ADB-41B5-943B-DEAF5F58AD8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CC7D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049502-4553-4149-9A4C-447949BC8652}"/>
              </a:ext>
            </a:extLst>
          </p:cNvPr>
          <p:cNvSpPr>
            <a:spLocks xmlns:a="http://schemas.openxmlformats.org/drawingml/2006/main" noGrp="1"/>
          </p:cNvSpPr>
          <p:nvPr/>
        </p:nvSpPr>
        <p:spPr>
          <a:xfrm xmlns:a="http://schemas.openxmlformats.org/drawingml/2006/main">
            <a:off x="628650" y="38100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buNone/>
              <a:defRPr sz="3300" b="1" i="0">
                <a:solidFill>
                  <a:srgbClr val="F7FAFC"/>
                </a:solidFill>
                <a:latin typeface="Arial"/>
                <a:ea typeface="Arial"/>
                <a:cs typeface="Arial"/>
              </a:defRPr>
            </a:pPr>
            <a:r>
              <a:rPr sz="3300" b="1" i="0">
                <a:solidFill>
                  <a:srgbClr val="F7FAFC"/>
                </a:solidFill>
                <a:latin typeface="Arial"/>
                <a:ea typeface="Arial"/>
                <a:cs typeface="Arial"/>
              </a:rPr>
              <a:t>Dataset and evaluation protocol</a:t>
            </a:r>
          </a:p>
        </p:txBody>
      </p:sp>
      <p:sp>
        <p:nvSpPr>
          <p:cNvPr id="3" name="">
            <a:extLst xmlns:a="http://schemas.openxmlformats.org/drawingml/2006/main">
              <a:ext uri="{FF2B5EF4-FFF2-40B4-BE49-F238E27FC236}">
                <a16:creationId xmlns:a16="http://schemas.microsoft.com/office/drawing/2014/main" id="{D1A02937-2B90-466B-B6AF-3896E72D942B}"/>
              </a:ext>
            </a:extLst>
          </p:cNvPr>
          <p:cNvSpPr>
            <a:spLocks xmlns:a="http://schemas.openxmlformats.org/drawingml/2006/main" noGrp="1"/>
          </p:cNvSpPr>
          <p:nvPr/>
        </p:nvSpPr>
        <p:spPr>
          <a:xfrm xmlns:a="http://schemas.openxmlformats.org/drawingml/2006/main">
            <a:off x="647700" y="10001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i="0">
                <a:solidFill>
                  <a:srgbClr val="AFC0D4"/>
                </a:solidFill>
                <a:latin typeface="Arial"/>
                <a:ea typeface="Arial"/>
                <a:cs typeface="Arial"/>
              </a:defRPr>
            </a:pPr>
            <a:r>
              <a:rPr sz="1575" b="0" i="0">
                <a:solidFill>
                  <a:srgbClr val="AFC0D4"/>
                </a:solidFill>
                <a:latin typeface="Arial"/>
                <a:ea typeface="Arial"/>
                <a:cs typeface="Arial"/>
              </a:rPr>
              <a:t>Complete flight recordings stay together to prevent near-duplicate leakage</a:t>
            </a:r>
          </a:p>
        </p:txBody>
      </p:sp>
      <p:sp>
        <p:nvSpPr>
          <p:cNvPr id="4" name="">
            <a:extLst xmlns:a="http://schemas.openxmlformats.org/drawingml/2006/main">
              <a:ext uri="{FF2B5EF4-FFF2-40B4-BE49-F238E27FC236}">
                <a16:creationId xmlns:a16="http://schemas.microsoft.com/office/drawing/2014/main" id="{3008B7C5-BA47-4566-932B-80B7FD870DF5}"/>
              </a:ext>
            </a:extLst>
          </p:cNvPr>
          <p:cNvSpPr>
            <a:spLocks xmlns:a="http://schemas.openxmlformats.org/drawingml/2006/main" noGrp="1"/>
          </p:cNvSpPr>
          <p:nvPr/>
        </p:nvSpPr>
        <p:spPr>
          <a:xfrm xmlns:a="http://schemas.openxmlformats.org/drawingml/2006/main">
            <a:off x="628650" y="64770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0" i="0">
                <a:solidFill>
                  <a:srgbClr val="AFC0D4"/>
                </a:solidFill>
                <a:latin typeface="Arial"/>
                <a:ea typeface="Arial"/>
                <a:cs typeface="Arial"/>
              </a:defRPr>
            </a:pPr>
            <a:r>
              <a:rPr sz="1050" b="0" i="0">
                <a:solidFill>
                  <a:srgbClr val="AFC0D4"/>
                </a:solidFill>
                <a:latin typeface="Arial"/>
                <a:ea typeface="Arial"/>
                <a:cs typeface="Arial"/>
              </a:rPr>
              <a:t>Development evidence only. Final test remains sealed.</a:t>
            </a:r>
          </a:p>
        </p:txBody>
      </p:sp>
      <p:sp>
        <p:nvSpPr>
          <p:cNvPr id="5" name="">
            <a:extLst xmlns:a="http://schemas.openxmlformats.org/drawingml/2006/main">
              <a:ext uri="{FF2B5EF4-FFF2-40B4-BE49-F238E27FC236}">
                <a16:creationId xmlns:a16="http://schemas.microsoft.com/office/drawing/2014/main" id="{63FCCCE5-D5AB-43B2-AB53-86D34033AC94}"/>
              </a:ext>
            </a:extLst>
          </p:cNvPr>
          <p:cNvSpPr>
            <a:spLocks xmlns:a="http://schemas.openxmlformats.org/drawingml/2006/main" noGrp="1"/>
          </p:cNvSpPr>
          <p:nvPr/>
        </p:nvSpPr>
        <p:spPr>
          <a:xfrm xmlns:a="http://schemas.openxmlformats.org/drawingml/2006/main">
            <a:off x="1114425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0" i="0">
                <a:solidFill>
                  <a:srgbClr val="AFC0D4"/>
                </a:solidFill>
                <a:latin typeface="Arial"/>
                <a:ea typeface="Arial"/>
                <a:cs typeface="Arial"/>
              </a:defRPr>
            </a:pPr>
            <a:r>
              <a:rPr sz="1050" b="0" i="0">
                <a:solidFill>
                  <a:srgbClr val="AFC0D4"/>
                </a:solidFill>
                <a:latin typeface="Arial"/>
                <a:ea typeface="Arial"/>
                <a:cs typeface="Arial"/>
              </a:rPr>
              <a:t>4</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96905a4375048bf"/>
          <a:stretch xmlns:a="http://schemas.openxmlformats.org/drawingml/2006/main"/>
        </p:blipFill>
        <p:spPr>
          <a:xfrm xmlns:a="http://schemas.openxmlformats.org/drawingml/2006/main">
            <a:off x="1306286" y="1381125"/>
            <a:ext cx="6531429" cy="3810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82461C8-3B6C-4807-AD17-8F1A24D93452}"/>
              </a:ext>
            </a:extLst>
          </p:cNvPr>
          <p:cNvSpPr>
            <a:spLocks xmlns:a="http://schemas.openxmlformats.org/drawingml/2006/main" noGrp="1"/>
          </p:cNvSpPr>
          <p:nvPr/>
        </p:nvSpPr>
        <p:spPr>
          <a:xfrm xmlns:a="http://schemas.openxmlformats.org/drawingml/2006/main">
            <a:off x="8953500" y="1857375"/>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167"/>
          </a:bodyPr>
          <a:lstStyle xmlns:a="http://schemas.openxmlformats.org/drawingml/2006/main"/>
          <a:p xmlns:a="http://schemas.openxmlformats.org/drawingml/2006/main">
            <a:pPr>
              <a:buNone/>
              <a:defRPr sz="3000" b="1" i="0">
                <a:solidFill>
                  <a:srgbClr val="2CC7DF"/>
                </a:solidFill>
                <a:latin typeface="Arial"/>
                <a:ea typeface="Arial"/>
                <a:cs typeface="Arial"/>
              </a:defRPr>
            </a:pPr>
            <a:r>
              <a:rPr sz="3000" b="1" i="0">
                <a:solidFill>
                  <a:srgbClr val="2CC7DF"/>
                </a:solidFill>
                <a:latin typeface="Arial"/>
                <a:ea typeface="Arial"/>
                <a:cs typeface="Arial"/>
              </a:rPr>
              <a:t>56.43%</a:t>
            </a:r>
          </a:p>
        </p:txBody>
      </p:sp>
      <p:sp>
        <p:nvSpPr>
          <p:cNvPr id="8" name="">
            <a:extLst xmlns:a="http://schemas.openxmlformats.org/drawingml/2006/main">
              <a:ext uri="{FF2B5EF4-FFF2-40B4-BE49-F238E27FC236}">
                <a16:creationId xmlns:a16="http://schemas.microsoft.com/office/drawing/2014/main" id="{474F3499-F597-4D5B-9AF7-65FDAA68483C}"/>
              </a:ext>
            </a:extLst>
          </p:cNvPr>
          <p:cNvSpPr>
            <a:spLocks xmlns:a="http://schemas.openxmlformats.org/drawingml/2006/main" noGrp="1"/>
          </p:cNvSpPr>
          <p:nvPr/>
        </p:nvSpPr>
        <p:spPr>
          <a:xfrm xmlns:a="http://schemas.openxmlformats.org/drawingml/2006/main">
            <a:off x="8982075" y="233362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i="0">
                <a:solidFill>
                  <a:srgbClr val="AFC0D4"/>
                </a:solidFill>
                <a:latin typeface="Arial"/>
                <a:ea typeface="Arial"/>
                <a:cs typeface="Arial"/>
              </a:defRPr>
            </a:pPr>
            <a:r>
              <a:rPr sz="1500" b="0" i="0">
                <a:solidFill>
                  <a:srgbClr val="AFC0D4"/>
                </a:solidFill>
                <a:latin typeface="Arial"/>
                <a:ea typeface="Arial"/>
                <a:cs typeface="Arial"/>
              </a:rPr>
              <a:t>18,523 training frames</a:t>
            </a:r>
          </a:p>
        </p:txBody>
      </p:sp>
      <p:sp>
        <p:nvSpPr>
          <p:cNvPr id="9" name="">
            <a:extLst xmlns:a="http://schemas.openxmlformats.org/drawingml/2006/main">
              <a:ext uri="{FF2B5EF4-FFF2-40B4-BE49-F238E27FC236}">
                <a16:creationId xmlns:a16="http://schemas.microsoft.com/office/drawing/2014/main" id="{DF5A1B87-83D1-48FA-935F-68E271B79EAB}"/>
              </a:ext>
            </a:extLst>
          </p:cNvPr>
          <p:cNvSpPr>
            <a:spLocks xmlns:a="http://schemas.openxmlformats.org/drawingml/2006/main" noGrp="1"/>
          </p:cNvSpPr>
          <p:nvPr/>
        </p:nvSpPr>
        <p:spPr>
          <a:xfrm xmlns:a="http://schemas.openxmlformats.org/drawingml/2006/main">
            <a:off x="8953500" y="3190875"/>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167"/>
          </a:bodyPr>
          <a:lstStyle xmlns:a="http://schemas.openxmlformats.org/drawingml/2006/main"/>
          <a:p xmlns:a="http://schemas.openxmlformats.org/drawingml/2006/main">
            <a:pPr>
              <a:buNone/>
              <a:defRPr sz="3000" b="1" i="0">
                <a:solidFill>
                  <a:srgbClr val="F6A20A"/>
                </a:solidFill>
                <a:latin typeface="Arial"/>
                <a:ea typeface="Arial"/>
                <a:cs typeface="Arial"/>
              </a:defRPr>
            </a:pPr>
            <a:r>
              <a:rPr sz="3000" b="1" i="0">
                <a:solidFill>
                  <a:srgbClr val="F6A20A"/>
                </a:solidFill>
                <a:latin typeface="Arial"/>
                <a:ea typeface="Arial"/>
                <a:cs typeface="Arial"/>
              </a:rPr>
              <a:t>17.47%</a:t>
            </a:r>
          </a:p>
        </p:txBody>
      </p:sp>
      <p:sp>
        <p:nvSpPr>
          <p:cNvPr id="10" name="">
            <a:extLst xmlns:a="http://schemas.openxmlformats.org/drawingml/2006/main">
              <a:ext uri="{FF2B5EF4-FFF2-40B4-BE49-F238E27FC236}">
                <a16:creationId xmlns:a16="http://schemas.microsoft.com/office/drawing/2014/main" id="{CDE63E67-6622-45AB-AFFB-C9BE552F0E39}"/>
              </a:ext>
            </a:extLst>
          </p:cNvPr>
          <p:cNvSpPr>
            <a:spLocks xmlns:a="http://schemas.openxmlformats.org/drawingml/2006/main" noGrp="1"/>
          </p:cNvSpPr>
          <p:nvPr/>
        </p:nvSpPr>
        <p:spPr>
          <a:xfrm xmlns:a="http://schemas.openxmlformats.org/drawingml/2006/main">
            <a:off x="8982075" y="3667125"/>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447"/>
          </a:bodyPr>
          <a:lstStyle xmlns:a="http://schemas.openxmlformats.org/drawingml/2006/main"/>
          <a:p xmlns:a="http://schemas.openxmlformats.org/drawingml/2006/main">
            <a:pPr>
              <a:buNone/>
              <a:defRPr sz="1500" b="0" i="0">
                <a:solidFill>
                  <a:srgbClr val="AFC0D4"/>
                </a:solidFill>
                <a:latin typeface="Arial"/>
                <a:ea typeface="Arial"/>
                <a:cs typeface="Arial"/>
              </a:defRPr>
            </a:pPr>
            <a:r>
              <a:rPr sz="1500" b="0" i="0">
                <a:solidFill>
                  <a:srgbClr val="AFC0D4"/>
                </a:solidFill>
                <a:latin typeface="Arial"/>
                <a:ea typeface="Arial"/>
                <a:cs typeface="Arial"/>
              </a:rPr>
              <a:t>5,734 development frames</a:t>
            </a:r>
          </a:p>
        </p:txBody>
      </p:sp>
      <p:sp>
        <p:nvSpPr>
          <p:cNvPr id="11" name="">
            <a:extLst xmlns:a="http://schemas.openxmlformats.org/drawingml/2006/main">
              <a:ext uri="{FF2B5EF4-FFF2-40B4-BE49-F238E27FC236}">
                <a16:creationId xmlns:a16="http://schemas.microsoft.com/office/drawing/2014/main" id="{3E8B08B0-0A71-4672-9B67-9163D328E220}"/>
              </a:ext>
            </a:extLst>
          </p:cNvPr>
          <p:cNvSpPr>
            <a:spLocks xmlns:a="http://schemas.openxmlformats.org/drawingml/2006/main" noGrp="1"/>
          </p:cNvSpPr>
          <p:nvPr/>
        </p:nvSpPr>
        <p:spPr>
          <a:xfrm xmlns:a="http://schemas.openxmlformats.org/drawingml/2006/main">
            <a:off x="8953500" y="4524375"/>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167"/>
          </a:bodyPr>
          <a:lstStyle xmlns:a="http://schemas.openxmlformats.org/drawingml/2006/main"/>
          <a:p xmlns:a="http://schemas.openxmlformats.org/drawingml/2006/main">
            <a:pPr>
              <a:buNone/>
              <a:defRPr sz="3000" b="1" i="0">
                <a:solidFill>
                  <a:srgbClr val="9B83EE"/>
                </a:solidFill>
                <a:latin typeface="Arial"/>
                <a:ea typeface="Arial"/>
                <a:cs typeface="Arial"/>
              </a:defRPr>
            </a:pPr>
            <a:r>
              <a:rPr sz="3000" b="1" i="0">
                <a:solidFill>
                  <a:srgbClr val="9B83EE"/>
                </a:solidFill>
                <a:latin typeface="Arial"/>
                <a:ea typeface="Arial"/>
                <a:cs typeface="Arial"/>
              </a:rPr>
              <a:t>26.10%</a:t>
            </a:r>
          </a:p>
        </p:txBody>
      </p:sp>
      <p:sp>
        <p:nvSpPr>
          <p:cNvPr id="12" name="">
            <a:extLst xmlns:a="http://schemas.openxmlformats.org/drawingml/2006/main">
              <a:ext uri="{FF2B5EF4-FFF2-40B4-BE49-F238E27FC236}">
                <a16:creationId xmlns:a16="http://schemas.microsoft.com/office/drawing/2014/main" id="{E6E87EDC-2C3B-4709-923D-BA06435CB5F2}"/>
              </a:ext>
            </a:extLst>
          </p:cNvPr>
          <p:cNvSpPr>
            <a:spLocks xmlns:a="http://schemas.openxmlformats.org/drawingml/2006/main" noGrp="1"/>
          </p:cNvSpPr>
          <p:nvPr/>
        </p:nvSpPr>
        <p:spPr>
          <a:xfrm xmlns:a="http://schemas.openxmlformats.org/drawingml/2006/main">
            <a:off x="8982075" y="500062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897"/>
          </a:bodyPr>
          <a:lstStyle xmlns:a="http://schemas.openxmlformats.org/drawingml/2006/main"/>
          <a:p xmlns:a="http://schemas.openxmlformats.org/drawingml/2006/main">
            <a:pPr>
              <a:buNone/>
              <a:defRPr sz="1500" b="0" i="0">
                <a:solidFill>
                  <a:srgbClr val="AFC0D4"/>
                </a:solidFill>
                <a:latin typeface="Arial"/>
                <a:ea typeface="Arial"/>
                <a:cs typeface="Arial"/>
              </a:defRPr>
            </a:pPr>
            <a:r>
              <a:rPr sz="1500" b="0" i="0">
                <a:solidFill>
                  <a:srgbClr val="AFC0D4"/>
                </a:solidFill>
                <a:latin typeface="Arial"/>
                <a:ea typeface="Arial"/>
                <a:cs typeface="Arial"/>
              </a:rPr>
              <a:t>8,566 sealed final-test frames</a:t>
            </a:r>
          </a:p>
        </p:txBody>
      </p:sp>
      <p:sp>
        <p:nvSpPr>
          <p:cNvPr id="13" name="">
            <a:extLst xmlns:a="http://schemas.openxmlformats.org/drawingml/2006/main">
              <a:ext uri="{FF2B5EF4-FFF2-40B4-BE49-F238E27FC236}">
                <a16:creationId xmlns:a16="http://schemas.microsoft.com/office/drawing/2014/main" id="{B976069A-284C-429E-AEE4-4AE934273120}"/>
              </a:ext>
            </a:extLst>
          </p:cNvPr>
          <p:cNvSpPr>
            <a:spLocks xmlns:a="http://schemas.openxmlformats.org/drawingml/2006/main" noGrp="1"/>
          </p:cNvSpPr>
          <p:nvPr/>
        </p:nvSpPr>
        <p:spPr>
          <a:xfrm xmlns:a="http://schemas.openxmlformats.org/drawingml/2006/main">
            <a:off x="742950" y="5953125"/>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buNone/>
              <a:defRPr sz="1650" b="1" i="0">
                <a:solidFill>
                  <a:srgbClr val="38D39F"/>
                </a:solidFill>
                <a:latin typeface="Arial"/>
                <a:ea typeface="Arial"/>
                <a:cs typeface="Arial"/>
              </a:defRPr>
            </a:pPr>
            <a:r>
              <a:rPr sz="1650" b="1" i="0">
                <a:solidFill>
                  <a:srgbClr val="38D39F"/>
                </a:solidFill>
                <a:latin typeface="Arial"/>
                <a:ea typeface="Arial"/>
                <a:cs typeface="Arial"/>
              </a:rPr>
              <a:t>8 recording roots · split by complete flight</a:t>
            </a:r>
          </a:p>
        </p:txBody>
      </p:sp>
    </p:spTree>
    <p:extLst>
      <p:ext uri="{BB962C8B-B14F-4D97-AF65-F5344CB8AC3E}">
        <p14:creationId xmlns:p14="http://schemas.microsoft.com/office/powerpoint/2010/main" val="606062200"/>
      </p:ext>
    </p:extLst>
  </p:cSld>
</p:sld>
</file>

<file path=ppt/slides/slide5.xml><?xml version="1.0" encoding="utf-8"?>
<p:sld xmlns:p="http://schemas.openxmlformats.org/presentationml/2006/main">
  <p:cSld>
    <p:bg>
      <p:bgPr>
        <a:solidFill xmlns:a="http://schemas.openxmlformats.org/drawingml/2006/main">
          <a:srgbClr val="08152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0276563-2BA3-4F38-94AE-1E981FEB7DF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CC7D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EAD93A-9F3B-40D8-815E-DEEF6D10E493}"/>
              </a:ext>
            </a:extLst>
          </p:cNvPr>
          <p:cNvSpPr>
            <a:spLocks xmlns:a="http://schemas.openxmlformats.org/drawingml/2006/main" noGrp="1"/>
          </p:cNvSpPr>
          <p:nvPr/>
        </p:nvSpPr>
        <p:spPr>
          <a:xfrm xmlns:a="http://schemas.openxmlformats.org/drawingml/2006/main">
            <a:off x="628650" y="38100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buNone/>
              <a:defRPr sz="3300" b="1" i="0">
                <a:solidFill>
                  <a:srgbClr val="F7FAFC"/>
                </a:solidFill>
                <a:latin typeface="Arial"/>
                <a:ea typeface="Arial"/>
                <a:cs typeface="Arial"/>
              </a:defRPr>
            </a:pPr>
            <a:r>
              <a:rPr sz="3300" b="1" i="0">
                <a:solidFill>
                  <a:srgbClr val="F7FAFC"/>
                </a:solidFill>
                <a:latin typeface="Arial"/>
                <a:ea typeface="Arial"/>
                <a:cs typeface="Arial"/>
              </a:rPr>
              <a:t>Model architecture and four experiments</a:t>
            </a:r>
          </a:p>
        </p:txBody>
      </p:sp>
      <p:sp>
        <p:nvSpPr>
          <p:cNvPr id="3" name="">
            <a:extLst xmlns:a="http://schemas.openxmlformats.org/drawingml/2006/main">
              <a:ext uri="{FF2B5EF4-FFF2-40B4-BE49-F238E27FC236}">
                <a16:creationId xmlns:a16="http://schemas.microsoft.com/office/drawing/2014/main" id="{50CB3638-2B64-4AB8-AD75-64A4BED881B5}"/>
              </a:ext>
            </a:extLst>
          </p:cNvPr>
          <p:cNvSpPr>
            <a:spLocks xmlns:a="http://schemas.openxmlformats.org/drawingml/2006/main" noGrp="1"/>
          </p:cNvSpPr>
          <p:nvPr/>
        </p:nvSpPr>
        <p:spPr>
          <a:xfrm xmlns:a="http://schemas.openxmlformats.org/drawingml/2006/main">
            <a:off x="647700" y="10001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i="0">
                <a:solidFill>
                  <a:srgbClr val="AFC0D4"/>
                </a:solidFill>
                <a:latin typeface="Arial"/>
                <a:ea typeface="Arial"/>
                <a:cs typeface="Arial"/>
              </a:defRPr>
            </a:pPr>
            <a:r>
              <a:rPr sz="1575" b="0" i="0">
                <a:solidFill>
                  <a:srgbClr val="AFC0D4"/>
                </a:solidFill>
                <a:latin typeface="Arial"/>
                <a:ea typeface="Arial"/>
                <a:cs typeface="Arial"/>
              </a:rPr>
              <a:t>All arms share the FCOS visual detector; the controlled difference is the state path</a:t>
            </a:r>
          </a:p>
        </p:txBody>
      </p:sp>
      <p:sp>
        <p:nvSpPr>
          <p:cNvPr id="4" name="">
            <a:extLst xmlns:a="http://schemas.openxmlformats.org/drawingml/2006/main">
              <a:ext uri="{FF2B5EF4-FFF2-40B4-BE49-F238E27FC236}">
                <a16:creationId xmlns:a16="http://schemas.microsoft.com/office/drawing/2014/main" id="{01BB2477-7F4A-42EF-8BF2-4CB8403AABC5}"/>
              </a:ext>
            </a:extLst>
          </p:cNvPr>
          <p:cNvSpPr>
            <a:spLocks xmlns:a="http://schemas.openxmlformats.org/drawingml/2006/main" noGrp="1"/>
          </p:cNvSpPr>
          <p:nvPr/>
        </p:nvSpPr>
        <p:spPr>
          <a:xfrm xmlns:a="http://schemas.openxmlformats.org/drawingml/2006/main">
            <a:off x="628650" y="64770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0" i="0">
                <a:solidFill>
                  <a:srgbClr val="AFC0D4"/>
                </a:solidFill>
                <a:latin typeface="Arial"/>
                <a:ea typeface="Arial"/>
                <a:cs typeface="Arial"/>
              </a:defRPr>
            </a:pPr>
            <a:r>
              <a:rPr sz="1050" b="0" i="0">
                <a:solidFill>
                  <a:srgbClr val="AFC0D4"/>
                </a:solidFill>
                <a:latin typeface="Arial"/>
                <a:ea typeface="Arial"/>
                <a:cs typeface="Arial"/>
              </a:rPr>
              <a:t>Development evidence only. Final test remains sealed.</a:t>
            </a:r>
          </a:p>
        </p:txBody>
      </p:sp>
      <p:sp>
        <p:nvSpPr>
          <p:cNvPr id="5" name="">
            <a:extLst xmlns:a="http://schemas.openxmlformats.org/drawingml/2006/main">
              <a:ext uri="{FF2B5EF4-FFF2-40B4-BE49-F238E27FC236}">
                <a16:creationId xmlns:a16="http://schemas.microsoft.com/office/drawing/2014/main" id="{7A0A2B6C-E1A5-440F-B06F-AC4DD882F3B5}"/>
              </a:ext>
            </a:extLst>
          </p:cNvPr>
          <p:cNvSpPr>
            <a:spLocks xmlns:a="http://schemas.openxmlformats.org/drawingml/2006/main" noGrp="1"/>
          </p:cNvSpPr>
          <p:nvPr/>
        </p:nvSpPr>
        <p:spPr>
          <a:xfrm xmlns:a="http://schemas.openxmlformats.org/drawingml/2006/main">
            <a:off x="1114425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0" i="0">
                <a:solidFill>
                  <a:srgbClr val="AFC0D4"/>
                </a:solidFill>
                <a:latin typeface="Arial"/>
                <a:ea typeface="Arial"/>
                <a:cs typeface="Arial"/>
              </a:defRPr>
            </a:pPr>
            <a:r>
              <a:rPr sz="1050" b="0" i="0">
                <a:solidFill>
                  <a:srgbClr val="AFC0D4"/>
                </a:solidFill>
                <a:latin typeface="Arial"/>
                <a:ea typeface="Arial"/>
                <a:cs typeface="Arial"/>
              </a:rPr>
              <a:t>5</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65cb2f7268146d0"/>
          <a:stretch xmlns:a="http://schemas.openxmlformats.org/drawingml/2006/main"/>
        </p:blipFill>
        <p:spPr>
          <a:xfrm xmlns:a="http://schemas.openxmlformats.org/drawingml/2006/main">
            <a:off x="1623013" y="1381125"/>
            <a:ext cx="8945974" cy="43338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C42846A-7D25-477C-B33E-E89EDF1B3506}"/>
              </a:ext>
            </a:extLst>
          </p:cNvPr>
          <p:cNvSpPr>
            <a:spLocks xmlns:a="http://schemas.openxmlformats.org/drawingml/2006/main" noGrp="1"/>
          </p:cNvSpPr>
          <p:nvPr/>
        </p:nvSpPr>
        <p:spPr>
          <a:xfrm xmlns:a="http://schemas.openxmlformats.org/drawingml/2006/main">
            <a:off x="904875" y="58293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1" i="0">
                <a:solidFill>
                  <a:srgbClr val="2CC7DF"/>
                </a:solidFill>
                <a:latin typeface="Arial"/>
                <a:ea typeface="Arial"/>
                <a:cs typeface="Arial"/>
              </a:defRPr>
            </a:pPr>
            <a:r>
              <a:rPr sz="1500" b="1" i="0">
                <a:solidFill>
                  <a:srgbClr val="2CC7DF"/>
                </a:solidFill>
                <a:latin typeface="Arial"/>
                <a:ea typeface="Arial"/>
                <a:cs typeface="Arial"/>
              </a:rPr>
              <a:t>E1 image only</a:t>
            </a:r>
          </a:p>
        </p:txBody>
      </p:sp>
      <p:sp>
        <p:nvSpPr>
          <p:cNvPr id="8" name="">
            <a:extLst xmlns:a="http://schemas.openxmlformats.org/drawingml/2006/main">
              <a:ext uri="{FF2B5EF4-FFF2-40B4-BE49-F238E27FC236}">
                <a16:creationId xmlns:a16="http://schemas.microsoft.com/office/drawing/2014/main" id="{48204158-D7BF-4518-B4A0-88CB7236FC83}"/>
              </a:ext>
            </a:extLst>
          </p:cNvPr>
          <p:cNvSpPr>
            <a:spLocks xmlns:a="http://schemas.openxmlformats.org/drawingml/2006/main" noGrp="1"/>
          </p:cNvSpPr>
          <p:nvPr/>
        </p:nvSpPr>
        <p:spPr>
          <a:xfrm xmlns:a="http://schemas.openxmlformats.org/drawingml/2006/main">
            <a:off x="3476625" y="58293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1" i="0">
                <a:solidFill>
                  <a:srgbClr val="F6A20A"/>
                </a:solidFill>
                <a:latin typeface="Arial"/>
                <a:ea typeface="Arial"/>
                <a:cs typeface="Arial"/>
              </a:defRPr>
            </a:pPr>
            <a:r>
              <a:rPr sz="1500" b="1" i="0">
                <a:solidFill>
                  <a:srgbClr val="F6A20A"/>
                </a:solidFill>
                <a:latin typeface="Arial"/>
                <a:ea typeface="Arial"/>
                <a:cs typeface="Arial"/>
              </a:rPr>
              <a:t>E2 joint image + state</a:t>
            </a:r>
          </a:p>
        </p:txBody>
      </p:sp>
      <p:sp>
        <p:nvSpPr>
          <p:cNvPr id="9" name="">
            <a:extLst xmlns:a="http://schemas.openxmlformats.org/drawingml/2006/main">
              <a:ext uri="{FF2B5EF4-FFF2-40B4-BE49-F238E27FC236}">
                <a16:creationId xmlns:a16="http://schemas.microsoft.com/office/drawing/2014/main" id="{CAA1E4FE-2ECA-4A2B-AD5F-AC563B9950F9}"/>
              </a:ext>
            </a:extLst>
          </p:cNvPr>
          <p:cNvSpPr>
            <a:spLocks xmlns:a="http://schemas.openxmlformats.org/drawingml/2006/main" noGrp="1"/>
          </p:cNvSpPr>
          <p:nvPr/>
        </p:nvSpPr>
        <p:spPr>
          <a:xfrm xmlns:a="http://schemas.openxmlformats.org/drawingml/2006/main">
            <a:off x="6238875" y="58293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1" i="0">
                <a:solidFill>
                  <a:srgbClr val="38D39F"/>
                </a:solidFill>
                <a:latin typeface="Arial"/>
                <a:ea typeface="Arial"/>
                <a:cs typeface="Arial"/>
              </a:defRPr>
            </a:pPr>
            <a:r>
              <a:rPr sz="1500" b="1" i="0">
                <a:solidFill>
                  <a:srgbClr val="38D39F"/>
                </a:solidFill>
                <a:latin typeface="Arial"/>
                <a:ea typeface="Arial"/>
                <a:cs typeface="Arial"/>
              </a:rPr>
              <a:t>E3 frozen visual</a:t>
            </a:r>
          </a:p>
        </p:txBody>
      </p:sp>
      <p:sp>
        <p:nvSpPr>
          <p:cNvPr id="10" name="">
            <a:extLst xmlns:a="http://schemas.openxmlformats.org/drawingml/2006/main">
              <a:ext uri="{FF2B5EF4-FFF2-40B4-BE49-F238E27FC236}">
                <a16:creationId xmlns:a16="http://schemas.microsoft.com/office/drawing/2014/main" id="{9137D1F2-5870-40A7-B36F-E83CE5606139}"/>
              </a:ext>
            </a:extLst>
          </p:cNvPr>
          <p:cNvSpPr>
            <a:spLocks xmlns:a="http://schemas.openxmlformats.org/drawingml/2006/main" noGrp="1"/>
          </p:cNvSpPr>
          <p:nvPr/>
        </p:nvSpPr>
        <p:spPr>
          <a:xfrm xmlns:a="http://schemas.openxmlformats.org/drawingml/2006/main">
            <a:off x="8477250" y="58293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092"/>
          </a:bodyPr>
          <a:lstStyle xmlns:a="http://schemas.openxmlformats.org/drawingml/2006/main"/>
          <a:p xmlns:a="http://schemas.openxmlformats.org/drawingml/2006/main">
            <a:pPr>
              <a:buNone/>
              <a:defRPr sz="1500" b="1" i="0">
                <a:solidFill>
                  <a:srgbClr val="9B83EE"/>
                </a:solidFill>
                <a:latin typeface="Arial"/>
                <a:ea typeface="Arial"/>
                <a:cs typeface="Arial"/>
              </a:defRPr>
            </a:pPr>
            <a:r>
              <a:rPr sz="1500" b="1" i="0">
                <a:solidFill>
                  <a:srgbClr val="9B83EE"/>
                </a:solidFill>
                <a:latin typeface="Arial"/>
                <a:ea typeface="Arial"/>
                <a:cs typeface="Arial"/>
              </a:rPr>
              <a:t>E4 frozen + 50% state dropout</a:t>
            </a:r>
          </a:p>
        </p:txBody>
      </p:sp>
    </p:spTree>
    <p:extLst>
      <p:ext uri="{BB962C8B-B14F-4D97-AF65-F5344CB8AC3E}">
        <p14:creationId xmlns:p14="http://schemas.microsoft.com/office/powerpoint/2010/main" val="942477678"/>
      </p:ext>
    </p:extLst>
  </p:cSld>
</p:sld>
</file>

<file path=ppt/slides/slide6.xml><?xml version="1.0" encoding="utf-8"?>
<p:sld xmlns:p="http://schemas.openxmlformats.org/presentationml/2006/main">
  <p:cSld>
    <p:bg>
      <p:bgPr>
        <a:solidFill xmlns:a="http://schemas.openxmlformats.org/drawingml/2006/main">
          <a:srgbClr val="08152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85273F4-31AD-4CDD-9D58-7E7A4EB06EB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CC7D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D76A1D-AF35-4370-93C0-EC7D95504521}"/>
              </a:ext>
            </a:extLst>
          </p:cNvPr>
          <p:cNvSpPr>
            <a:spLocks xmlns:a="http://schemas.openxmlformats.org/drawingml/2006/main" noGrp="1"/>
          </p:cNvSpPr>
          <p:nvPr/>
        </p:nvSpPr>
        <p:spPr>
          <a:xfrm xmlns:a="http://schemas.openxmlformats.org/drawingml/2006/main">
            <a:off x="628650" y="38100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buNone/>
              <a:defRPr sz="3300" b="1" i="0">
                <a:solidFill>
                  <a:srgbClr val="F7FAFC"/>
                </a:solidFill>
                <a:latin typeface="Arial"/>
                <a:ea typeface="Arial"/>
                <a:cs typeface="Arial"/>
              </a:defRPr>
            </a:pPr>
            <a:r>
              <a:rPr sz="3300" b="1" i="0">
                <a:solidFill>
                  <a:srgbClr val="F7FAFC"/>
                </a:solidFill>
                <a:latin typeface="Arial"/>
                <a:ea typeface="Arial"/>
                <a:cs typeface="Arial"/>
              </a:rPr>
              <a:t>Complete training evidence</a:t>
            </a:r>
          </a:p>
        </p:txBody>
      </p:sp>
      <p:sp>
        <p:nvSpPr>
          <p:cNvPr id="3" name="">
            <a:extLst xmlns:a="http://schemas.openxmlformats.org/drawingml/2006/main">
              <a:ext uri="{FF2B5EF4-FFF2-40B4-BE49-F238E27FC236}">
                <a16:creationId xmlns:a16="http://schemas.microsoft.com/office/drawing/2014/main" id="{E9CD4F3C-B13B-423C-A2C7-0D20D37DC3FE}"/>
              </a:ext>
            </a:extLst>
          </p:cNvPr>
          <p:cNvSpPr>
            <a:spLocks xmlns:a="http://schemas.openxmlformats.org/drawingml/2006/main" noGrp="1"/>
          </p:cNvSpPr>
          <p:nvPr/>
        </p:nvSpPr>
        <p:spPr>
          <a:xfrm xmlns:a="http://schemas.openxmlformats.org/drawingml/2006/main">
            <a:off x="647700" y="10001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i="0">
                <a:solidFill>
                  <a:srgbClr val="AFC0D4"/>
                </a:solidFill>
                <a:latin typeface="Arial"/>
                <a:ea typeface="Arial"/>
                <a:cs typeface="Arial"/>
              </a:defRPr>
            </a:pPr>
            <a:r>
              <a:rPr sz="1575" b="0" i="0">
                <a:solidFill>
                  <a:srgbClr val="AFC0D4"/>
                </a:solidFill>
                <a:latin typeface="Arial"/>
                <a:ea typeface="Arial"/>
                <a:cs typeface="Arial"/>
              </a:rPr>
              <a:t>Every optimizer step is stored for the full-pass </a:t>
            </a:r>
            <a:r>
              <a:rPr sz="1575" b="0" i="0">
                <a:solidFill>
                  <a:srgbClr val="AFC0D4"/>
                </a:solidFill>
                <a:latin typeface="Arial"/>
                <a:ea typeface="Arial"/>
                <a:cs typeface="Arial"/>
              </a:rPr>
              <a:t>E2</a:t>
            </a:r>
            <a:r>
              <a:rPr sz="1575" b="0" i="0">
                <a:solidFill>
                  <a:srgbClr val="AFC0D4"/>
                </a:solidFill>
                <a:latin typeface="Arial"/>
                <a:ea typeface="Arial"/>
                <a:cs typeface="Arial"/>
              </a:rPr>
              <a:t> and </a:t>
            </a:r>
            <a:r>
              <a:rPr sz="1575" b="0" i="0">
                <a:solidFill>
                  <a:srgbClr val="AFC0D4"/>
                </a:solidFill>
                <a:latin typeface="Arial"/>
                <a:ea typeface="Arial"/>
                <a:cs typeface="Arial"/>
              </a:rPr>
              <a:t>E1</a:t>
            </a:r>
            <a:r>
              <a:rPr sz="1575" b="0" i="0">
                <a:solidFill>
                  <a:srgbClr val="AFC0D4"/>
                </a:solidFill>
                <a:latin typeface="Arial"/>
                <a:ea typeface="Arial"/>
                <a:cs typeface="Arial"/>
              </a:rPr>
              <a:t> runs</a:t>
            </a:r>
          </a:p>
        </p:txBody>
      </p:sp>
      <p:sp>
        <p:nvSpPr>
          <p:cNvPr id="4" name="">
            <a:extLst xmlns:a="http://schemas.openxmlformats.org/drawingml/2006/main">
              <a:ext uri="{FF2B5EF4-FFF2-40B4-BE49-F238E27FC236}">
                <a16:creationId xmlns:a16="http://schemas.microsoft.com/office/drawing/2014/main" id="{B1F474C8-7F00-44F6-9170-F59145E36B8D}"/>
              </a:ext>
            </a:extLst>
          </p:cNvPr>
          <p:cNvSpPr>
            <a:spLocks xmlns:a="http://schemas.openxmlformats.org/drawingml/2006/main" noGrp="1"/>
          </p:cNvSpPr>
          <p:nvPr/>
        </p:nvSpPr>
        <p:spPr>
          <a:xfrm xmlns:a="http://schemas.openxmlformats.org/drawingml/2006/main">
            <a:off x="628650" y="64770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0" i="0">
                <a:solidFill>
                  <a:srgbClr val="AFC0D4"/>
                </a:solidFill>
                <a:latin typeface="Arial"/>
                <a:ea typeface="Arial"/>
                <a:cs typeface="Arial"/>
              </a:defRPr>
            </a:pPr>
            <a:r>
              <a:rPr sz="1050" b="0" i="0">
                <a:solidFill>
                  <a:srgbClr val="AFC0D4"/>
                </a:solidFill>
                <a:latin typeface="Arial"/>
                <a:ea typeface="Arial"/>
                <a:cs typeface="Arial"/>
              </a:rPr>
              <a:t>Development evidence only. Final test remains sealed.</a:t>
            </a:r>
          </a:p>
        </p:txBody>
      </p:sp>
      <p:sp>
        <p:nvSpPr>
          <p:cNvPr id="5" name="">
            <a:extLst xmlns:a="http://schemas.openxmlformats.org/drawingml/2006/main">
              <a:ext uri="{FF2B5EF4-FFF2-40B4-BE49-F238E27FC236}">
                <a16:creationId xmlns:a16="http://schemas.microsoft.com/office/drawing/2014/main" id="{BF42A7DB-752E-4065-B737-8E9A04784615}"/>
              </a:ext>
            </a:extLst>
          </p:cNvPr>
          <p:cNvSpPr>
            <a:spLocks xmlns:a="http://schemas.openxmlformats.org/drawingml/2006/main" noGrp="1"/>
          </p:cNvSpPr>
          <p:nvPr/>
        </p:nvSpPr>
        <p:spPr>
          <a:xfrm xmlns:a="http://schemas.openxmlformats.org/drawingml/2006/main">
            <a:off x="1114425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0" i="0">
                <a:solidFill>
                  <a:srgbClr val="AFC0D4"/>
                </a:solidFill>
                <a:latin typeface="Arial"/>
                <a:ea typeface="Arial"/>
                <a:cs typeface="Arial"/>
              </a:defRPr>
            </a:pPr>
            <a:r>
              <a:rPr sz="1050" b="0" i="0">
                <a:solidFill>
                  <a:srgbClr val="AFC0D4"/>
                </a:solidFill>
                <a:latin typeface="Arial"/>
                <a:ea typeface="Arial"/>
                <a:cs typeface="Arial"/>
              </a:rPr>
              <a:t>6</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c62bd7e8ff24ae3"/>
          <a:stretch xmlns:a="http://schemas.openxmlformats.org/drawingml/2006/main"/>
        </p:blipFill>
        <p:spPr>
          <a:xfrm xmlns:a="http://schemas.openxmlformats.org/drawingml/2006/main">
            <a:off x="1211385" y="1285875"/>
            <a:ext cx="9769231" cy="4762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ED2E8D4-8A1E-41F4-B883-8934A49F4781}"/>
              </a:ext>
            </a:extLst>
          </p:cNvPr>
          <p:cNvSpPr>
            <a:spLocks xmlns:a="http://schemas.openxmlformats.org/drawingml/2006/main" noGrp="1"/>
          </p:cNvSpPr>
          <p:nvPr/>
        </p:nvSpPr>
        <p:spPr>
          <a:xfrm xmlns:a="http://schemas.openxmlformats.org/drawingml/2006/main">
            <a:off x="1143000" y="59055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buNone/>
              <a:defRPr sz="1650" b="1" i="0">
                <a:solidFill>
                  <a:srgbClr val="2CC7DF"/>
                </a:solidFill>
                <a:latin typeface="Arial"/>
                <a:ea typeface="Arial"/>
                <a:cs typeface="Arial"/>
              </a:defRPr>
            </a:pPr>
            <a:r>
              <a:rPr sz="1650" b="1" i="0">
                <a:solidFill>
                  <a:srgbClr val="2CC7DF"/>
                </a:solidFill>
                <a:latin typeface="Arial"/>
                <a:ea typeface="Arial"/>
                <a:cs typeface="Arial"/>
              </a:rPr>
              <a:t>18,523 steps per arm</a:t>
            </a:r>
          </a:p>
        </p:txBody>
      </p:sp>
      <p:sp>
        <p:nvSpPr>
          <p:cNvPr id="8" name="">
            <a:extLst xmlns:a="http://schemas.openxmlformats.org/drawingml/2006/main">
              <a:ext uri="{FF2B5EF4-FFF2-40B4-BE49-F238E27FC236}">
                <a16:creationId xmlns:a16="http://schemas.microsoft.com/office/drawing/2014/main" id="{3F0F5D53-B77B-41A2-846B-164A5B6A548B}"/>
              </a:ext>
            </a:extLst>
          </p:cNvPr>
          <p:cNvSpPr>
            <a:spLocks xmlns:a="http://schemas.openxmlformats.org/drawingml/2006/main" noGrp="1"/>
          </p:cNvSpPr>
          <p:nvPr/>
        </p:nvSpPr>
        <p:spPr>
          <a:xfrm xmlns:a="http://schemas.openxmlformats.org/drawingml/2006/main">
            <a:off x="4667250" y="59055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buNone/>
              <a:defRPr sz="1650" b="1" i="0">
                <a:solidFill>
                  <a:srgbClr val="38D39F"/>
                </a:solidFill>
                <a:latin typeface="Arial"/>
                <a:ea typeface="Arial"/>
                <a:cs typeface="Arial"/>
              </a:defRPr>
            </a:pPr>
            <a:r>
              <a:rPr sz="1650" b="1" i="0">
                <a:solidFill>
                  <a:srgbClr val="38D39F"/>
                </a:solidFill>
                <a:latin typeface="Arial"/>
                <a:ea typeface="Arial"/>
                <a:cs typeface="Arial"/>
              </a:rPr>
              <a:t>100% training coverage</a:t>
            </a:r>
          </a:p>
        </p:txBody>
      </p:sp>
      <p:sp>
        <p:nvSpPr>
          <p:cNvPr id="9" name="">
            <a:extLst xmlns:a="http://schemas.openxmlformats.org/drawingml/2006/main">
              <a:ext uri="{FF2B5EF4-FFF2-40B4-BE49-F238E27FC236}">
                <a16:creationId xmlns:a16="http://schemas.microsoft.com/office/drawing/2014/main" id="{EE742C89-7DEA-4D02-B4AA-AC85B474E067}"/>
              </a:ext>
            </a:extLst>
          </p:cNvPr>
          <p:cNvSpPr>
            <a:spLocks xmlns:a="http://schemas.openxmlformats.org/drawingml/2006/main" noGrp="1"/>
          </p:cNvSpPr>
          <p:nvPr/>
        </p:nvSpPr>
        <p:spPr>
          <a:xfrm xmlns:a="http://schemas.openxmlformats.org/drawingml/2006/main">
            <a:off x="8096250" y="59055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buNone/>
              <a:defRPr sz="1650" b="1" i="0">
                <a:solidFill>
                  <a:srgbClr val="F6A20A"/>
                </a:solidFill>
                <a:latin typeface="Arial"/>
                <a:ea typeface="Arial"/>
                <a:cs typeface="Arial"/>
              </a:defRPr>
            </a:pPr>
            <a:r>
              <a:rPr sz="1650" b="1" i="0">
                <a:solidFill>
                  <a:srgbClr val="F6A20A"/>
                </a:solidFill>
                <a:latin typeface="Arial"/>
                <a:ea typeface="Arial"/>
                <a:cs typeface="Arial"/>
              </a:rPr>
              <a:t>47.6 minutes in parallel</a:t>
            </a:r>
          </a:p>
        </p:txBody>
      </p:sp>
    </p:spTree>
    <p:extLst>
      <p:ext uri="{BB962C8B-B14F-4D97-AF65-F5344CB8AC3E}">
        <p14:creationId xmlns:p14="http://schemas.microsoft.com/office/powerpoint/2010/main" val="947374408"/>
      </p:ext>
    </p:extLst>
  </p:cSld>
</p:sld>
</file>

<file path=ppt/slides/slide7.xml><?xml version="1.0" encoding="utf-8"?>
<p:sld xmlns:p="http://schemas.openxmlformats.org/presentationml/2006/main">
  <p:cSld>
    <p:bg>
      <p:bgPr>
        <a:solidFill xmlns:a="http://schemas.openxmlformats.org/drawingml/2006/main">
          <a:srgbClr val="08152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FE424D3-0184-4074-BCEF-D9E5031534E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CC7D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1552AF7-DD42-4477-8574-490C38993824}"/>
              </a:ext>
            </a:extLst>
          </p:cNvPr>
          <p:cNvSpPr>
            <a:spLocks xmlns:a="http://schemas.openxmlformats.org/drawingml/2006/main" noGrp="1"/>
          </p:cNvSpPr>
          <p:nvPr/>
        </p:nvSpPr>
        <p:spPr>
          <a:xfrm xmlns:a="http://schemas.openxmlformats.org/drawingml/2006/main">
            <a:off x="628650" y="38100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buNone/>
              <a:defRPr sz="3300" b="1" i="0">
                <a:solidFill>
                  <a:srgbClr val="F7FAFC"/>
                </a:solidFill>
                <a:latin typeface="Arial"/>
                <a:ea typeface="Arial"/>
                <a:cs typeface="Arial"/>
              </a:defRPr>
            </a:pPr>
            <a:r>
              <a:rPr sz="3300" b="1" i="0">
                <a:solidFill>
                  <a:srgbClr val="F7FAFC"/>
                </a:solidFill>
                <a:latin typeface="Arial"/>
                <a:ea typeface="Arial"/>
                <a:cs typeface="Arial"/>
              </a:rPr>
              <a:t>Held-out development results</a:t>
            </a:r>
          </a:p>
        </p:txBody>
      </p:sp>
      <p:sp>
        <p:nvSpPr>
          <p:cNvPr id="3" name="">
            <a:extLst xmlns:a="http://schemas.openxmlformats.org/drawingml/2006/main">
              <a:ext uri="{FF2B5EF4-FFF2-40B4-BE49-F238E27FC236}">
                <a16:creationId xmlns:a16="http://schemas.microsoft.com/office/drawing/2014/main" id="{73195B6B-6A08-4FCB-A010-1C0BDB000305}"/>
              </a:ext>
            </a:extLst>
          </p:cNvPr>
          <p:cNvSpPr>
            <a:spLocks xmlns:a="http://schemas.openxmlformats.org/drawingml/2006/main" noGrp="1"/>
          </p:cNvSpPr>
          <p:nvPr/>
        </p:nvSpPr>
        <p:spPr>
          <a:xfrm xmlns:a="http://schemas.openxmlformats.org/drawingml/2006/main">
            <a:off x="647700" y="10001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i="0">
                <a:solidFill>
                  <a:srgbClr val="AFC0D4"/>
                </a:solidFill>
                <a:latin typeface="Arial"/>
                <a:ea typeface="Arial"/>
                <a:cs typeface="Arial"/>
              </a:defRPr>
            </a:pPr>
            <a:r>
              <a:rPr sz="1575" b="0" i="0">
                <a:solidFill>
                  <a:srgbClr val="AFC0D4"/>
                </a:solidFill>
                <a:latin typeface="Arial"/>
                <a:ea typeface="Arial"/>
                <a:cs typeface="Arial"/>
              </a:rPr>
              <a:t>E2 leads; E4 nearly matches but does not improve on it</a:t>
            </a:r>
          </a:p>
        </p:txBody>
      </p:sp>
      <p:sp>
        <p:nvSpPr>
          <p:cNvPr id="4" name="">
            <a:extLst xmlns:a="http://schemas.openxmlformats.org/drawingml/2006/main">
              <a:ext uri="{FF2B5EF4-FFF2-40B4-BE49-F238E27FC236}">
                <a16:creationId xmlns:a16="http://schemas.microsoft.com/office/drawing/2014/main" id="{9A1A204B-F211-4930-B66E-902B5F5EB2F4}"/>
              </a:ext>
            </a:extLst>
          </p:cNvPr>
          <p:cNvSpPr>
            <a:spLocks xmlns:a="http://schemas.openxmlformats.org/drawingml/2006/main" noGrp="1"/>
          </p:cNvSpPr>
          <p:nvPr/>
        </p:nvSpPr>
        <p:spPr>
          <a:xfrm xmlns:a="http://schemas.openxmlformats.org/drawingml/2006/main">
            <a:off x="628650" y="64770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0" i="0">
                <a:solidFill>
                  <a:srgbClr val="AFC0D4"/>
                </a:solidFill>
                <a:latin typeface="Arial"/>
                <a:ea typeface="Arial"/>
                <a:cs typeface="Arial"/>
              </a:defRPr>
            </a:pPr>
            <a:r>
              <a:rPr sz="1050" b="0" i="0">
                <a:solidFill>
                  <a:srgbClr val="AFC0D4"/>
                </a:solidFill>
                <a:latin typeface="Arial"/>
                <a:ea typeface="Arial"/>
                <a:cs typeface="Arial"/>
              </a:rPr>
              <a:t>Development evidence only. Final test remains sealed.</a:t>
            </a:r>
          </a:p>
        </p:txBody>
      </p:sp>
      <p:sp>
        <p:nvSpPr>
          <p:cNvPr id="5" name="">
            <a:extLst xmlns:a="http://schemas.openxmlformats.org/drawingml/2006/main">
              <a:ext uri="{FF2B5EF4-FFF2-40B4-BE49-F238E27FC236}">
                <a16:creationId xmlns:a16="http://schemas.microsoft.com/office/drawing/2014/main" id="{4E42C70B-4C9E-4C49-8260-A9F2F75DCD38}"/>
              </a:ext>
            </a:extLst>
          </p:cNvPr>
          <p:cNvSpPr>
            <a:spLocks xmlns:a="http://schemas.openxmlformats.org/drawingml/2006/main" noGrp="1"/>
          </p:cNvSpPr>
          <p:nvPr/>
        </p:nvSpPr>
        <p:spPr>
          <a:xfrm xmlns:a="http://schemas.openxmlformats.org/drawingml/2006/main">
            <a:off x="1114425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0" i="0">
                <a:solidFill>
                  <a:srgbClr val="AFC0D4"/>
                </a:solidFill>
                <a:latin typeface="Arial"/>
                <a:ea typeface="Arial"/>
                <a:cs typeface="Arial"/>
              </a:defRPr>
            </a:pPr>
            <a:r>
              <a:rPr sz="1050" b="0" i="0">
                <a:solidFill>
                  <a:srgbClr val="AFC0D4"/>
                </a:solidFill>
                <a:latin typeface="Arial"/>
                <a:ea typeface="Arial"/>
                <a:cs typeface="Arial"/>
              </a:rPr>
              <a:t>7</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7422f5845cb44bc"/>
          <a:stretch xmlns:a="http://schemas.openxmlformats.org/drawingml/2006/main"/>
        </p:blipFill>
        <p:spPr>
          <a:xfrm xmlns:a="http://schemas.openxmlformats.org/drawingml/2006/main">
            <a:off x="1211385" y="1333500"/>
            <a:ext cx="9769231" cy="4762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E6FFB57-CA28-4AEA-B80B-FC28E1ED63C6}"/>
              </a:ext>
            </a:extLst>
          </p:cNvPr>
          <p:cNvSpPr>
            <a:spLocks xmlns:a="http://schemas.openxmlformats.org/drawingml/2006/main" noGrp="1"/>
          </p:cNvSpPr>
          <p:nvPr/>
        </p:nvSpPr>
        <p:spPr>
          <a:xfrm xmlns:a="http://schemas.openxmlformats.org/drawingml/2006/main">
            <a:off x="1762125" y="601980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buNone/>
              <a:defRPr sz="1650" b="1" i="0">
                <a:solidFill>
                  <a:srgbClr val="38D39F"/>
                </a:solidFill>
                <a:latin typeface="Arial"/>
                <a:ea typeface="Arial"/>
                <a:cs typeface="Arial"/>
              </a:defRPr>
            </a:pPr>
            <a:r>
              <a:rPr sz="1650" b="1" i="0">
                <a:solidFill>
                  <a:srgbClr val="38D39F"/>
                </a:solidFill>
                <a:latin typeface="Arial"/>
                <a:ea typeface="Arial"/>
                <a:cs typeface="Arial"/>
              </a:rPr>
              <a:t>Decision: </a:t>
            </a:r>
            <a:r>
              <a:rPr sz="1650" b="1" i="0">
                <a:solidFill>
                  <a:srgbClr val="38D39F"/>
                </a:solidFill>
                <a:latin typeface="Arial"/>
                <a:ea typeface="Arial"/>
                <a:cs typeface="Arial"/>
              </a:rPr>
              <a:t>E2</a:t>
            </a:r>
            <a:r>
              <a:rPr sz="1650" b="1" i="0">
                <a:solidFill>
                  <a:srgbClr val="38D39F"/>
                </a:solidFill>
                <a:latin typeface="Arial"/>
                <a:ea typeface="Arial"/>
                <a:cs typeface="Arial"/>
              </a:rPr>
              <a:t> remains selected at AP50 0.1698; E4 reached 0.1697.</a:t>
            </a:r>
          </a:p>
        </p:txBody>
      </p:sp>
    </p:spTree>
    <p:extLst>
      <p:ext uri="{BB962C8B-B14F-4D97-AF65-F5344CB8AC3E}">
        <p14:creationId xmlns:p14="http://schemas.microsoft.com/office/powerpoint/2010/main" val="2135857405"/>
      </p:ext>
    </p:extLst>
  </p:cSld>
</p:sld>
</file>

<file path=ppt/slides/slide8.xml><?xml version="1.0" encoding="utf-8"?>
<p:sld xmlns:p="http://schemas.openxmlformats.org/presentationml/2006/main">
  <p:cSld>
    <p:bg>
      <p:bgPr>
        <a:solidFill xmlns:a="http://schemas.openxmlformats.org/drawingml/2006/main">
          <a:srgbClr val="08152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5C55E1E-F37F-4B92-A927-2FF2F109D03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CC7D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8553446-FFDA-47E3-AE3A-85606153357E}"/>
              </a:ext>
            </a:extLst>
          </p:cNvPr>
          <p:cNvSpPr>
            <a:spLocks xmlns:a="http://schemas.openxmlformats.org/drawingml/2006/main" noGrp="1"/>
          </p:cNvSpPr>
          <p:nvPr/>
        </p:nvSpPr>
        <p:spPr>
          <a:xfrm xmlns:a="http://schemas.openxmlformats.org/drawingml/2006/main">
            <a:off x="628650" y="38100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buNone/>
              <a:defRPr sz="3300" b="1" i="0">
                <a:solidFill>
                  <a:srgbClr val="F7FAFC"/>
                </a:solidFill>
                <a:latin typeface="Arial"/>
                <a:ea typeface="Arial"/>
                <a:cs typeface="Arial"/>
              </a:defRPr>
            </a:pPr>
            <a:r>
              <a:rPr sz="3300" b="1" i="0">
                <a:solidFill>
                  <a:srgbClr val="F7FAFC"/>
                </a:solidFill>
                <a:latin typeface="Arial"/>
                <a:ea typeface="Arial"/>
                <a:cs typeface="Arial"/>
              </a:rPr>
              <a:t>Why the scores are modest</a:t>
            </a:r>
          </a:p>
        </p:txBody>
      </p:sp>
      <p:sp>
        <p:nvSpPr>
          <p:cNvPr id="3" name="">
            <a:extLst xmlns:a="http://schemas.openxmlformats.org/drawingml/2006/main">
              <a:ext uri="{FF2B5EF4-FFF2-40B4-BE49-F238E27FC236}">
                <a16:creationId xmlns:a16="http://schemas.microsoft.com/office/drawing/2014/main" id="{D6196400-4C70-4131-B4B4-C6559246FAA8}"/>
              </a:ext>
            </a:extLst>
          </p:cNvPr>
          <p:cNvSpPr>
            <a:spLocks xmlns:a="http://schemas.openxmlformats.org/drawingml/2006/main" noGrp="1"/>
          </p:cNvSpPr>
          <p:nvPr/>
        </p:nvSpPr>
        <p:spPr>
          <a:xfrm xmlns:a="http://schemas.openxmlformats.org/drawingml/2006/main">
            <a:off x="647700" y="10001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i="0">
                <a:solidFill>
                  <a:srgbClr val="AFC0D4"/>
                </a:solidFill>
                <a:latin typeface="Arial"/>
                <a:ea typeface="Arial"/>
                <a:cs typeface="Arial"/>
              </a:defRPr>
            </a:pPr>
            <a:r>
              <a:rPr sz="1575" b="0" i="0">
                <a:solidFill>
                  <a:srgbClr val="AFC0D4"/>
                </a:solidFill>
                <a:latin typeface="Arial"/>
                <a:ea typeface="Arial"/>
                <a:cs typeface="Arial"/>
              </a:rPr>
              <a:t>The evaluation is strict, the task is difficult, and the model is not deployment-ready yet</a:t>
            </a:r>
          </a:p>
        </p:txBody>
      </p:sp>
      <p:sp>
        <p:nvSpPr>
          <p:cNvPr id="4" name="">
            <a:extLst xmlns:a="http://schemas.openxmlformats.org/drawingml/2006/main">
              <a:ext uri="{FF2B5EF4-FFF2-40B4-BE49-F238E27FC236}">
                <a16:creationId xmlns:a16="http://schemas.microsoft.com/office/drawing/2014/main" id="{85CFFAA0-9B4A-43C8-8DBC-483B8260B4C2}"/>
              </a:ext>
            </a:extLst>
          </p:cNvPr>
          <p:cNvSpPr>
            <a:spLocks xmlns:a="http://schemas.openxmlformats.org/drawingml/2006/main" noGrp="1"/>
          </p:cNvSpPr>
          <p:nvPr/>
        </p:nvSpPr>
        <p:spPr>
          <a:xfrm xmlns:a="http://schemas.openxmlformats.org/drawingml/2006/main">
            <a:off x="628650" y="64770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0" i="0">
                <a:solidFill>
                  <a:srgbClr val="AFC0D4"/>
                </a:solidFill>
                <a:latin typeface="Arial"/>
                <a:ea typeface="Arial"/>
                <a:cs typeface="Arial"/>
              </a:defRPr>
            </a:pPr>
            <a:r>
              <a:rPr sz="1050" b="0" i="0">
                <a:solidFill>
                  <a:srgbClr val="AFC0D4"/>
                </a:solidFill>
                <a:latin typeface="Arial"/>
                <a:ea typeface="Arial"/>
                <a:cs typeface="Arial"/>
              </a:rPr>
              <a:t>Development evidence only. Final test remains sealed.</a:t>
            </a:r>
          </a:p>
        </p:txBody>
      </p:sp>
      <p:sp>
        <p:nvSpPr>
          <p:cNvPr id="5" name="">
            <a:extLst xmlns:a="http://schemas.openxmlformats.org/drawingml/2006/main">
              <a:ext uri="{FF2B5EF4-FFF2-40B4-BE49-F238E27FC236}">
                <a16:creationId xmlns:a16="http://schemas.microsoft.com/office/drawing/2014/main" id="{25EA1D98-F08F-4C7B-BE61-08995FC1D29F}"/>
              </a:ext>
            </a:extLst>
          </p:cNvPr>
          <p:cNvSpPr>
            <a:spLocks xmlns:a="http://schemas.openxmlformats.org/drawingml/2006/main" noGrp="1"/>
          </p:cNvSpPr>
          <p:nvPr/>
        </p:nvSpPr>
        <p:spPr>
          <a:xfrm xmlns:a="http://schemas.openxmlformats.org/drawingml/2006/main">
            <a:off x="1114425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0" i="0">
                <a:solidFill>
                  <a:srgbClr val="AFC0D4"/>
                </a:solidFill>
                <a:latin typeface="Arial"/>
                <a:ea typeface="Arial"/>
                <a:cs typeface="Arial"/>
              </a:defRPr>
            </a:pPr>
            <a:r>
              <a:rPr sz="1050" b="0" i="0">
                <a:solidFill>
                  <a:srgbClr val="AFC0D4"/>
                </a:solidFill>
                <a:latin typeface="Arial"/>
                <a:ea typeface="Arial"/>
                <a:cs typeface="Arial"/>
              </a:rPr>
              <a:t>8</a:t>
            </a:r>
          </a:p>
        </p:txBody>
      </p:sp>
      <p:sp>
        <p:nvSpPr>
          <p:cNvPr id="6" name="">
            <a:extLst xmlns:a="http://schemas.openxmlformats.org/drawingml/2006/main">
              <a:ext uri="{FF2B5EF4-FFF2-40B4-BE49-F238E27FC236}">
                <a16:creationId xmlns:a16="http://schemas.microsoft.com/office/drawing/2014/main" id="{426CA0AA-C20A-41D2-96CD-3BB096062D3C}"/>
              </a:ext>
            </a:extLst>
          </p:cNvPr>
          <p:cNvSpPr>
            <a:spLocks xmlns:a="http://schemas.openxmlformats.org/drawingml/2006/main" noGrp="1"/>
          </p:cNvSpPr>
          <p:nvPr/>
        </p:nvSpPr>
        <p:spPr>
          <a:xfrm xmlns:a="http://schemas.openxmlformats.org/drawingml/2006/main">
            <a:off x="714375" y="16192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650" b="1" i="0">
                <a:solidFill>
                  <a:srgbClr val="2CC7DF"/>
                </a:solidFill>
                <a:latin typeface="Arial"/>
                <a:ea typeface="Arial"/>
                <a:cs typeface="Arial"/>
              </a:defRPr>
            </a:pPr>
            <a:r>
              <a:rPr sz="1650" b="1" i="0">
                <a:solidFill>
                  <a:srgbClr val="2CC7DF"/>
                </a:solidFill>
                <a:latin typeface="Arial"/>
                <a:ea typeface="Arial"/>
                <a:cs typeface="Arial"/>
              </a:rPr>
              <a:t>E2</a:t>
            </a:r>
            <a:r>
              <a:rPr sz="1650" b="1" i="0">
                <a:solidFill>
                  <a:srgbClr val="2CC7DF"/>
                </a:solidFill>
                <a:latin typeface="Arial"/>
                <a:ea typeface="Arial"/>
                <a:cs typeface="Arial"/>
              </a:rPr>
              <a:t> at the selected development threshold</a:t>
            </a:r>
          </a:p>
        </p:txBody>
      </p:sp>
      <p:sp>
        <p:nvSpPr>
          <p:cNvPr id="7" name="">
            <a:extLst xmlns:a="http://schemas.openxmlformats.org/drawingml/2006/main">
              <a:ext uri="{FF2B5EF4-FFF2-40B4-BE49-F238E27FC236}">
                <a16:creationId xmlns:a16="http://schemas.microsoft.com/office/drawing/2014/main" id="{07091398-B9E4-4D6F-B4E1-C32684175FD7}"/>
              </a:ext>
            </a:extLst>
          </p:cNvPr>
          <p:cNvSpPr>
            <a:spLocks xmlns:a="http://schemas.openxmlformats.org/drawingml/2006/main" noGrp="1"/>
          </p:cNvSpPr>
          <p:nvPr/>
        </p:nvSpPr>
        <p:spPr>
          <a:xfrm xmlns:a="http://schemas.openxmlformats.org/drawingml/2006/main">
            <a:off x="714375" y="2143125"/>
            <a:ext cx="219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972"/>
          </a:bodyPr>
          <a:lstStyle xmlns:a="http://schemas.openxmlformats.org/drawingml/2006/main"/>
          <a:p xmlns:a="http://schemas.openxmlformats.org/drawingml/2006/main">
            <a:pPr>
              <a:buNone/>
              <a:defRPr sz="3600" b="1" i="0">
                <a:solidFill>
                  <a:srgbClr val="38D39F"/>
                </a:solidFill>
                <a:latin typeface="Arial"/>
                <a:ea typeface="Arial"/>
                <a:cs typeface="Arial"/>
              </a:defRPr>
            </a:pPr>
            <a:r>
              <a:rPr sz="3600" b="1" i="0">
                <a:solidFill>
                  <a:srgbClr val="38D39F"/>
                </a:solidFill>
                <a:latin typeface="Arial"/>
                <a:ea typeface="Arial"/>
                <a:cs typeface="Arial"/>
              </a:rPr>
              <a:t>6,646</a:t>
            </a:r>
          </a:p>
        </p:txBody>
      </p:sp>
      <p:sp>
        <p:nvSpPr>
          <p:cNvPr id="8" name="">
            <a:extLst xmlns:a="http://schemas.openxmlformats.org/drawingml/2006/main">
              <a:ext uri="{FF2B5EF4-FFF2-40B4-BE49-F238E27FC236}">
                <a16:creationId xmlns:a16="http://schemas.microsoft.com/office/drawing/2014/main" id="{AF49A41D-62D5-4873-80B8-EAFEF3C14F02}"/>
              </a:ext>
            </a:extLst>
          </p:cNvPr>
          <p:cNvSpPr>
            <a:spLocks xmlns:a="http://schemas.openxmlformats.org/drawingml/2006/main" noGrp="1"/>
          </p:cNvSpPr>
          <p:nvPr/>
        </p:nvSpPr>
        <p:spPr>
          <a:xfrm xmlns:a="http://schemas.openxmlformats.org/drawingml/2006/main">
            <a:off x="714375" y="274320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i="0">
                <a:solidFill>
                  <a:srgbClr val="AFC0D4"/>
                </a:solidFill>
                <a:latin typeface="Arial"/>
                <a:ea typeface="Arial"/>
                <a:cs typeface="Arial"/>
              </a:defRPr>
            </a:pPr>
            <a:r>
              <a:rPr sz="1500" b="0" i="0">
                <a:solidFill>
                  <a:srgbClr val="AFC0D4"/>
                </a:solidFill>
                <a:latin typeface="Arial"/>
                <a:ea typeface="Arial"/>
                <a:cs typeface="Arial"/>
              </a:rPr>
              <a:t>correct detections</a:t>
            </a:r>
          </a:p>
        </p:txBody>
      </p:sp>
      <p:sp>
        <p:nvSpPr>
          <p:cNvPr id="9" name="">
            <a:extLst xmlns:a="http://schemas.openxmlformats.org/drawingml/2006/main">
              <a:ext uri="{FF2B5EF4-FFF2-40B4-BE49-F238E27FC236}">
                <a16:creationId xmlns:a16="http://schemas.microsoft.com/office/drawing/2014/main" id="{087CA86F-D9D1-4F72-8BBD-6CB06C14639D}"/>
              </a:ext>
            </a:extLst>
          </p:cNvPr>
          <p:cNvSpPr>
            <a:spLocks xmlns:a="http://schemas.openxmlformats.org/drawingml/2006/main" noGrp="1"/>
          </p:cNvSpPr>
          <p:nvPr/>
        </p:nvSpPr>
        <p:spPr>
          <a:xfrm xmlns:a="http://schemas.openxmlformats.org/drawingml/2006/main">
            <a:off x="714375" y="3381375"/>
            <a:ext cx="219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972"/>
          </a:bodyPr>
          <a:lstStyle xmlns:a="http://schemas.openxmlformats.org/drawingml/2006/main"/>
          <a:p xmlns:a="http://schemas.openxmlformats.org/drawingml/2006/main">
            <a:pPr>
              <a:buNone/>
              <a:defRPr sz="3600" b="1" i="0">
                <a:solidFill>
                  <a:srgbClr val="F6A20A"/>
                </a:solidFill>
                <a:latin typeface="Arial"/>
                <a:ea typeface="Arial"/>
                <a:cs typeface="Arial"/>
              </a:defRPr>
            </a:pPr>
            <a:r>
              <a:rPr sz="3600" b="1" i="0">
                <a:solidFill>
                  <a:srgbClr val="F6A20A"/>
                </a:solidFill>
                <a:latin typeface="Arial"/>
                <a:ea typeface="Arial"/>
                <a:cs typeface="Arial"/>
              </a:rPr>
              <a:t>5,996</a:t>
            </a:r>
          </a:p>
        </p:txBody>
      </p:sp>
      <p:sp>
        <p:nvSpPr>
          <p:cNvPr id="10" name="">
            <a:extLst xmlns:a="http://schemas.openxmlformats.org/drawingml/2006/main">
              <a:ext uri="{FF2B5EF4-FFF2-40B4-BE49-F238E27FC236}">
                <a16:creationId xmlns:a16="http://schemas.microsoft.com/office/drawing/2014/main" id="{7D8D20A8-CD55-4A28-A812-D0F05B668EB8}"/>
              </a:ext>
            </a:extLst>
          </p:cNvPr>
          <p:cNvSpPr>
            <a:spLocks xmlns:a="http://schemas.openxmlformats.org/drawingml/2006/main" noGrp="1"/>
          </p:cNvSpPr>
          <p:nvPr/>
        </p:nvSpPr>
        <p:spPr>
          <a:xfrm xmlns:a="http://schemas.openxmlformats.org/drawingml/2006/main">
            <a:off x="714375" y="39814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i="0">
                <a:solidFill>
                  <a:srgbClr val="AFC0D4"/>
                </a:solidFill>
                <a:latin typeface="Arial"/>
                <a:ea typeface="Arial"/>
                <a:cs typeface="Arial"/>
              </a:defRPr>
            </a:pPr>
            <a:r>
              <a:rPr sz="1500" b="0" i="0">
                <a:solidFill>
                  <a:srgbClr val="AFC0D4"/>
                </a:solidFill>
                <a:latin typeface="Arial"/>
                <a:ea typeface="Arial"/>
                <a:cs typeface="Arial"/>
              </a:rPr>
              <a:t>false alarms</a:t>
            </a:r>
          </a:p>
        </p:txBody>
      </p:sp>
      <p:sp>
        <p:nvSpPr>
          <p:cNvPr id="11" name="">
            <a:extLst xmlns:a="http://schemas.openxmlformats.org/drawingml/2006/main">
              <a:ext uri="{FF2B5EF4-FFF2-40B4-BE49-F238E27FC236}">
                <a16:creationId xmlns:a16="http://schemas.microsoft.com/office/drawing/2014/main" id="{967FFCE3-26CD-4320-9B57-FE71B24884FF}"/>
              </a:ext>
            </a:extLst>
          </p:cNvPr>
          <p:cNvSpPr>
            <a:spLocks xmlns:a="http://schemas.openxmlformats.org/drawingml/2006/main" noGrp="1"/>
          </p:cNvSpPr>
          <p:nvPr/>
        </p:nvSpPr>
        <p:spPr>
          <a:xfrm xmlns:a="http://schemas.openxmlformats.org/drawingml/2006/main">
            <a:off x="714375" y="4619625"/>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972"/>
          </a:bodyPr>
          <a:lstStyle xmlns:a="http://schemas.openxmlformats.org/drawingml/2006/main"/>
          <a:p xmlns:a="http://schemas.openxmlformats.org/drawingml/2006/main">
            <a:pPr>
              <a:buNone/>
              <a:defRPr sz="3600" b="1" i="0">
                <a:solidFill>
                  <a:srgbClr val="F56A7E"/>
                </a:solidFill>
                <a:latin typeface="Arial"/>
                <a:ea typeface="Arial"/>
                <a:cs typeface="Arial"/>
              </a:defRPr>
            </a:pPr>
            <a:r>
              <a:rPr sz="3600" b="1" i="0">
                <a:solidFill>
                  <a:srgbClr val="F56A7E"/>
                </a:solidFill>
                <a:latin typeface="Arial"/>
                <a:ea typeface="Arial"/>
                <a:cs typeface="Arial"/>
              </a:rPr>
              <a:t>10,227</a:t>
            </a:r>
          </a:p>
        </p:txBody>
      </p:sp>
      <p:sp>
        <p:nvSpPr>
          <p:cNvPr id="12" name="">
            <a:extLst xmlns:a="http://schemas.openxmlformats.org/drawingml/2006/main">
              <a:ext uri="{FF2B5EF4-FFF2-40B4-BE49-F238E27FC236}">
                <a16:creationId xmlns:a16="http://schemas.microsoft.com/office/drawing/2014/main" id="{9FF719BA-1C60-4DE5-AD6D-506220529720}"/>
              </a:ext>
            </a:extLst>
          </p:cNvPr>
          <p:cNvSpPr>
            <a:spLocks xmlns:a="http://schemas.openxmlformats.org/drawingml/2006/main" noGrp="1"/>
          </p:cNvSpPr>
          <p:nvPr/>
        </p:nvSpPr>
        <p:spPr>
          <a:xfrm xmlns:a="http://schemas.openxmlformats.org/drawingml/2006/main">
            <a:off x="714375" y="521970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i="0">
                <a:solidFill>
                  <a:srgbClr val="AFC0D4"/>
                </a:solidFill>
                <a:latin typeface="Arial"/>
                <a:ea typeface="Arial"/>
                <a:cs typeface="Arial"/>
              </a:defRPr>
            </a:pPr>
            <a:r>
              <a:rPr sz="1500" b="0" i="0">
                <a:solidFill>
                  <a:srgbClr val="AFC0D4"/>
                </a:solidFill>
                <a:latin typeface="Arial"/>
                <a:ea typeface="Arial"/>
                <a:cs typeface="Arial"/>
              </a:rPr>
              <a:t>missed objects</a:t>
            </a:r>
          </a:p>
        </p:txBody>
      </p:sp>
      <p:sp>
        <p:nvSpPr>
          <p:cNvPr id="13" name="">
            <a:extLst xmlns:a="http://schemas.openxmlformats.org/drawingml/2006/main">
              <a:ext uri="{FF2B5EF4-FFF2-40B4-BE49-F238E27FC236}">
                <a16:creationId xmlns:a16="http://schemas.microsoft.com/office/drawing/2014/main" id="{E6664838-7C04-4204-BD2B-C6AFAB370665}"/>
              </a:ext>
            </a:extLst>
          </p:cNvPr>
          <p:cNvSpPr>
            <a:spLocks xmlns:a="http://schemas.openxmlformats.org/drawingml/2006/main" noGrp="1"/>
          </p:cNvSpPr>
          <p:nvPr/>
        </p:nvSpPr>
        <p:spPr>
          <a:xfrm xmlns:a="http://schemas.openxmlformats.org/drawingml/2006/main">
            <a:off x="4953000" y="1619250"/>
            <a:ext cx="19050" cy="4095750"/>
          </a:xfrm>
          <a:prstGeom xmlns:a="http://schemas.openxmlformats.org/drawingml/2006/main" prst="rect">
            <a:avLst/>
          </a:prstGeom>
          <a:solidFill xmlns:a="http://schemas.openxmlformats.org/drawingml/2006/main">
            <a:srgbClr val="26415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DA64837-9DD5-4D1C-98A0-BD417D50E93A}"/>
              </a:ext>
            </a:extLst>
          </p:cNvPr>
          <p:cNvSpPr>
            <a:spLocks xmlns:a="http://schemas.openxmlformats.org/drawingml/2006/main" noGrp="1"/>
          </p:cNvSpPr>
          <p:nvPr/>
        </p:nvSpPr>
        <p:spPr>
          <a:xfrm xmlns:a="http://schemas.openxmlformats.org/drawingml/2006/main">
            <a:off x="5476875" y="1619250"/>
            <a:ext cx="5905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100"/>
              </a:spcAft>
              <a:buChar char="•"/>
              <a:defRPr sz="1725">
                <a:solidFill>
                  <a:srgbClr val="F7FAFC"/>
                </a:solidFill>
                <a:latin typeface="Arial"/>
                <a:ea typeface="Arial"/>
                <a:cs typeface="Arial"/>
              </a:defRPr>
            </a:pPr>
            <a:r>
              <a:rPr sz="1725">
                <a:solidFill>
                  <a:srgbClr val="F7FAFC"/>
                </a:solidFill>
                <a:latin typeface="Arial"/>
                <a:ea typeface="Arial"/>
                <a:cs typeface="Arial"/>
              </a:rPr>
              <a:t>Object detection penalizes both false alarms and missed objects. Background pixels do not inflate the score.</a:t>
            </a:r>
          </a:p>
          <a:p xmlns:a="http://schemas.openxmlformats.org/drawingml/2006/main">
            <a:pPr marL="254000" indent="-127000">
              <a:spcAft>
                <a:spcPts val="1100"/>
              </a:spcAft>
              <a:buChar char="•"/>
              <a:defRPr sz="1725">
                <a:solidFill>
                  <a:srgbClr val="F7FAFC"/>
                </a:solidFill>
                <a:latin typeface="Arial"/>
                <a:ea typeface="Arial"/>
                <a:cs typeface="Arial"/>
              </a:defRPr>
            </a:pPr>
            <a:r>
              <a:rPr sz="1725">
                <a:solidFill>
                  <a:srgbClr val="F7FAFC"/>
                </a:solidFill>
                <a:latin typeface="Arial"/>
                <a:ea typeface="Arial"/>
                <a:cs typeface="Arial"/>
              </a:rPr>
              <a:t>Many aerial targets occupy very few pixels, and their scale changes with altitude and camera motion.</a:t>
            </a:r>
          </a:p>
          <a:p xmlns:a="http://schemas.openxmlformats.org/drawingml/2006/main">
            <a:pPr marL="254000" indent="-127000">
              <a:spcAft>
                <a:spcPts val="1100"/>
              </a:spcAft>
              <a:buChar char="•"/>
              <a:defRPr sz="1725">
                <a:solidFill>
                  <a:srgbClr val="F7FAFC"/>
                </a:solidFill>
                <a:latin typeface="Arial"/>
                <a:ea typeface="Arial"/>
                <a:cs typeface="Arial"/>
              </a:defRPr>
            </a:pPr>
            <a:r>
              <a:rPr sz="1725">
                <a:solidFill>
                  <a:srgbClr val="F7FAFC"/>
                </a:solidFill>
                <a:latin typeface="Arial"/>
                <a:ea typeface="Arial"/>
                <a:cs typeface="Arial"/>
              </a:rPr>
              <a:t>The development set is a different complete flight, so near-duplicate frames cannot make the result look easier.</a:t>
            </a:r>
          </a:p>
          <a:p xmlns:a="http://schemas.openxmlformats.org/drawingml/2006/main">
            <a:pPr marL="254000" indent="-127000">
              <a:spcAft>
                <a:spcPts val="1100"/>
              </a:spcAft>
              <a:buChar char="•"/>
              <a:defRPr sz="1725">
                <a:solidFill>
                  <a:srgbClr val="F7FAFC"/>
                </a:solidFill>
                <a:latin typeface="Arial"/>
                <a:ea typeface="Arial"/>
                <a:cs typeface="Arial"/>
              </a:defRPr>
            </a:pPr>
            <a:r>
              <a:rPr sz="1725">
                <a:solidFill>
                  <a:srgbClr val="F7FAFC"/>
                </a:solidFill>
                <a:latin typeface="Arial"/>
                <a:ea typeface="Arial"/>
                <a:cs typeface="Arial"/>
              </a:rPr>
              <a:t>The training budget is one full pass, with strong class imbalance across eight categories.</a:t>
            </a:r>
          </a:p>
          <a:p xmlns:a="http://schemas.openxmlformats.org/drawingml/2006/main">
            <a:pPr marL="254000" indent="-127000">
              <a:spcAft>
                <a:spcPts val="1100"/>
              </a:spcAft>
              <a:buChar char="•"/>
              <a:defRPr sz="1725">
                <a:solidFill>
                  <a:srgbClr val="F7FAFC"/>
                </a:solidFill>
                <a:latin typeface="Arial"/>
                <a:ea typeface="Arial"/>
                <a:cs typeface="Arial"/>
              </a:defRPr>
            </a:pPr>
            <a:r>
              <a:rPr sz="1725">
                <a:solidFill>
                  <a:srgbClr val="F7FAFC"/>
                </a:solidFill>
                <a:latin typeface="Arial"/>
                <a:ea typeface="Arial"/>
                <a:cs typeface="Arial"/>
              </a:rPr>
              <a:t>These numbers are real evidence of current limits. They are not acceptable as a safety claim.</a:t>
            </a:r>
          </a:p>
        </p:txBody>
      </p:sp>
      <p:sp>
        <p:nvSpPr>
          <p:cNvPr id="15" name="">
            <a:extLst xmlns:a="http://schemas.openxmlformats.org/drawingml/2006/main">
              <a:ext uri="{FF2B5EF4-FFF2-40B4-BE49-F238E27FC236}">
                <a16:creationId xmlns:a16="http://schemas.microsoft.com/office/drawing/2014/main" id="{BD71ED4B-05D7-4B91-B452-23D6631BA736}"/>
              </a:ext>
            </a:extLst>
          </p:cNvPr>
          <p:cNvSpPr>
            <a:spLocks xmlns:a="http://schemas.openxmlformats.org/drawingml/2006/main" noGrp="1"/>
          </p:cNvSpPr>
          <p:nvPr/>
        </p:nvSpPr>
        <p:spPr>
          <a:xfrm xmlns:a="http://schemas.openxmlformats.org/drawingml/2006/main">
            <a:off x="5476875" y="5810250"/>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167"/>
          </a:bodyPr>
          <a:lstStyle xmlns:a="http://schemas.openxmlformats.org/drawingml/2006/main"/>
          <a:p xmlns:a="http://schemas.openxmlformats.org/drawingml/2006/main">
            <a:pPr>
              <a:buNone/>
              <a:defRPr sz="1500" b="1" i="0">
                <a:solidFill>
                  <a:srgbClr val="F6A20A"/>
                </a:solidFill>
                <a:latin typeface="Arial"/>
                <a:ea typeface="Arial"/>
                <a:cs typeface="Arial"/>
              </a:defRPr>
            </a:pPr>
            <a:r>
              <a:rPr sz="1500" b="1" i="0">
                <a:solidFill>
                  <a:srgbClr val="F6A20A"/>
                </a:solidFill>
                <a:latin typeface="Arial"/>
                <a:ea typeface="Arial"/>
                <a:cs typeface="Arial"/>
              </a:rPr>
              <a:t>AP50 0.1698 is an area under a precision–recall curve, not 16.98% classification accuracy.</a:t>
            </a:r>
          </a:p>
        </p:txBody>
      </p:sp>
    </p:spTree>
    <p:extLst>
      <p:ext uri="{BB962C8B-B14F-4D97-AF65-F5344CB8AC3E}">
        <p14:creationId xmlns:p14="http://schemas.microsoft.com/office/powerpoint/2010/main" val="850484458"/>
      </p:ext>
    </p:extLst>
  </p:cSld>
</p:sld>
</file>

<file path=ppt/slides/slide9.xml><?xml version="1.0" encoding="utf-8"?>
<p:sld xmlns:p="http://schemas.openxmlformats.org/presentationml/2006/main">
  <p:cSld>
    <p:bg>
      <p:bgPr>
        <a:solidFill xmlns:a="http://schemas.openxmlformats.org/drawingml/2006/main">
          <a:srgbClr val="08152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3DC03CE-EDAE-4EEA-9E21-5C9026FF5B1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CC7D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82BEB2-9E6A-4834-BCCD-A3737869B441}"/>
              </a:ext>
            </a:extLst>
          </p:cNvPr>
          <p:cNvSpPr>
            <a:spLocks xmlns:a="http://schemas.openxmlformats.org/drawingml/2006/main" noGrp="1"/>
          </p:cNvSpPr>
          <p:nvPr/>
        </p:nvSpPr>
        <p:spPr>
          <a:xfrm xmlns:a="http://schemas.openxmlformats.org/drawingml/2006/main">
            <a:off x="628650" y="38100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buNone/>
              <a:defRPr sz="3300" b="1" i="0">
                <a:solidFill>
                  <a:srgbClr val="F7FAFC"/>
                </a:solidFill>
                <a:latin typeface="Arial"/>
                <a:ea typeface="Arial"/>
                <a:cs typeface="Arial"/>
              </a:defRPr>
            </a:pPr>
            <a:r>
              <a:rPr sz="3300" b="1" i="0">
                <a:solidFill>
                  <a:srgbClr val="F7FAFC"/>
                </a:solidFill>
                <a:latin typeface="Arial"/>
                <a:ea typeface="Arial"/>
                <a:cs typeface="Arial"/>
              </a:rPr>
              <a:t>Working system and deployment path</a:t>
            </a:r>
          </a:p>
        </p:txBody>
      </p:sp>
      <p:sp>
        <p:nvSpPr>
          <p:cNvPr id="3" name="">
            <a:extLst xmlns:a="http://schemas.openxmlformats.org/drawingml/2006/main">
              <a:ext uri="{FF2B5EF4-FFF2-40B4-BE49-F238E27FC236}">
                <a16:creationId xmlns:a16="http://schemas.microsoft.com/office/drawing/2014/main" id="{1CEF7431-D090-4025-94AE-D6741C95FED1}"/>
              </a:ext>
            </a:extLst>
          </p:cNvPr>
          <p:cNvSpPr>
            <a:spLocks xmlns:a="http://schemas.openxmlformats.org/drawingml/2006/main" noGrp="1"/>
          </p:cNvSpPr>
          <p:nvPr/>
        </p:nvSpPr>
        <p:spPr>
          <a:xfrm xmlns:a="http://schemas.openxmlformats.org/drawingml/2006/main">
            <a:off x="647700" y="10001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i="0">
                <a:solidFill>
                  <a:srgbClr val="AFC0D4"/>
                </a:solidFill>
                <a:latin typeface="Arial"/>
                <a:ea typeface="Arial"/>
                <a:cs typeface="Arial"/>
              </a:defRPr>
            </a:pPr>
            <a:r>
              <a:rPr sz="1575" b="0" i="0">
                <a:solidFill>
                  <a:srgbClr val="AFC0D4"/>
                </a:solidFill>
                <a:latin typeface="Arial"/>
                <a:ea typeface="Arial"/>
                <a:cs typeface="Arial"/>
              </a:rPr>
              <a:t>The review console uses real evidence; TensorRT remains a reproducible next deployment step</a:t>
            </a:r>
          </a:p>
        </p:txBody>
      </p:sp>
      <p:sp>
        <p:nvSpPr>
          <p:cNvPr id="4" name="">
            <a:extLst xmlns:a="http://schemas.openxmlformats.org/drawingml/2006/main">
              <a:ext uri="{FF2B5EF4-FFF2-40B4-BE49-F238E27FC236}">
                <a16:creationId xmlns:a16="http://schemas.microsoft.com/office/drawing/2014/main" id="{A88768FA-A88C-4B8E-BAC9-00B2414A5058}"/>
              </a:ext>
            </a:extLst>
          </p:cNvPr>
          <p:cNvSpPr>
            <a:spLocks xmlns:a="http://schemas.openxmlformats.org/drawingml/2006/main" noGrp="1"/>
          </p:cNvSpPr>
          <p:nvPr/>
        </p:nvSpPr>
        <p:spPr>
          <a:xfrm xmlns:a="http://schemas.openxmlformats.org/drawingml/2006/main">
            <a:off x="628650" y="64770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0" i="0">
                <a:solidFill>
                  <a:srgbClr val="AFC0D4"/>
                </a:solidFill>
                <a:latin typeface="Arial"/>
                <a:ea typeface="Arial"/>
                <a:cs typeface="Arial"/>
              </a:defRPr>
            </a:pPr>
            <a:r>
              <a:rPr sz="1050" b="0" i="0">
                <a:solidFill>
                  <a:srgbClr val="AFC0D4"/>
                </a:solidFill>
                <a:latin typeface="Arial"/>
                <a:ea typeface="Arial"/>
                <a:cs typeface="Arial"/>
              </a:rPr>
              <a:t>Development evidence only. Final test remains sealed.</a:t>
            </a:r>
          </a:p>
        </p:txBody>
      </p:sp>
      <p:sp>
        <p:nvSpPr>
          <p:cNvPr id="5" name="">
            <a:extLst xmlns:a="http://schemas.openxmlformats.org/drawingml/2006/main">
              <a:ext uri="{FF2B5EF4-FFF2-40B4-BE49-F238E27FC236}">
                <a16:creationId xmlns:a16="http://schemas.microsoft.com/office/drawing/2014/main" id="{38EBDD6B-730E-46C0-B050-FA4BEC6192B9}"/>
              </a:ext>
            </a:extLst>
          </p:cNvPr>
          <p:cNvSpPr>
            <a:spLocks xmlns:a="http://schemas.openxmlformats.org/drawingml/2006/main" noGrp="1"/>
          </p:cNvSpPr>
          <p:nvPr/>
        </p:nvSpPr>
        <p:spPr>
          <a:xfrm xmlns:a="http://schemas.openxmlformats.org/drawingml/2006/main">
            <a:off x="1114425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0" i="0">
                <a:solidFill>
                  <a:srgbClr val="AFC0D4"/>
                </a:solidFill>
                <a:latin typeface="Arial"/>
                <a:ea typeface="Arial"/>
                <a:cs typeface="Arial"/>
              </a:defRPr>
            </a:pPr>
            <a:r>
              <a:rPr sz="1050" b="0" i="0">
                <a:solidFill>
                  <a:srgbClr val="AFC0D4"/>
                </a:solidFill>
                <a:latin typeface="Arial"/>
                <a:ea typeface="Arial"/>
                <a:cs typeface="Arial"/>
              </a:rPr>
              <a:t>9</a:t>
            </a:r>
          </a:p>
        </p:txBody>
      </p:sp>
      <p:sp>
        <p:nvSpPr>
          <p:cNvPr id="6" name="">
            <a:extLst xmlns:a="http://schemas.openxmlformats.org/drawingml/2006/main">
              <a:ext uri="{FF2B5EF4-FFF2-40B4-BE49-F238E27FC236}">
                <a16:creationId xmlns:a16="http://schemas.microsoft.com/office/drawing/2014/main" id="{D9B347DA-F00F-439D-8133-BEF4B233F6C8}"/>
              </a:ext>
            </a:extLst>
          </p:cNvPr>
          <p:cNvSpPr>
            <a:spLocks xmlns:a="http://schemas.openxmlformats.org/drawingml/2006/main" noGrp="1"/>
          </p:cNvSpPr>
          <p:nvPr/>
        </p:nvSpPr>
        <p:spPr>
          <a:xfrm xmlns:a="http://schemas.openxmlformats.org/drawingml/2006/main">
            <a:off x="666750" y="1666875"/>
            <a:ext cx="4476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93"/>
          </a:bodyPr>
          <a:lstStyle xmlns:a="http://schemas.openxmlformats.org/drawingml/2006/main"/>
          <a:p xmlns:a="http://schemas.openxmlformats.org/drawingml/2006/main">
            <a:pPr marL="254000" indent="-127000">
              <a:spcAft>
                <a:spcPts val="1100"/>
              </a:spcAft>
              <a:buChar char="•"/>
              <a:defRPr sz="1725">
                <a:solidFill>
                  <a:srgbClr val="F7FAFC"/>
                </a:solidFill>
                <a:latin typeface="Arial"/>
                <a:ea typeface="Arial"/>
                <a:cs typeface="Arial"/>
              </a:defRPr>
            </a:pPr>
            <a:r>
              <a:rPr sz="1725">
                <a:solidFill>
                  <a:srgbClr val="F7FAFC"/>
                </a:solidFill>
                <a:latin typeface="Arial"/>
                <a:ea typeface="Arial"/>
                <a:cs typeface="Arial"/>
              </a:rPr>
              <a:t>FastAPI exposes health, model reports, replay frames, inference contracts, and idempotent human reviews.</a:t>
            </a:r>
          </a:p>
          <a:p xmlns:a="http://schemas.openxmlformats.org/drawingml/2006/main">
            <a:pPr marL="254000" indent="-127000">
              <a:spcAft>
                <a:spcPts val="1100"/>
              </a:spcAft>
              <a:buChar char="•"/>
              <a:defRPr sz="1725">
                <a:solidFill>
                  <a:srgbClr val="F7FAFC"/>
                </a:solidFill>
                <a:latin typeface="Arial"/>
                <a:ea typeface="Arial"/>
                <a:cs typeface="Arial"/>
              </a:defRPr>
            </a:pPr>
            <a:r>
              <a:rPr sz="1725">
                <a:solidFill>
                  <a:srgbClr val="F7FAFC"/>
                </a:solidFill>
                <a:latin typeface="Arial"/>
                <a:ea typeface="Arial"/>
                <a:cs typeface="Arial"/>
              </a:rPr>
              <a:t>The React console replays six real AU-AIR development frames with stored </a:t>
            </a:r>
            <a:r>
              <a:rPr sz="1725">
                <a:solidFill>
                  <a:srgbClr val="F7FAFC"/>
                </a:solidFill>
                <a:latin typeface="Arial"/>
                <a:ea typeface="Arial"/>
                <a:cs typeface="Arial"/>
              </a:rPr>
              <a:t>E2</a:t>
            </a:r>
            <a:r>
              <a:rPr sz="1725">
                <a:solidFill>
                  <a:srgbClr val="F7FAFC"/>
                </a:solidFill>
                <a:latin typeface="Arial"/>
                <a:ea typeface="Arial"/>
                <a:cs typeface="Arial"/>
              </a:rPr>
              <a:t> and E4 predictions.</a:t>
            </a:r>
          </a:p>
          <a:p xmlns:a="http://schemas.openxmlformats.org/drawingml/2006/main">
            <a:pPr marL="254000" indent="-127000">
              <a:spcAft>
                <a:spcPts val="1100"/>
              </a:spcAft>
              <a:buChar char="•"/>
              <a:defRPr sz="1725">
                <a:solidFill>
                  <a:srgbClr val="F7FAFC"/>
                </a:solidFill>
                <a:latin typeface="Arial"/>
                <a:ea typeface="Arial"/>
                <a:cs typeface="Arial"/>
              </a:defRPr>
            </a:pPr>
            <a:r>
              <a:rPr sz="1725">
                <a:solidFill>
                  <a:srgbClr val="F7FAFC"/>
                </a:solidFill>
                <a:latin typeface="Arial"/>
                <a:ea typeface="Arial"/>
                <a:cs typeface="Arial"/>
              </a:rPr>
              <a:t>The interface supports autoplay, timeline seeking, comparison views, evidence inspection, and review export.</a:t>
            </a:r>
          </a:p>
          <a:p xmlns:a="http://schemas.openxmlformats.org/drawingml/2006/main">
            <a:pPr marL="254000" indent="-127000">
              <a:spcAft>
                <a:spcPts val="1100"/>
              </a:spcAft>
              <a:buChar char="•"/>
              <a:defRPr sz="1725">
                <a:solidFill>
                  <a:srgbClr val="F7FAFC"/>
                </a:solidFill>
                <a:latin typeface="Arial"/>
                <a:ea typeface="Arial"/>
                <a:cs typeface="Arial"/>
              </a:defRPr>
            </a:pPr>
            <a:r>
              <a:rPr sz="1725">
                <a:solidFill>
                  <a:srgbClr val="F7FAFC"/>
                </a:solidFill>
                <a:latin typeface="Arial"/>
                <a:ea typeface="Arial"/>
                <a:cs typeface="Arial"/>
              </a:rPr>
              <a:t>ONNX export, TensorRT engine build, validation, and edge inference scripts are implemented.</a:t>
            </a:r>
          </a:p>
        </p:txBody>
      </p:sp>
      <p:sp>
        <p:nvSpPr>
          <p:cNvPr id="7" name="">
            <a:extLst xmlns:a="http://schemas.openxmlformats.org/drawingml/2006/main">
              <a:ext uri="{FF2B5EF4-FFF2-40B4-BE49-F238E27FC236}">
                <a16:creationId xmlns:a16="http://schemas.microsoft.com/office/drawing/2014/main" id="{5E11F126-28FF-40EA-8BCB-BDB0022A89CA}"/>
              </a:ext>
            </a:extLst>
          </p:cNvPr>
          <p:cNvSpPr>
            <a:spLocks xmlns:a="http://schemas.openxmlformats.org/drawingml/2006/main" noGrp="1"/>
          </p:cNvSpPr>
          <p:nvPr/>
        </p:nvSpPr>
        <p:spPr>
          <a:xfrm xmlns:a="http://schemas.openxmlformats.org/drawingml/2006/main">
            <a:off x="742950" y="51911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buNone/>
              <a:defRPr sz="1650" b="1" i="0">
                <a:solidFill>
                  <a:srgbClr val="F6A20A"/>
                </a:solidFill>
                <a:latin typeface="Arial"/>
                <a:ea typeface="Arial"/>
                <a:cs typeface="Arial"/>
              </a:defRPr>
            </a:pPr>
            <a:r>
              <a:rPr sz="1650" b="1" i="0">
                <a:solidFill>
                  <a:srgbClr val="F6A20A"/>
                </a:solidFill>
                <a:latin typeface="Arial"/>
                <a:ea typeface="Arial"/>
                <a:cs typeface="Arial"/>
              </a:rPr>
              <a:t>Honest deployment status</a:t>
            </a:r>
          </a:p>
        </p:txBody>
      </p:sp>
      <p:sp>
        <p:nvSpPr>
          <p:cNvPr id="8" name="">
            <a:extLst xmlns:a="http://schemas.openxmlformats.org/drawingml/2006/main">
              <a:ext uri="{FF2B5EF4-FFF2-40B4-BE49-F238E27FC236}">
                <a16:creationId xmlns:a16="http://schemas.microsoft.com/office/drawing/2014/main" id="{697D21BF-BF8D-4E02-B8B0-651A604D7B6C}"/>
              </a:ext>
            </a:extLst>
          </p:cNvPr>
          <p:cNvSpPr>
            <a:spLocks xmlns:a="http://schemas.openxmlformats.org/drawingml/2006/main" noGrp="1"/>
          </p:cNvSpPr>
          <p:nvPr/>
        </p:nvSpPr>
        <p:spPr>
          <a:xfrm xmlns:a="http://schemas.openxmlformats.org/drawingml/2006/main">
            <a:off x="742950" y="5572125"/>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08"/>
          </a:bodyPr>
          <a:lstStyle xmlns:a="http://schemas.openxmlformats.org/drawingml/2006/main"/>
          <a:p xmlns:a="http://schemas.openxmlformats.org/drawingml/2006/main">
            <a:pPr>
              <a:buNone/>
              <a:defRPr sz="1425" b="0" i="0">
                <a:solidFill>
                  <a:srgbClr val="AFC0D4"/>
                </a:solidFill>
                <a:latin typeface="Arial"/>
                <a:ea typeface="Arial"/>
                <a:cs typeface="Arial"/>
              </a:defRPr>
            </a:pPr>
            <a:r>
              <a:rPr sz="1425" b="0" i="0">
                <a:solidFill>
                  <a:srgbClr val="AFC0D4"/>
                </a:solidFill>
                <a:latin typeface="Arial"/>
                <a:ea typeface="Arial"/>
                <a:cs typeface="Arial"/>
              </a:rPr>
              <a:t>No TensorRT engine is claimed until the checkpoint is exported and validated on the target NVIDIA device.</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749c4fffab14b78"/>
          <a:stretch xmlns:a="http://schemas.openxmlformats.org/drawingml/2006/main"/>
        </p:blipFill>
        <p:spPr>
          <a:xfrm xmlns:a="http://schemas.openxmlformats.org/drawingml/2006/main">
            <a:off x="5340934" y="1619250"/>
            <a:ext cx="6177383" cy="3476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76C66593-9D2C-4EAE-B99A-A255CA1C5180}"/>
              </a:ext>
            </a:extLst>
          </p:cNvPr>
          <p:cNvSpPr>
            <a:spLocks xmlns:a="http://schemas.openxmlformats.org/drawingml/2006/main" noGrp="1"/>
          </p:cNvSpPr>
          <p:nvPr/>
        </p:nvSpPr>
        <p:spPr>
          <a:xfrm xmlns:a="http://schemas.openxmlformats.org/drawingml/2006/main">
            <a:off x="5572125" y="5381625"/>
            <a:ext cx="571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1" i="0">
                <a:solidFill>
                  <a:srgbClr val="2CC7DF"/>
                </a:solidFill>
                <a:latin typeface="Arial"/>
                <a:ea typeface="Arial"/>
                <a:cs typeface="Arial"/>
              </a:defRPr>
            </a:pPr>
            <a:r>
              <a:rPr sz="1350" b="1" i="0">
                <a:solidFill>
                  <a:srgbClr val="2CC7DF"/>
                </a:solidFill>
                <a:latin typeface="Arial"/>
                <a:ea typeface="Arial"/>
                <a:cs typeface="Arial"/>
              </a:rPr>
              <a:t>Python · PyTorch · Lightning · FastAPI · React · TypeScript · ONNX · TensorRT</a:t>
            </a:r>
          </a:p>
        </p:txBody>
      </p:sp>
    </p:spTree>
    <p:extLst>
      <p:ext uri="{BB962C8B-B14F-4D97-AF65-F5344CB8AC3E}">
        <p14:creationId xmlns:p14="http://schemas.microsoft.com/office/powerpoint/2010/main" val="787701445"/>
      </p:ext>
    </p:extLst>
  </p:cSld>
</p:sld>
</file>

<file path=ppt/slides/slide10.xml><?xml version="1.0" encoding="utf-8"?>
<p:sld xmlns:p="http://schemas.openxmlformats.org/presentationml/2006/main">
  <p:cSld>
    <p:bg>
      <p:bgPr>
        <a:solidFill xmlns:a="http://schemas.openxmlformats.org/drawingml/2006/main">
          <a:srgbClr val="081524"/>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343F922-16A0-4729-9F46-936286D5CA3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CC7D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CA2DFD-F8B5-4BC2-9869-F3C3FE24E8EC}"/>
              </a:ext>
            </a:extLst>
          </p:cNvPr>
          <p:cNvSpPr>
            <a:spLocks xmlns:a="http://schemas.openxmlformats.org/drawingml/2006/main" noGrp="1"/>
          </p:cNvSpPr>
          <p:nvPr/>
        </p:nvSpPr>
        <p:spPr>
          <a:xfrm xmlns:a="http://schemas.openxmlformats.org/drawingml/2006/main">
            <a:off x="628650" y="38100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buNone/>
              <a:defRPr sz="3300" b="1" i="0">
                <a:solidFill>
                  <a:srgbClr val="F7FAFC"/>
                </a:solidFill>
                <a:latin typeface="Arial"/>
                <a:ea typeface="Arial"/>
                <a:cs typeface="Arial"/>
              </a:defRPr>
            </a:pPr>
            <a:r>
              <a:rPr sz="3300" b="1" i="0">
                <a:solidFill>
                  <a:srgbClr val="F7FAFC"/>
                </a:solidFill>
                <a:latin typeface="Arial"/>
                <a:ea typeface="Arial"/>
                <a:cs typeface="Arial"/>
              </a:rPr>
              <a:t>Decision and next work</a:t>
            </a:r>
          </a:p>
        </p:txBody>
      </p:sp>
      <p:sp>
        <p:nvSpPr>
          <p:cNvPr id="3" name="">
            <a:extLst xmlns:a="http://schemas.openxmlformats.org/drawingml/2006/main">
              <a:ext uri="{FF2B5EF4-FFF2-40B4-BE49-F238E27FC236}">
                <a16:creationId xmlns:a16="http://schemas.microsoft.com/office/drawing/2014/main" id="{B29D7D55-9914-4231-9557-D0FACC87DB8F}"/>
              </a:ext>
            </a:extLst>
          </p:cNvPr>
          <p:cNvSpPr>
            <a:spLocks xmlns:a="http://schemas.openxmlformats.org/drawingml/2006/main" noGrp="1"/>
          </p:cNvSpPr>
          <p:nvPr/>
        </p:nvSpPr>
        <p:spPr>
          <a:xfrm xmlns:a="http://schemas.openxmlformats.org/drawingml/2006/main">
            <a:off x="647700" y="10001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i="0">
                <a:solidFill>
                  <a:srgbClr val="AFC0D4"/>
                </a:solidFill>
                <a:latin typeface="Arial"/>
                <a:ea typeface="Arial"/>
                <a:cs typeface="Arial"/>
              </a:defRPr>
            </a:pPr>
            <a:r>
              <a:rPr sz="1575" b="0" i="0">
                <a:solidFill>
                  <a:srgbClr val="AFC0D4"/>
                </a:solidFill>
                <a:latin typeface="Arial"/>
                <a:ea typeface="Arial"/>
                <a:cs typeface="Arial"/>
              </a:rPr>
              <a:t>Review 2 ends with a clear model choice and a controlled path to the final test</a:t>
            </a:r>
          </a:p>
        </p:txBody>
      </p:sp>
      <p:sp>
        <p:nvSpPr>
          <p:cNvPr id="4" name="">
            <a:extLst xmlns:a="http://schemas.openxmlformats.org/drawingml/2006/main">
              <a:ext uri="{FF2B5EF4-FFF2-40B4-BE49-F238E27FC236}">
                <a16:creationId xmlns:a16="http://schemas.microsoft.com/office/drawing/2014/main" id="{C4C097E8-5641-4FB3-943E-4968246B35D3}"/>
              </a:ext>
            </a:extLst>
          </p:cNvPr>
          <p:cNvSpPr>
            <a:spLocks xmlns:a="http://schemas.openxmlformats.org/drawingml/2006/main" noGrp="1"/>
          </p:cNvSpPr>
          <p:nvPr/>
        </p:nvSpPr>
        <p:spPr>
          <a:xfrm xmlns:a="http://schemas.openxmlformats.org/drawingml/2006/main">
            <a:off x="628650" y="64770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0" i="0">
                <a:solidFill>
                  <a:srgbClr val="AFC0D4"/>
                </a:solidFill>
                <a:latin typeface="Arial"/>
                <a:ea typeface="Arial"/>
                <a:cs typeface="Arial"/>
              </a:defRPr>
            </a:pPr>
            <a:r>
              <a:rPr sz="1050" b="0" i="0">
                <a:solidFill>
                  <a:srgbClr val="AFC0D4"/>
                </a:solidFill>
                <a:latin typeface="Arial"/>
                <a:ea typeface="Arial"/>
                <a:cs typeface="Arial"/>
              </a:rPr>
              <a:t>Development evidence only. Final test remains sealed.</a:t>
            </a:r>
          </a:p>
        </p:txBody>
      </p:sp>
      <p:sp>
        <p:nvSpPr>
          <p:cNvPr id="5" name="">
            <a:extLst xmlns:a="http://schemas.openxmlformats.org/drawingml/2006/main">
              <a:ext uri="{FF2B5EF4-FFF2-40B4-BE49-F238E27FC236}">
                <a16:creationId xmlns:a16="http://schemas.microsoft.com/office/drawing/2014/main" id="{D71E98E5-F656-4E76-8C07-8A00AE7B1731}"/>
              </a:ext>
            </a:extLst>
          </p:cNvPr>
          <p:cNvSpPr>
            <a:spLocks xmlns:a="http://schemas.openxmlformats.org/drawingml/2006/main" noGrp="1"/>
          </p:cNvSpPr>
          <p:nvPr/>
        </p:nvSpPr>
        <p:spPr>
          <a:xfrm xmlns:a="http://schemas.openxmlformats.org/drawingml/2006/main">
            <a:off x="1114425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0" i="0">
                <a:solidFill>
                  <a:srgbClr val="AFC0D4"/>
                </a:solidFill>
                <a:latin typeface="Arial"/>
                <a:ea typeface="Arial"/>
                <a:cs typeface="Arial"/>
              </a:defRPr>
            </a:pPr>
            <a:r>
              <a:rPr sz="1050" b="0" i="0">
                <a:solidFill>
                  <a:srgbClr val="AFC0D4"/>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BFCA7DFD-998B-4911-B56E-5C58E6E0695A}"/>
              </a:ext>
            </a:extLst>
          </p:cNvPr>
          <p:cNvSpPr>
            <a:spLocks xmlns:a="http://schemas.openxmlformats.org/drawingml/2006/main" noGrp="1"/>
          </p:cNvSpPr>
          <p:nvPr/>
        </p:nvSpPr>
        <p:spPr>
          <a:xfrm xmlns:a="http://schemas.openxmlformats.org/drawingml/2006/main">
            <a:off x="809625" y="1666875"/>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buNone/>
              <a:defRPr sz="2250" b="1" i="0">
                <a:solidFill>
                  <a:srgbClr val="2CC7DF"/>
                </a:solidFill>
                <a:latin typeface="Arial"/>
                <a:ea typeface="Arial"/>
                <a:cs typeface="Arial"/>
              </a:defRPr>
            </a:pPr>
            <a:r>
              <a:rPr sz="2250" b="1" i="0">
                <a:solidFill>
                  <a:srgbClr val="2CC7DF"/>
                </a:solidFill>
                <a:latin typeface="Arial"/>
                <a:ea typeface="Arial"/>
                <a:cs typeface="Arial"/>
              </a:rPr>
              <a:t>Model decision</a:t>
            </a:r>
          </a:p>
        </p:txBody>
      </p:sp>
      <p:sp>
        <p:nvSpPr>
          <p:cNvPr id="7" name="">
            <a:extLst xmlns:a="http://schemas.openxmlformats.org/drawingml/2006/main">
              <a:ext uri="{FF2B5EF4-FFF2-40B4-BE49-F238E27FC236}">
                <a16:creationId xmlns:a16="http://schemas.microsoft.com/office/drawing/2014/main" id="{38925ECD-B768-4E3B-84B8-3D022256A060}"/>
              </a:ext>
            </a:extLst>
          </p:cNvPr>
          <p:cNvSpPr>
            <a:spLocks xmlns:a="http://schemas.openxmlformats.org/drawingml/2006/main" noGrp="1"/>
          </p:cNvSpPr>
          <p:nvPr/>
        </p:nvSpPr>
        <p:spPr>
          <a:xfrm xmlns:a="http://schemas.openxmlformats.org/drawingml/2006/main">
            <a:off x="809625" y="217170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304"/>
          </a:bodyPr>
          <a:lstStyle xmlns:a="http://schemas.openxmlformats.org/drawingml/2006/main"/>
          <a:p xmlns:a="http://schemas.openxmlformats.org/drawingml/2006/main">
            <a:pPr>
              <a:buNone/>
              <a:defRPr sz="3450" b="1" i="0">
                <a:solidFill>
                  <a:srgbClr val="F7FAFC"/>
                </a:solidFill>
                <a:latin typeface="Arial"/>
                <a:ea typeface="Arial"/>
                <a:cs typeface="Arial"/>
              </a:defRPr>
            </a:pPr>
            <a:r>
              <a:rPr sz="3450" b="1" i="0">
                <a:solidFill>
                  <a:srgbClr val="F7FAFC"/>
                </a:solidFill>
                <a:latin typeface="Arial"/>
                <a:ea typeface="Arial"/>
                <a:cs typeface="Arial"/>
              </a:rPr>
              <a:t>Keep </a:t>
            </a:r>
            <a:r>
              <a:rPr sz="3450" b="1" i="0">
                <a:solidFill>
                  <a:srgbClr val="F7FAFC"/>
                </a:solidFill>
                <a:latin typeface="Arial"/>
                <a:ea typeface="Arial"/>
                <a:cs typeface="Arial"/>
              </a:rPr>
              <a:t>E2</a:t>
            </a:r>
          </a:p>
        </p:txBody>
      </p:sp>
      <p:sp>
        <p:nvSpPr>
          <p:cNvPr id="8" name="">
            <a:extLst xmlns:a="http://schemas.openxmlformats.org/drawingml/2006/main">
              <a:ext uri="{FF2B5EF4-FFF2-40B4-BE49-F238E27FC236}">
                <a16:creationId xmlns:a16="http://schemas.microsoft.com/office/drawing/2014/main" id="{07FD3280-5B4B-411E-89EF-20D1CAB65756}"/>
              </a:ext>
            </a:extLst>
          </p:cNvPr>
          <p:cNvSpPr>
            <a:spLocks xmlns:a="http://schemas.openxmlformats.org/drawingml/2006/main" noGrp="1"/>
          </p:cNvSpPr>
          <p:nvPr/>
        </p:nvSpPr>
        <p:spPr>
          <a:xfrm xmlns:a="http://schemas.openxmlformats.org/drawingml/2006/main">
            <a:off x="809625" y="2857500"/>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i="0">
                <a:solidFill>
                  <a:srgbClr val="AFC0D4"/>
                </a:solidFill>
                <a:latin typeface="Arial"/>
                <a:ea typeface="Arial"/>
                <a:cs typeface="Arial"/>
              </a:defRPr>
            </a:pPr>
            <a:r>
              <a:rPr sz="1575" b="0" i="0">
                <a:solidFill>
                  <a:srgbClr val="AFC0D4"/>
                </a:solidFill>
                <a:latin typeface="Arial"/>
                <a:ea typeface="Arial"/>
                <a:cs typeface="Arial"/>
              </a:rPr>
              <a:t>E2 image + state remained strongest; E4 did not improve on it.</a:t>
            </a:r>
          </a:p>
        </p:txBody>
      </p:sp>
      <p:sp>
        <p:nvSpPr>
          <p:cNvPr id="9" name="">
            <a:extLst xmlns:a="http://schemas.openxmlformats.org/drawingml/2006/main">
              <a:ext uri="{FF2B5EF4-FFF2-40B4-BE49-F238E27FC236}">
                <a16:creationId xmlns:a16="http://schemas.microsoft.com/office/drawing/2014/main" id="{363B5561-223A-4586-AAD5-1FCC933E4882}"/>
              </a:ext>
            </a:extLst>
          </p:cNvPr>
          <p:cNvSpPr>
            <a:spLocks xmlns:a="http://schemas.openxmlformats.org/drawingml/2006/main" noGrp="1"/>
          </p:cNvSpPr>
          <p:nvPr/>
        </p:nvSpPr>
        <p:spPr>
          <a:xfrm xmlns:a="http://schemas.openxmlformats.org/drawingml/2006/main">
            <a:off x="4048125" y="1666875"/>
            <a:ext cx="19050" cy="3714750"/>
          </a:xfrm>
          <a:prstGeom xmlns:a="http://schemas.openxmlformats.org/drawingml/2006/main" prst="rect">
            <a:avLst/>
          </a:prstGeom>
          <a:solidFill xmlns:a="http://schemas.openxmlformats.org/drawingml/2006/main">
            <a:srgbClr val="26415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0C57E43-81DB-4671-BDC8-CCBA76742BAA}"/>
              </a:ext>
            </a:extLst>
          </p:cNvPr>
          <p:cNvSpPr>
            <a:spLocks xmlns:a="http://schemas.openxmlformats.org/drawingml/2006/main" noGrp="1"/>
          </p:cNvSpPr>
          <p:nvPr/>
        </p:nvSpPr>
        <p:spPr>
          <a:xfrm xmlns:a="http://schemas.openxmlformats.org/drawingml/2006/main">
            <a:off x="4572000" y="1666875"/>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buNone/>
              <a:defRPr sz="2250" b="1" i="0">
                <a:solidFill>
                  <a:srgbClr val="F6A20A"/>
                </a:solidFill>
                <a:latin typeface="Arial"/>
                <a:ea typeface="Arial"/>
                <a:cs typeface="Arial"/>
              </a:defRPr>
            </a:pPr>
            <a:r>
              <a:rPr sz="2250" b="1" i="0">
                <a:solidFill>
                  <a:srgbClr val="F6A20A"/>
                </a:solidFill>
                <a:latin typeface="Arial"/>
                <a:ea typeface="Arial"/>
                <a:cs typeface="Arial"/>
              </a:rPr>
              <a:t>Release gate</a:t>
            </a:r>
          </a:p>
        </p:txBody>
      </p:sp>
      <p:sp>
        <p:nvSpPr>
          <p:cNvPr id="11" name="">
            <a:extLst xmlns:a="http://schemas.openxmlformats.org/drawingml/2006/main">
              <a:ext uri="{FF2B5EF4-FFF2-40B4-BE49-F238E27FC236}">
                <a16:creationId xmlns:a16="http://schemas.microsoft.com/office/drawing/2014/main" id="{462A3641-7D34-4AD2-ABC0-50FC77C9242D}"/>
              </a:ext>
            </a:extLst>
          </p:cNvPr>
          <p:cNvSpPr>
            <a:spLocks xmlns:a="http://schemas.openxmlformats.org/drawingml/2006/main" noGrp="1"/>
          </p:cNvSpPr>
          <p:nvPr/>
        </p:nvSpPr>
        <p:spPr>
          <a:xfrm xmlns:a="http://schemas.openxmlformats.org/drawingml/2006/main">
            <a:off x="4572000" y="2171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101"/>
          </a:bodyPr>
          <a:lstStyle xmlns:a="http://schemas.openxmlformats.org/drawingml/2006/main"/>
          <a:p xmlns:a="http://schemas.openxmlformats.org/drawingml/2006/main">
            <a:pPr>
              <a:buNone/>
              <a:defRPr sz="3150" b="1" i="0">
                <a:solidFill>
                  <a:srgbClr val="F7FAFC"/>
                </a:solidFill>
                <a:latin typeface="Arial"/>
                <a:ea typeface="Arial"/>
                <a:cs typeface="Arial"/>
              </a:defRPr>
            </a:pPr>
            <a:r>
              <a:rPr sz="3150" b="1" i="0">
                <a:solidFill>
                  <a:srgbClr val="F7FAFC"/>
                </a:solidFill>
                <a:latin typeface="Arial"/>
                <a:ea typeface="Arial"/>
                <a:cs typeface="Arial"/>
              </a:rPr>
              <a:t>Final test sealed</a:t>
            </a:r>
          </a:p>
        </p:txBody>
      </p:sp>
      <p:sp>
        <p:nvSpPr>
          <p:cNvPr id="12" name="">
            <a:extLst xmlns:a="http://schemas.openxmlformats.org/drawingml/2006/main">
              <a:ext uri="{FF2B5EF4-FFF2-40B4-BE49-F238E27FC236}">
                <a16:creationId xmlns:a16="http://schemas.microsoft.com/office/drawing/2014/main" id="{C5218E9A-25BA-41FD-AB54-98ECED918A4F}"/>
              </a:ext>
            </a:extLst>
          </p:cNvPr>
          <p:cNvSpPr>
            <a:spLocks xmlns:a="http://schemas.openxmlformats.org/drawingml/2006/main" noGrp="1"/>
          </p:cNvSpPr>
          <p:nvPr/>
        </p:nvSpPr>
        <p:spPr>
          <a:xfrm xmlns:a="http://schemas.openxmlformats.org/drawingml/2006/main">
            <a:off x="4572000" y="2857500"/>
            <a:ext cx="304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i="0">
                <a:solidFill>
                  <a:srgbClr val="AFC0D4"/>
                </a:solidFill>
                <a:latin typeface="Arial"/>
                <a:ea typeface="Arial"/>
                <a:cs typeface="Arial"/>
              </a:defRPr>
            </a:pPr>
            <a:r>
              <a:rPr sz="1575" b="0" i="0">
                <a:solidFill>
                  <a:srgbClr val="AFC0D4"/>
                </a:solidFill>
                <a:latin typeface="Arial"/>
                <a:ea typeface="Arial"/>
                <a:cs typeface="Arial"/>
              </a:rPr>
              <a:t>Freeze the model, threshold, preprocessing, and deployment contract before opening 8,566 final-test frames once.</a:t>
            </a:r>
          </a:p>
        </p:txBody>
      </p:sp>
      <p:sp>
        <p:nvSpPr>
          <p:cNvPr id="13" name="">
            <a:extLst xmlns:a="http://schemas.openxmlformats.org/drawingml/2006/main">
              <a:ext uri="{FF2B5EF4-FFF2-40B4-BE49-F238E27FC236}">
                <a16:creationId xmlns:a16="http://schemas.microsoft.com/office/drawing/2014/main" id="{FA63382F-D33E-45DB-AF8A-E96E35A3BB36}"/>
              </a:ext>
            </a:extLst>
          </p:cNvPr>
          <p:cNvSpPr>
            <a:spLocks xmlns:a="http://schemas.openxmlformats.org/drawingml/2006/main" noGrp="1"/>
          </p:cNvSpPr>
          <p:nvPr/>
        </p:nvSpPr>
        <p:spPr>
          <a:xfrm xmlns:a="http://schemas.openxmlformats.org/drawingml/2006/main">
            <a:off x="7858125" y="1666875"/>
            <a:ext cx="19050" cy="3714750"/>
          </a:xfrm>
          <a:prstGeom xmlns:a="http://schemas.openxmlformats.org/drawingml/2006/main" prst="rect">
            <a:avLst/>
          </a:prstGeom>
          <a:solidFill xmlns:a="http://schemas.openxmlformats.org/drawingml/2006/main">
            <a:srgbClr val="26415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D86DE51-8F3E-40CB-BBF8-898DAF6AA2C1}"/>
              </a:ext>
            </a:extLst>
          </p:cNvPr>
          <p:cNvSpPr>
            <a:spLocks xmlns:a="http://schemas.openxmlformats.org/drawingml/2006/main" noGrp="1"/>
          </p:cNvSpPr>
          <p:nvPr/>
        </p:nvSpPr>
        <p:spPr>
          <a:xfrm xmlns:a="http://schemas.openxmlformats.org/drawingml/2006/main">
            <a:off x="8334375" y="16668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buNone/>
              <a:defRPr sz="2250" b="1" i="0">
                <a:solidFill>
                  <a:srgbClr val="38D39F"/>
                </a:solidFill>
                <a:latin typeface="Arial"/>
                <a:ea typeface="Arial"/>
                <a:cs typeface="Arial"/>
              </a:defRPr>
            </a:pPr>
            <a:r>
              <a:rPr sz="2250" b="1" i="0">
                <a:solidFill>
                  <a:srgbClr val="38D39F"/>
                </a:solidFill>
                <a:latin typeface="Arial"/>
                <a:ea typeface="Arial"/>
                <a:cs typeface="Arial"/>
              </a:rPr>
              <a:t>Next engineering step</a:t>
            </a:r>
          </a:p>
        </p:txBody>
      </p:sp>
      <p:sp>
        <p:nvSpPr>
          <p:cNvPr id="15" name="">
            <a:extLst xmlns:a="http://schemas.openxmlformats.org/drawingml/2006/main">
              <a:ext uri="{FF2B5EF4-FFF2-40B4-BE49-F238E27FC236}">
                <a16:creationId xmlns:a16="http://schemas.microsoft.com/office/drawing/2014/main" id="{8138F486-A0FF-4541-9CEB-5F5A364877F9}"/>
              </a:ext>
            </a:extLst>
          </p:cNvPr>
          <p:cNvSpPr>
            <a:spLocks xmlns:a="http://schemas.openxmlformats.org/drawingml/2006/main" noGrp="1"/>
          </p:cNvSpPr>
          <p:nvPr/>
        </p:nvSpPr>
        <p:spPr>
          <a:xfrm xmlns:a="http://schemas.openxmlformats.org/drawingml/2006/main">
            <a:off x="8334375" y="2171700"/>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274"/>
          </a:bodyPr>
          <a:lstStyle xmlns:a="http://schemas.openxmlformats.org/drawingml/2006/main"/>
          <a:p xmlns:a="http://schemas.openxmlformats.org/drawingml/2006/main">
            <a:pPr>
              <a:buNone/>
              <a:defRPr sz="2550" b="1" i="0">
                <a:solidFill>
                  <a:srgbClr val="F7FAFC"/>
                </a:solidFill>
                <a:latin typeface="Arial"/>
                <a:ea typeface="Arial"/>
                <a:cs typeface="Arial"/>
              </a:defRPr>
            </a:pPr>
            <a:r>
              <a:rPr sz="2550" b="1" i="0">
                <a:solidFill>
                  <a:srgbClr val="F7FAFC"/>
                </a:solidFill>
                <a:latin typeface="Arial"/>
                <a:ea typeface="Arial"/>
                <a:cs typeface="Arial"/>
              </a:rPr>
              <a:t>Improve before scaling claims</a:t>
            </a:r>
          </a:p>
        </p:txBody>
      </p:sp>
      <p:sp>
        <p:nvSpPr>
          <p:cNvPr id="16" name="">
            <a:extLst xmlns:a="http://schemas.openxmlformats.org/drawingml/2006/main">
              <a:ext uri="{FF2B5EF4-FFF2-40B4-BE49-F238E27FC236}">
                <a16:creationId xmlns:a16="http://schemas.microsoft.com/office/drawing/2014/main" id="{45F2B550-66F2-41CC-A047-3DAF9DA234D3}"/>
              </a:ext>
            </a:extLst>
          </p:cNvPr>
          <p:cNvSpPr>
            <a:spLocks xmlns:a="http://schemas.openxmlformats.org/drawingml/2006/main" noGrp="1"/>
          </p:cNvSpPr>
          <p:nvPr/>
        </p:nvSpPr>
        <p:spPr>
          <a:xfrm xmlns:a="http://schemas.openxmlformats.org/drawingml/2006/main">
            <a:off x="8334375" y="3048000"/>
            <a:ext cx="304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i="0">
                <a:solidFill>
                  <a:srgbClr val="AFC0D4"/>
                </a:solidFill>
                <a:latin typeface="Arial"/>
                <a:ea typeface="Arial"/>
                <a:cs typeface="Arial"/>
              </a:defRPr>
            </a:pPr>
            <a:r>
              <a:rPr sz="1575" b="0" i="0">
                <a:solidFill>
                  <a:srgbClr val="AFC0D4"/>
                </a:solidFill>
                <a:latin typeface="Arial"/>
                <a:ea typeface="Arial"/>
                <a:cs typeface="Arial"/>
              </a:rPr>
              <a:t>Train longer, address class imbalance, validate on more flights, then build and benchmark TensorRT on the target edge device.</a:t>
            </a:r>
          </a:p>
        </p:txBody>
      </p:sp>
      <p:sp>
        <p:nvSpPr>
          <p:cNvPr id="17" name="">
            <a:extLst xmlns:a="http://schemas.openxmlformats.org/drawingml/2006/main">
              <a:ext uri="{FF2B5EF4-FFF2-40B4-BE49-F238E27FC236}">
                <a16:creationId xmlns:a16="http://schemas.microsoft.com/office/drawing/2014/main" id="{C837F289-786D-4E28-BED7-3A2F94072067}"/>
              </a:ext>
            </a:extLst>
          </p:cNvPr>
          <p:cNvSpPr>
            <a:spLocks xmlns:a="http://schemas.openxmlformats.org/drawingml/2006/main" noGrp="1"/>
          </p:cNvSpPr>
          <p:nvPr/>
        </p:nvSpPr>
        <p:spPr>
          <a:xfrm xmlns:a="http://schemas.openxmlformats.org/drawingml/2006/main">
            <a:off x="1476375" y="5810250"/>
            <a:ext cx="923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725" b="1" i="0">
                <a:solidFill>
                  <a:srgbClr val="38D39F"/>
                </a:solidFill>
                <a:latin typeface="Arial"/>
                <a:ea typeface="Arial"/>
                <a:cs typeface="Arial"/>
              </a:defRPr>
            </a:pPr>
            <a:r>
              <a:rPr sz="1725" b="1" i="0">
                <a:solidFill>
                  <a:srgbClr val="38D39F"/>
                </a:solidFill>
                <a:latin typeface="Arial"/>
                <a:ea typeface="Arial"/>
                <a:cs typeface="Arial"/>
              </a:rPr>
              <a:t>Review 2 outcome: E2 image + state leads, with a reproducible product path.</a:t>
            </a:r>
          </a:p>
        </p:txBody>
      </p:sp>
    </p:spTree>
    <p:extLst>
      <p:ext uri="{BB962C8B-B14F-4D97-AF65-F5344CB8AC3E}">
        <p14:creationId xmlns:p14="http://schemas.microsoft.com/office/powerpoint/2010/main" val="2060858572"/>
      </p:ext>
    </p:extLst>
  </p:cSld>
</p:sld>
</file>

<file path=ppt/slides/slide11.xml><?xml version="1.0" encoding="utf-8"?>
<p:sld xmlns:p="http://schemas.openxmlformats.org/presentationml/2006/main">
  <p:cSld>
    <p:bg>
      <p:bgPr>
        <a:solidFill xmlns:a="http://schemas.openxmlformats.org/drawingml/2006/main">
          <a:srgbClr val="08152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61D7281-FFF1-46E6-887D-B2FD680A188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CC7D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A6D15F-16B5-4FBD-8840-0AEC190FC9C0}"/>
              </a:ext>
            </a:extLst>
          </p:cNvPr>
          <p:cNvSpPr>
            <a:spLocks xmlns:a="http://schemas.openxmlformats.org/drawingml/2006/main" noGrp="1"/>
          </p:cNvSpPr>
          <p:nvPr/>
        </p:nvSpPr>
        <p:spPr>
          <a:xfrm xmlns:a="http://schemas.openxmlformats.org/drawingml/2006/main">
            <a:off x="628650" y="38100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buNone/>
              <a:defRPr sz="3300" b="1" i="0">
                <a:solidFill>
                  <a:srgbClr val="F7FAFC"/>
                </a:solidFill>
                <a:latin typeface="Arial"/>
                <a:ea typeface="Arial"/>
                <a:cs typeface="Arial"/>
              </a:defRPr>
            </a:pPr>
            <a:r>
              <a:rPr sz="3300" b="1" i="0">
                <a:solidFill>
                  <a:srgbClr val="F7FAFC"/>
                </a:solidFill>
                <a:latin typeface="Arial"/>
                <a:ea typeface="Arial"/>
                <a:cs typeface="Arial"/>
              </a:rPr>
              <a:t>Likely judge questions</a:t>
            </a:r>
          </a:p>
        </p:txBody>
      </p:sp>
      <p:sp>
        <p:nvSpPr>
          <p:cNvPr id="3" name="">
            <a:extLst xmlns:a="http://schemas.openxmlformats.org/drawingml/2006/main">
              <a:ext uri="{FF2B5EF4-FFF2-40B4-BE49-F238E27FC236}">
                <a16:creationId xmlns:a16="http://schemas.microsoft.com/office/drawing/2014/main" id="{B2A47C6F-D9D5-4243-BE7C-714B00AC9437}"/>
              </a:ext>
            </a:extLst>
          </p:cNvPr>
          <p:cNvSpPr>
            <a:spLocks xmlns:a="http://schemas.openxmlformats.org/drawingml/2006/main" noGrp="1"/>
          </p:cNvSpPr>
          <p:nvPr/>
        </p:nvSpPr>
        <p:spPr>
          <a:xfrm xmlns:a="http://schemas.openxmlformats.org/drawingml/2006/main">
            <a:off x="647700" y="10001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i="0">
                <a:solidFill>
                  <a:srgbClr val="AFC0D4"/>
                </a:solidFill>
                <a:latin typeface="Arial"/>
                <a:ea typeface="Arial"/>
                <a:cs typeface="Arial"/>
              </a:defRPr>
            </a:pPr>
            <a:r>
              <a:rPr sz="1575" b="0" i="0">
                <a:solidFill>
                  <a:srgbClr val="AFC0D4"/>
                </a:solidFill>
                <a:latin typeface="Arial"/>
                <a:ea typeface="Arial"/>
                <a:cs typeface="Arial"/>
              </a:rPr>
              <a:t>Short answers the whole team should use consistently</a:t>
            </a:r>
          </a:p>
        </p:txBody>
      </p:sp>
      <p:sp>
        <p:nvSpPr>
          <p:cNvPr id="4" name="">
            <a:extLst xmlns:a="http://schemas.openxmlformats.org/drawingml/2006/main">
              <a:ext uri="{FF2B5EF4-FFF2-40B4-BE49-F238E27FC236}">
                <a16:creationId xmlns:a16="http://schemas.microsoft.com/office/drawing/2014/main" id="{B0E68524-CF2F-4803-8992-50EF0F940052}"/>
              </a:ext>
            </a:extLst>
          </p:cNvPr>
          <p:cNvSpPr>
            <a:spLocks xmlns:a="http://schemas.openxmlformats.org/drawingml/2006/main" noGrp="1"/>
          </p:cNvSpPr>
          <p:nvPr/>
        </p:nvSpPr>
        <p:spPr>
          <a:xfrm xmlns:a="http://schemas.openxmlformats.org/drawingml/2006/main">
            <a:off x="628650" y="64770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0" i="0">
                <a:solidFill>
                  <a:srgbClr val="AFC0D4"/>
                </a:solidFill>
                <a:latin typeface="Arial"/>
                <a:ea typeface="Arial"/>
                <a:cs typeface="Arial"/>
              </a:defRPr>
            </a:pPr>
            <a:r>
              <a:rPr sz="1050" b="0" i="0">
                <a:solidFill>
                  <a:srgbClr val="AFC0D4"/>
                </a:solidFill>
                <a:latin typeface="Arial"/>
                <a:ea typeface="Arial"/>
                <a:cs typeface="Arial"/>
              </a:rPr>
              <a:t>Development evidence only. Final test remains sealed.</a:t>
            </a:r>
          </a:p>
        </p:txBody>
      </p:sp>
      <p:sp>
        <p:nvSpPr>
          <p:cNvPr id="5" name="">
            <a:extLst xmlns:a="http://schemas.openxmlformats.org/drawingml/2006/main">
              <a:ext uri="{FF2B5EF4-FFF2-40B4-BE49-F238E27FC236}">
                <a16:creationId xmlns:a16="http://schemas.microsoft.com/office/drawing/2014/main" id="{8FBC7A41-7508-4085-BDF7-F3E60BFC5D64}"/>
              </a:ext>
            </a:extLst>
          </p:cNvPr>
          <p:cNvSpPr>
            <a:spLocks xmlns:a="http://schemas.openxmlformats.org/drawingml/2006/main" noGrp="1"/>
          </p:cNvSpPr>
          <p:nvPr/>
        </p:nvSpPr>
        <p:spPr>
          <a:xfrm xmlns:a="http://schemas.openxmlformats.org/drawingml/2006/main">
            <a:off x="1114425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0" i="0">
                <a:solidFill>
                  <a:srgbClr val="AFC0D4"/>
                </a:solidFill>
                <a:latin typeface="Arial"/>
                <a:ea typeface="Arial"/>
                <a:cs typeface="Arial"/>
              </a:defRPr>
            </a:pPr>
            <a:r>
              <a:rPr sz="1050" b="0" i="0">
                <a:solidFill>
                  <a:srgbClr val="AFC0D4"/>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7C6C1685-79D2-4A7F-9A8A-9752CB6B2572}"/>
              </a:ext>
            </a:extLst>
          </p:cNvPr>
          <p:cNvSpPr>
            <a:spLocks xmlns:a="http://schemas.openxmlformats.org/drawingml/2006/main" noGrp="1"/>
          </p:cNvSpPr>
          <p:nvPr/>
        </p:nvSpPr>
        <p:spPr>
          <a:xfrm xmlns:a="http://schemas.openxmlformats.org/drawingml/2006/main">
            <a:off x="714375" y="16192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sz="1800" b="1" i="0">
                <a:solidFill>
                  <a:srgbClr val="F6A20A"/>
                </a:solidFill>
                <a:latin typeface="Arial"/>
                <a:ea typeface="Arial"/>
                <a:cs typeface="Arial"/>
              </a:defRPr>
            </a:pPr>
            <a:r>
              <a:rPr sz="1800" b="1" i="0">
                <a:solidFill>
                  <a:srgbClr val="F6A20A"/>
                </a:solidFill>
                <a:latin typeface="Arial"/>
                <a:ea typeface="Arial"/>
                <a:cs typeface="Arial"/>
              </a:rPr>
              <a:t>Why are the metrics low?</a:t>
            </a:r>
          </a:p>
        </p:txBody>
      </p:sp>
      <p:sp>
        <p:nvSpPr>
          <p:cNvPr id="7" name="">
            <a:extLst xmlns:a="http://schemas.openxmlformats.org/drawingml/2006/main">
              <a:ext uri="{FF2B5EF4-FFF2-40B4-BE49-F238E27FC236}">
                <a16:creationId xmlns:a16="http://schemas.microsoft.com/office/drawing/2014/main" id="{DE56FBBB-053D-4D36-B523-12F5845903C3}"/>
              </a:ext>
            </a:extLst>
          </p:cNvPr>
          <p:cNvSpPr>
            <a:spLocks xmlns:a="http://schemas.openxmlformats.org/drawingml/2006/main" noGrp="1"/>
          </p:cNvSpPr>
          <p:nvPr/>
        </p:nvSpPr>
        <p:spPr>
          <a:xfrm xmlns:a="http://schemas.openxmlformats.org/drawingml/2006/main">
            <a:off x="714375" y="20002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67"/>
          </a:bodyPr>
          <a:lstStyle xmlns:a="http://schemas.openxmlformats.org/drawingml/2006/main"/>
          <a:p xmlns:a="http://schemas.openxmlformats.org/drawingml/2006/main">
            <a:pPr>
              <a:buNone/>
              <a:defRPr sz="1500" b="0" i="0">
                <a:solidFill>
                  <a:srgbClr val="F7FAFC"/>
                </a:solidFill>
                <a:latin typeface="Arial"/>
                <a:ea typeface="Arial"/>
                <a:cs typeface="Arial"/>
              </a:defRPr>
            </a:pPr>
            <a:r>
              <a:rPr sz="1500" b="0" i="0">
                <a:solidFill>
                  <a:srgbClr val="F7FAFC"/>
                </a:solidFill>
                <a:latin typeface="Arial"/>
                <a:ea typeface="Arial"/>
                <a:cs typeface="Arial"/>
              </a:rPr>
              <a:t>Strict held-out object detection counts false alarms and misses. Small aerial targets, class imbalance, and one-pass training make the task hard. The values are not deployment-ready.</a:t>
            </a:r>
          </a:p>
        </p:txBody>
      </p:sp>
      <p:sp>
        <p:nvSpPr>
          <p:cNvPr id="8" name="">
            <a:extLst xmlns:a="http://schemas.openxmlformats.org/drawingml/2006/main">
              <a:ext uri="{FF2B5EF4-FFF2-40B4-BE49-F238E27FC236}">
                <a16:creationId xmlns:a16="http://schemas.microsoft.com/office/drawing/2014/main" id="{115B0A49-5A42-4C14-AEC0-058A43A10E72}"/>
              </a:ext>
            </a:extLst>
          </p:cNvPr>
          <p:cNvSpPr>
            <a:spLocks xmlns:a="http://schemas.openxmlformats.org/drawingml/2006/main" noGrp="1"/>
          </p:cNvSpPr>
          <p:nvPr/>
        </p:nvSpPr>
        <p:spPr>
          <a:xfrm xmlns:a="http://schemas.openxmlformats.org/drawingml/2006/main">
            <a:off x="714375" y="328612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sz="1800" b="1" i="0">
                <a:solidFill>
                  <a:srgbClr val="2CC7DF"/>
                </a:solidFill>
                <a:latin typeface="Arial"/>
                <a:ea typeface="Arial"/>
                <a:cs typeface="Arial"/>
              </a:defRPr>
            </a:pPr>
            <a:r>
              <a:rPr sz="1800" b="1" i="0">
                <a:solidFill>
                  <a:srgbClr val="2CC7DF"/>
                </a:solidFill>
                <a:latin typeface="Arial"/>
                <a:ea typeface="Arial"/>
                <a:cs typeface="Arial"/>
              </a:rPr>
              <a:t>Did flight state help?</a:t>
            </a:r>
          </a:p>
        </p:txBody>
      </p:sp>
      <p:sp>
        <p:nvSpPr>
          <p:cNvPr id="9" name="">
            <a:extLst xmlns:a="http://schemas.openxmlformats.org/drawingml/2006/main">
              <a:ext uri="{FF2B5EF4-FFF2-40B4-BE49-F238E27FC236}">
                <a16:creationId xmlns:a16="http://schemas.microsoft.com/office/drawing/2014/main" id="{B56884C0-D358-457B-B734-27D0BDA08713}"/>
              </a:ext>
            </a:extLst>
          </p:cNvPr>
          <p:cNvSpPr>
            <a:spLocks xmlns:a="http://schemas.openxmlformats.org/drawingml/2006/main" noGrp="1"/>
          </p:cNvSpPr>
          <p:nvPr/>
        </p:nvSpPr>
        <p:spPr>
          <a:xfrm xmlns:a="http://schemas.openxmlformats.org/drawingml/2006/main">
            <a:off x="714375" y="3667125"/>
            <a:ext cx="4762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i="0">
                <a:solidFill>
                  <a:srgbClr val="F7FAFC"/>
                </a:solidFill>
                <a:latin typeface="Arial"/>
                <a:ea typeface="Arial"/>
                <a:cs typeface="Arial"/>
              </a:defRPr>
            </a:pPr>
            <a:r>
              <a:rPr sz="1500" b="0" i="0">
                <a:solidFill>
                  <a:srgbClr val="F7FAFC"/>
                </a:solidFill>
                <a:latin typeface="Arial"/>
                <a:ea typeface="Arial"/>
                <a:cs typeface="Arial"/>
              </a:rPr>
              <a:t>Yes in development. E2 image + state led image-only E1; E4 did not improve on E2.</a:t>
            </a:r>
          </a:p>
        </p:txBody>
      </p:sp>
      <p:sp>
        <p:nvSpPr>
          <p:cNvPr id="10" name="">
            <a:extLst xmlns:a="http://schemas.openxmlformats.org/drawingml/2006/main">
              <a:ext uri="{FF2B5EF4-FFF2-40B4-BE49-F238E27FC236}">
                <a16:creationId xmlns:a16="http://schemas.microsoft.com/office/drawing/2014/main" id="{FABED0B7-6757-4584-A6F2-34571E3EC761}"/>
              </a:ext>
            </a:extLst>
          </p:cNvPr>
          <p:cNvSpPr>
            <a:spLocks xmlns:a="http://schemas.openxmlformats.org/drawingml/2006/main" noGrp="1"/>
          </p:cNvSpPr>
          <p:nvPr/>
        </p:nvSpPr>
        <p:spPr>
          <a:xfrm xmlns:a="http://schemas.openxmlformats.org/drawingml/2006/main">
            <a:off x="714375" y="481012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sz="1800" b="1" i="0">
                <a:solidFill>
                  <a:srgbClr val="9B83EE"/>
                </a:solidFill>
                <a:latin typeface="Arial"/>
                <a:ea typeface="Arial"/>
                <a:cs typeface="Arial"/>
              </a:defRPr>
            </a:pPr>
            <a:r>
              <a:rPr sz="1800" b="1" i="0">
                <a:solidFill>
                  <a:srgbClr val="9B83EE"/>
                </a:solidFill>
                <a:latin typeface="Arial"/>
                <a:ea typeface="Arial"/>
                <a:cs typeface="Arial"/>
              </a:rPr>
              <a:t>Did Review 1 show the same ordering?</a:t>
            </a:r>
          </a:p>
        </p:txBody>
      </p:sp>
      <p:sp>
        <p:nvSpPr>
          <p:cNvPr id="11" name="">
            <a:extLst xmlns:a="http://schemas.openxmlformats.org/drawingml/2006/main">
              <a:ext uri="{FF2B5EF4-FFF2-40B4-BE49-F238E27FC236}">
                <a16:creationId xmlns:a16="http://schemas.microsoft.com/office/drawing/2014/main" id="{C4E6BE5D-C740-403B-864A-E1462B239F20}"/>
              </a:ext>
            </a:extLst>
          </p:cNvPr>
          <p:cNvSpPr>
            <a:spLocks xmlns:a="http://schemas.openxmlformats.org/drawingml/2006/main" noGrp="1"/>
          </p:cNvSpPr>
          <p:nvPr/>
        </p:nvSpPr>
        <p:spPr>
          <a:xfrm xmlns:a="http://schemas.openxmlformats.org/drawingml/2006/main">
            <a:off x="714375" y="5191125"/>
            <a:ext cx="4762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i="0">
                <a:solidFill>
                  <a:srgbClr val="F7FAFC"/>
                </a:solidFill>
                <a:latin typeface="Arial"/>
                <a:ea typeface="Arial"/>
                <a:cs typeface="Arial"/>
              </a:defRPr>
            </a:pPr>
            <a:r>
              <a:rPr sz="1500" b="0" i="0">
                <a:solidFill>
                  <a:srgbClr val="F7FAFC"/>
                </a:solidFill>
                <a:latin typeface="Arial"/>
                <a:ea typeface="Arial"/>
                <a:cs typeface="Arial"/>
              </a:rPr>
              <a:t>Yes. The corrected labels identify E2 as the image-plus-state arm in both reviews.</a:t>
            </a:r>
          </a:p>
        </p:txBody>
      </p:sp>
      <p:sp>
        <p:nvSpPr>
          <p:cNvPr id="12" name="">
            <a:extLst xmlns:a="http://schemas.openxmlformats.org/drawingml/2006/main">
              <a:ext uri="{FF2B5EF4-FFF2-40B4-BE49-F238E27FC236}">
                <a16:creationId xmlns:a16="http://schemas.microsoft.com/office/drawing/2014/main" id="{66C5D4F9-43B6-4AE0-B64C-27A9BEABAF91}"/>
              </a:ext>
            </a:extLst>
          </p:cNvPr>
          <p:cNvSpPr>
            <a:spLocks xmlns:a="http://schemas.openxmlformats.org/drawingml/2006/main" noGrp="1"/>
          </p:cNvSpPr>
          <p:nvPr/>
        </p:nvSpPr>
        <p:spPr>
          <a:xfrm xmlns:a="http://schemas.openxmlformats.org/drawingml/2006/main">
            <a:off x="5905500" y="1619250"/>
            <a:ext cx="19050" cy="4333875"/>
          </a:xfrm>
          <a:prstGeom xmlns:a="http://schemas.openxmlformats.org/drawingml/2006/main" prst="rect">
            <a:avLst/>
          </a:prstGeom>
          <a:solidFill xmlns:a="http://schemas.openxmlformats.org/drawingml/2006/main">
            <a:srgbClr val="26415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D2AD1B7-1567-432A-8967-E6B41E1DDCAD}"/>
              </a:ext>
            </a:extLst>
          </p:cNvPr>
          <p:cNvSpPr>
            <a:spLocks xmlns:a="http://schemas.openxmlformats.org/drawingml/2006/main" noGrp="1"/>
          </p:cNvSpPr>
          <p:nvPr/>
        </p:nvSpPr>
        <p:spPr>
          <a:xfrm xmlns:a="http://schemas.openxmlformats.org/drawingml/2006/main">
            <a:off x="6429375" y="16192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sz="1800" b="1" i="0">
                <a:solidFill>
                  <a:srgbClr val="F6A20A"/>
                </a:solidFill>
                <a:latin typeface="Arial"/>
                <a:ea typeface="Arial"/>
                <a:cs typeface="Arial"/>
              </a:defRPr>
            </a:pPr>
            <a:r>
              <a:rPr sz="1800" b="1" i="0">
                <a:solidFill>
                  <a:srgbClr val="F6A20A"/>
                </a:solidFill>
                <a:latin typeface="Arial"/>
                <a:ea typeface="Arial"/>
                <a:cs typeface="Arial"/>
              </a:rPr>
              <a:t>Did you use the final test?</a:t>
            </a:r>
          </a:p>
        </p:txBody>
      </p:sp>
      <p:sp>
        <p:nvSpPr>
          <p:cNvPr id="14" name="">
            <a:extLst xmlns:a="http://schemas.openxmlformats.org/drawingml/2006/main">
              <a:ext uri="{FF2B5EF4-FFF2-40B4-BE49-F238E27FC236}">
                <a16:creationId xmlns:a16="http://schemas.microsoft.com/office/drawing/2014/main" id="{272D05B0-8A1B-4CE1-AD67-F0360ED7B393}"/>
              </a:ext>
            </a:extLst>
          </p:cNvPr>
          <p:cNvSpPr>
            <a:spLocks xmlns:a="http://schemas.openxmlformats.org/drawingml/2006/main" noGrp="1"/>
          </p:cNvSpPr>
          <p:nvPr/>
        </p:nvSpPr>
        <p:spPr>
          <a:xfrm xmlns:a="http://schemas.openxmlformats.org/drawingml/2006/main">
            <a:off x="6429375" y="2000250"/>
            <a:ext cx="4762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i="0">
                <a:solidFill>
                  <a:srgbClr val="F7FAFC"/>
                </a:solidFill>
                <a:latin typeface="Arial"/>
                <a:ea typeface="Arial"/>
                <a:cs typeface="Arial"/>
              </a:defRPr>
            </a:pPr>
            <a:r>
              <a:rPr sz="1500" b="0" i="0">
                <a:solidFill>
                  <a:srgbClr val="F7FAFC"/>
                </a:solidFill>
                <a:latin typeface="Arial"/>
                <a:ea typeface="Arial"/>
                <a:cs typeface="Arial"/>
              </a:rPr>
              <a:t>No. All selection used the development flight. The 8,566-frame final test remains sealed.</a:t>
            </a:r>
          </a:p>
        </p:txBody>
      </p:sp>
      <p:sp>
        <p:nvSpPr>
          <p:cNvPr id="15" name="">
            <a:extLst xmlns:a="http://schemas.openxmlformats.org/drawingml/2006/main">
              <a:ext uri="{FF2B5EF4-FFF2-40B4-BE49-F238E27FC236}">
                <a16:creationId xmlns:a16="http://schemas.microsoft.com/office/drawing/2014/main" id="{06055D5D-FD9F-45DE-B829-5AD01DE8C061}"/>
              </a:ext>
            </a:extLst>
          </p:cNvPr>
          <p:cNvSpPr>
            <a:spLocks xmlns:a="http://schemas.openxmlformats.org/drawingml/2006/main" noGrp="1"/>
          </p:cNvSpPr>
          <p:nvPr/>
        </p:nvSpPr>
        <p:spPr>
          <a:xfrm xmlns:a="http://schemas.openxmlformats.org/drawingml/2006/main">
            <a:off x="6429375" y="328612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sz="1800" b="1" i="0">
                <a:solidFill>
                  <a:srgbClr val="2CC7DF"/>
                </a:solidFill>
                <a:latin typeface="Arial"/>
                <a:ea typeface="Arial"/>
                <a:cs typeface="Arial"/>
              </a:defRPr>
            </a:pPr>
            <a:r>
              <a:rPr sz="1800" b="1" i="0">
                <a:solidFill>
                  <a:srgbClr val="2CC7DF"/>
                </a:solidFill>
                <a:latin typeface="Arial"/>
                <a:ea typeface="Arial"/>
                <a:cs typeface="Arial"/>
              </a:rPr>
              <a:t>Is the demo live inference?</a:t>
            </a:r>
          </a:p>
        </p:txBody>
      </p:sp>
      <p:sp>
        <p:nvSpPr>
          <p:cNvPr id="16" name="">
            <a:extLst xmlns:a="http://schemas.openxmlformats.org/drawingml/2006/main">
              <a:ext uri="{FF2B5EF4-FFF2-40B4-BE49-F238E27FC236}">
                <a16:creationId xmlns:a16="http://schemas.microsoft.com/office/drawing/2014/main" id="{35C8E407-A97A-4B21-A4C5-C5D9DAE145FC}"/>
              </a:ext>
            </a:extLst>
          </p:cNvPr>
          <p:cNvSpPr>
            <a:spLocks xmlns:a="http://schemas.openxmlformats.org/drawingml/2006/main" noGrp="1"/>
          </p:cNvSpPr>
          <p:nvPr/>
        </p:nvSpPr>
        <p:spPr>
          <a:xfrm xmlns:a="http://schemas.openxmlformats.org/drawingml/2006/main">
            <a:off x="6429375" y="3667125"/>
            <a:ext cx="4762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i="0">
                <a:solidFill>
                  <a:srgbClr val="F7FAFC"/>
                </a:solidFill>
                <a:latin typeface="Arial"/>
                <a:ea typeface="Arial"/>
                <a:cs typeface="Arial"/>
              </a:defRPr>
            </a:pPr>
            <a:r>
              <a:rPr sz="1500" b="0" i="0">
                <a:solidFill>
                  <a:srgbClr val="F7FAFC"/>
                </a:solidFill>
                <a:latin typeface="Arial"/>
                <a:ea typeface="Arial"/>
                <a:cs typeface="Arial"/>
              </a:rPr>
              <a:t>The judge demo is a cached replay of real AU-AIR frames and stored GPU-computed predictions. The UI labels that provenance clearly.</a:t>
            </a:r>
          </a:p>
        </p:txBody>
      </p:sp>
      <p:sp>
        <p:nvSpPr>
          <p:cNvPr id="17" name="">
            <a:extLst xmlns:a="http://schemas.openxmlformats.org/drawingml/2006/main">
              <a:ext uri="{FF2B5EF4-FFF2-40B4-BE49-F238E27FC236}">
                <a16:creationId xmlns:a16="http://schemas.microsoft.com/office/drawing/2014/main" id="{B7C38246-7A83-4E8B-B585-2DA23D7A36F0}"/>
              </a:ext>
            </a:extLst>
          </p:cNvPr>
          <p:cNvSpPr>
            <a:spLocks xmlns:a="http://schemas.openxmlformats.org/drawingml/2006/main" noGrp="1"/>
          </p:cNvSpPr>
          <p:nvPr/>
        </p:nvSpPr>
        <p:spPr>
          <a:xfrm xmlns:a="http://schemas.openxmlformats.org/drawingml/2006/main">
            <a:off x="6429375" y="481012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sz="1800" b="1" i="0">
                <a:solidFill>
                  <a:srgbClr val="38D39F"/>
                </a:solidFill>
                <a:latin typeface="Arial"/>
                <a:ea typeface="Arial"/>
                <a:cs typeface="Arial"/>
              </a:defRPr>
            </a:pPr>
            <a:r>
              <a:rPr sz="1800" b="1" i="0">
                <a:solidFill>
                  <a:srgbClr val="38D39F"/>
                </a:solidFill>
                <a:latin typeface="Arial"/>
                <a:ea typeface="Arial"/>
                <a:cs typeface="Arial"/>
              </a:rPr>
              <a:t>Is TensorRT complete?</a:t>
            </a:r>
          </a:p>
        </p:txBody>
      </p:sp>
      <p:sp>
        <p:nvSpPr>
          <p:cNvPr id="18" name="">
            <a:extLst xmlns:a="http://schemas.openxmlformats.org/drawingml/2006/main">
              <a:ext uri="{FF2B5EF4-FFF2-40B4-BE49-F238E27FC236}">
                <a16:creationId xmlns:a16="http://schemas.microsoft.com/office/drawing/2014/main" id="{4AFCA186-9C94-4957-9F1B-95F59558FBE1}"/>
              </a:ext>
            </a:extLst>
          </p:cNvPr>
          <p:cNvSpPr>
            <a:spLocks xmlns:a="http://schemas.openxmlformats.org/drawingml/2006/main" noGrp="1"/>
          </p:cNvSpPr>
          <p:nvPr/>
        </p:nvSpPr>
        <p:spPr>
          <a:xfrm xmlns:a="http://schemas.openxmlformats.org/drawingml/2006/main">
            <a:off x="6429375" y="5191125"/>
            <a:ext cx="4762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i="0">
                <a:solidFill>
                  <a:srgbClr val="F7FAFC"/>
                </a:solidFill>
                <a:latin typeface="Arial"/>
                <a:ea typeface="Arial"/>
                <a:cs typeface="Arial"/>
              </a:defRPr>
            </a:pPr>
            <a:r>
              <a:rPr sz="1500" b="0" i="0">
                <a:solidFill>
                  <a:srgbClr val="F7FAFC"/>
                </a:solidFill>
                <a:latin typeface="Arial"/>
                <a:ea typeface="Arial"/>
                <a:cs typeface="Arial"/>
              </a:rPr>
              <a:t>The scripts are complete. The engine will be built and benchmarked only on the target NVIDIA edge device.</a:t>
            </a:r>
          </a:p>
        </p:txBody>
      </p:sp>
    </p:spTree>
    <p:extLst>
      <p:ext uri="{BB962C8B-B14F-4D97-AF65-F5344CB8AC3E}">
        <p14:creationId xmlns:p14="http://schemas.microsoft.com/office/powerpoint/2010/main" val="176612285"/>
      </p:ext>
    </p:extLst>
  </p:cSld>
</p:sld>
</file>

<file path=ppt/slides/slide12.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graphicFrame>
        <p:nvGraphicFramePr>
          <p:cNvPr id="15" name="Chart"/>
          <p:cNvGraphicFramePr/>
          <p:nvPr/>
        </p:nvGraphicFramePr>
        <p:xfrm>
          <a:off xmlns:a="http://schemas.openxmlformats.org/drawingml/2006/main" x="1000125" y="1809750"/>
          <a:ext xmlns:a="http://schemas.openxmlformats.org/drawingml/2006/main" cx="10191750" cy="3762375"/>
        </p:xfrm>
        <a:graphic xmlns:a="http://schemas.openxmlformats.org/drawingml/2006/main">
          <a:graphicData uri="http://schemas.openxmlformats.org/drawingml/2006/chart">
            <c:chart xmlns:r="http://schemas.openxmlformats.org/officeDocument/2006/relationships" xmlns:c="http://schemas.openxmlformats.org/drawingml/2006/chart" r:id="R3e8ebdfd359e4a3c"/>
          </a:graphicData>
        </a:graphic>
      </p:graphicFrame>
      <p:sp>
        <p:nvSpPr>
          <p:cNvPr id="9" name="">
            <a:extLst xmlns:a="http://schemas.openxmlformats.org/drawingml/2006/main">
              <a:ext uri="{FF2B5EF4-FFF2-40B4-BE49-F238E27FC236}">
                <a16:creationId xmlns:a16="http://schemas.microsoft.com/office/drawing/2014/main" id="{D6356420-4924-4B80-89C5-0ED9FF2E09B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2D3E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4B299BF-41EB-4E9E-8F35-F0575881C7E1}"/>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F8FAFC"/>
                </a:solidFill>
                <a:latin typeface="Arial"/>
                <a:ea typeface="Arial"/>
                <a:cs typeface="Arial"/>
              </a:defRPr>
            </a:pPr>
            <a:r>
              <a:rPr sz="2250" b="1">
                <a:solidFill>
                  <a:srgbClr val="F8FAFC"/>
                </a:solidFill>
                <a:latin typeface="Arial"/>
                <a:ea typeface="Arial"/>
                <a:cs typeface="Arial"/>
              </a:rPr>
              <a:t>E2 with Google ImageNet backbone</a:t>
            </a:r>
          </a:p>
        </p:txBody>
      </p:sp>
      <p:sp>
        <p:nvSpPr>
          <p:cNvPr id="11" name="">
            <a:extLst xmlns:a="http://schemas.openxmlformats.org/drawingml/2006/main">
              <a:ext uri="{FF2B5EF4-FFF2-40B4-BE49-F238E27FC236}">
                <a16:creationId xmlns:a16="http://schemas.microsoft.com/office/drawing/2014/main" id="{15BEAD5D-9FDC-450E-98A5-F88CFD1F7A16}"/>
              </a:ext>
            </a:extLst>
          </p:cNvPr>
          <p:cNvSpPr>
            <a:spLocks xmlns:a="http://schemas.openxmlformats.org/drawingml/2006/main" noGrp="1"/>
          </p:cNvSpPr>
          <p:nvPr/>
        </p:nvSpPr>
        <p:spPr>
          <a:xfrm xmlns:a="http://schemas.openxmlformats.org/drawingml/2006/main">
            <a:off x="628650" y="1000125"/>
            <a:ext cx="10934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a:solidFill>
                  <a:srgbClr val="A8B6C8"/>
                </a:solidFill>
                <a:latin typeface="Arial"/>
                <a:ea typeface="Arial"/>
                <a:cs typeface="Arial"/>
              </a:defRPr>
            </a:pPr>
            <a:r>
              <a:rPr sz="1275">
                <a:solidFill>
                  <a:srgbClr val="A8B6C8"/>
                </a:solidFill>
                <a:latin typeface="Arial"/>
                <a:ea typeface="Arial"/>
                <a:cs typeface="Arial"/>
              </a:rPr>
              <a:t>Five evaluation metrics, shown on a consistent 0–100% scale</a:t>
            </a:r>
          </a:p>
        </p:txBody>
      </p:sp>
      <p:sp>
        <p:nvSpPr>
          <p:cNvPr id="12" name="">
            <a:extLst xmlns:a="http://schemas.openxmlformats.org/drawingml/2006/main">
              <a:ext uri="{FF2B5EF4-FFF2-40B4-BE49-F238E27FC236}">
                <a16:creationId xmlns:a16="http://schemas.microsoft.com/office/drawing/2014/main" id="{4500C6F8-1EC0-4B19-B293-0C453C313848}"/>
              </a:ext>
            </a:extLst>
          </p:cNvPr>
          <p:cNvSpPr>
            <a:spLocks xmlns:a="http://schemas.openxmlformats.org/drawingml/2006/main" noGrp="1"/>
          </p:cNvSpPr>
          <p:nvPr/>
        </p:nvSpPr>
        <p:spPr>
          <a:xfrm xmlns:a="http://schemas.openxmlformats.org/drawingml/2006/main">
            <a:off x="628650" y="618172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a:solidFill>
                  <a:srgbClr val="71839A"/>
                </a:solidFill>
                <a:latin typeface="Arial"/>
                <a:ea typeface="Arial"/>
                <a:cs typeface="Arial"/>
              </a:defRPr>
            </a:pPr>
            <a:r>
              <a:rPr sz="825">
                <a:solidFill>
                  <a:srgbClr val="71839A"/>
                </a:solidFill>
                <a:latin typeface="Arial"/>
                <a:ea typeface="Arial"/>
                <a:cs typeface="Arial"/>
              </a:rPr>
              <a:t>Separate user-provided result. Not merged into the committed full-pass evidence.</a:t>
            </a:r>
          </a:p>
        </p:txBody>
      </p:sp>
      <p:sp>
        <p:nvSpPr>
          <p:cNvPr id="13" name="">
            <a:extLst xmlns:a="http://schemas.openxmlformats.org/drawingml/2006/main">
              <a:ext uri="{FF2B5EF4-FFF2-40B4-BE49-F238E27FC236}">
                <a16:creationId xmlns:a16="http://schemas.microsoft.com/office/drawing/2014/main" id="{A48443C1-C0A5-4AC7-8D74-3116509E5709}"/>
              </a:ext>
            </a:extLst>
          </p:cNvPr>
          <p:cNvSpPr>
            <a:spLocks xmlns:a="http://schemas.openxmlformats.org/drawingml/2006/main" noGrp="1"/>
          </p:cNvSpPr>
          <p:nvPr/>
        </p:nvSpPr>
        <p:spPr>
          <a:xfrm xmlns:a="http://schemas.openxmlformats.org/drawingml/2006/main">
            <a:off x="11049000" y="618172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825">
                <a:solidFill>
                  <a:srgbClr val="71839A"/>
                </a:solidFill>
                <a:latin typeface="Arial"/>
                <a:ea typeface="Arial"/>
                <a:cs typeface="Arial"/>
              </a:defRPr>
            </a:pPr>
            <a:r>
              <a:rPr sz="825">
                <a:solidFill>
                  <a:srgbClr val="71839A"/>
                </a:solidFill>
                <a:latin typeface="Arial"/>
                <a:ea typeface="Arial"/>
                <a:cs typeface="Arial"/>
              </a:rPr>
              <a:t>12</a:t>
            </a:r>
          </a:p>
        </p:txBody>
      </p:sp>
    </p:spTree>
    <p:extLst>
      <p:ext uri="{BB962C8B-B14F-4D97-AF65-F5344CB8AC3E}">
        <p14:creationId xmlns:p14="http://schemas.microsoft.com/office/powerpoint/2010/main" val="3800008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2026-09-18T21:22:42.7890000Z</dcterms:created>
  <dcterms:modified xsi:type="dcterms:W3CDTF">2026-09-18T21:22:42.7890000Z</dcterms:modified>
</coreProperties>
</file>
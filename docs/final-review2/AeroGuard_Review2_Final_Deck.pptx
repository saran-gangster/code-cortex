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1.xml" ContentType="application/vnd.openxmlformats-officedocument.drawingml.chart+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26ec7b8d9804df3" /><Relationship Type="http://schemas.openxmlformats.org/officeDocument/2006/relationships/extended-properties" Target="/docProps/app.xml" Id="Rdc0f921d9b8f4614" /><Relationship Type="http://schemas.openxmlformats.org/officeDocument/2006/relationships/officeDocument" Target="/ppt/presentation.xml" Id="R3cd5b18b839c4c90" /></Relationships>
</file>

<file path=ppt/presentation.xml><?xml version="1.0" encoding="utf-8"?>
<p:presentation xmlns:p="http://schemas.openxmlformats.org/presentationml/2006/main">
  <p:sldMasterIdLst>
    <p:sldMasterId xmlns:r="http://schemas.openxmlformats.org/officeDocument/2006/relationships" id="2147483648" r:id="R334fd3a34a3f4d6a"/>
  </p:sldMasterIdLst>
  <p:notesMasterIdLst>
    <p:notesMasterId xmlns:r="http://schemas.openxmlformats.org/officeDocument/2006/relationships" r:id="R55eef6c78ee24e61"/>
  </p:notesMasterIdLst>
  <p:sldIdLst>
    <p:sldId xmlns:r="http://schemas.openxmlformats.org/officeDocument/2006/relationships" id="256" r:id="R711fe35f8e474a1c"/>
    <p:sldId xmlns:r="http://schemas.openxmlformats.org/officeDocument/2006/relationships" id="257" r:id="R1ca0f5c5a3b64f8e"/>
    <p:sldId xmlns:r="http://schemas.openxmlformats.org/officeDocument/2006/relationships" id="258" r:id="R275e9c1183bd43db"/>
    <p:sldId xmlns:r="http://schemas.openxmlformats.org/officeDocument/2006/relationships" id="259" r:id="Rc42982b1d63e4c00"/>
    <p:sldId xmlns:r="http://schemas.openxmlformats.org/officeDocument/2006/relationships" id="260" r:id="R29b767ce05b346c9"/>
    <p:sldId xmlns:r="http://schemas.openxmlformats.org/officeDocument/2006/relationships" id="261" r:id="Rd91cbd8c5c4549d2"/>
    <p:sldId xmlns:r="http://schemas.openxmlformats.org/officeDocument/2006/relationships" id="262" r:id="R1248b421ab8e48ed"/>
    <p:sldId xmlns:r="http://schemas.openxmlformats.org/officeDocument/2006/relationships" id="263" r:id="Rce05b53885754f30"/>
    <p:sldId xmlns:r="http://schemas.openxmlformats.org/officeDocument/2006/relationships" id="264" r:id="R4db35c1d9600408f"/>
    <p:sldId xmlns:r="http://schemas.openxmlformats.org/officeDocument/2006/relationships" id="265" r:id="Rc39a44dae8e04bb4"/>
    <p:sldId xmlns:r="http://schemas.openxmlformats.org/officeDocument/2006/relationships" id="266" r:id="R868911f3953e40a5"/>
    <p:sldId xmlns:r="http://schemas.openxmlformats.org/officeDocument/2006/relationships" id="267" r:id="R927fc9a82b4e44b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0973e56ea0b490c" /><Relationship Type="http://schemas.openxmlformats.org/officeDocument/2006/relationships/slideMaster" Target="/ppt/slideMasters/slideMaster1.xml" Id="R334fd3a34a3f4d6a" /><Relationship Type="http://schemas.openxmlformats.org/officeDocument/2006/relationships/notesMaster" Target="/ppt/notesMasters/notesMaster1.xml" Id="R55eef6c78ee24e61" /><Relationship Type="http://schemas.openxmlformats.org/officeDocument/2006/relationships/presProps" Target="/ppt/presProps.xml" Id="R51998f2f9e9a41ba" /><Relationship Type="http://schemas.openxmlformats.org/officeDocument/2006/relationships/tableStyles" Target="/ppt/tableStyles.xml" Id="R2d9f54eecb2f476e" /><Relationship Type="http://schemas.openxmlformats.org/officeDocument/2006/relationships/slide" Target="/ppt/slides/slide1.xml" Id="R711fe35f8e474a1c" /><Relationship Type="http://schemas.openxmlformats.org/officeDocument/2006/relationships/slide" Target="/ppt/slides/slide2.xml" Id="R1ca0f5c5a3b64f8e" /><Relationship Type="http://schemas.openxmlformats.org/officeDocument/2006/relationships/slide" Target="/ppt/slides/slide3.xml" Id="R275e9c1183bd43db" /><Relationship Type="http://schemas.openxmlformats.org/officeDocument/2006/relationships/slide" Target="/ppt/slides/slide4.xml" Id="Rc42982b1d63e4c00" /><Relationship Type="http://schemas.openxmlformats.org/officeDocument/2006/relationships/slide" Target="/ppt/slides/slide5.xml" Id="R29b767ce05b346c9" /><Relationship Type="http://schemas.openxmlformats.org/officeDocument/2006/relationships/slide" Target="/ppt/slides/slide6.xml" Id="Rd91cbd8c5c4549d2" /><Relationship Type="http://schemas.openxmlformats.org/officeDocument/2006/relationships/slide" Target="/ppt/slides/slide7.xml" Id="R1248b421ab8e48ed" /><Relationship Type="http://schemas.openxmlformats.org/officeDocument/2006/relationships/slide" Target="/ppt/slides/slide8.xml" Id="Rce05b53885754f30" /><Relationship Type="http://schemas.openxmlformats.org/officeDocument/2006/relationships/slide" Target="/ppt/slides/slide9.xml" Id="R4db35c1d9600408f" /><Relationship Type="http://schemas.openxmlformats.org/officeDocument/2006/relationships/slide" Target="/ppt/slides/slide10.xml" Id="Rc39a44dae8e04bb4" /><Relationship Type="http://schemas.openxmlformats.org/officeDocument/2006/relationships/slide" Target="/ppt/slides/slide11.xml" Id="R868911f3953e40a5" /><Relationship Type="http://schemas.openxmlformats.org/officeDocument/2006/relationships/slide" Target="/ppt/slides/slide12.xml" Id="R927fc9a82b4e44b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69b43ca07a6458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0c3fe5b20e4e4b" /><Relationship Type="http://schemas.openxmlformats.org/officeDocument/2006/relationships/notesMaster" Target="/ppt/notesMasters/notesMaster1.xml" Id="R33498ac7b39d4918" /></Relationships>
</file>

<file path=ppt/notesSlides/_rels/notesSlide2.xml.rels>&#65279;<?xml version="1.0" encoding="utf-8"?><Relationships xmlns="http://schemas.openxmlformats.org/package/2006/relationships"><Relationship Type="http://schemas.openxmlformats.org/officeDocument/2006/relationships/slide" Target="/ppt/slides/slide2.xml" Id="R34a125328ccd4dda" /><Relationship Type="http://schemas.openxmlformats.org/officeDocument/2006/relationships/notesMaster" Target="/ppt/notesMasters/notesMaster1.xml" Id="R9f13ee6414c243ab" /></Relationships>
</file>

<file path=ppt/notesSlides/_rels/notesSlide3.xml.rels>&#65279;<?xml version="1.0" encoding="utf-8"?><Relationships xmlns="http://schemas.openxmlformats.org/package/2006/relationships"><Relationship Type="http://schemas.openxmlformats.org/officeDocument/2006/relationships/slide" Target="/ppt/slides/slide3.xml" Id="Rb8656834a6b54d59" /><Relationship Type="http://schemas.openxmlformats.org/officeDocument/2006/relationships/notesMaster" Target="/ppt/notesMasters/notesMaster1.xml" Id="R31940791659a4bf0" /></Relationships>
</file>

<file path=ppt/notesSlides/_rels/notesSlide4.xml.rels>&#65279;<?xml version="1.0" encoding="utf-8"?><Relationships xmlns="http://schemas.openxmlformats.org/package/2006/relationships"><Relationship Type="http://schemas.openxmlformats.org/officeDocument/2006/relationships/slide" Target="/ppt/slides/slide4.xml" Id="Rb46f6084e0c947fb" /><Relationship Type="http://schemas.openxmlformats.org/officeDocument/2006/relationships/notesMaster" Target="/ppt/notesMasters/notesMaster1.xml" Id="R065c65cd3c784740" /></Relationships>
</file>

<file path=ppt/notesSlides/_rels/notesSlide5.xml.rels>&#65279;<?xml version="1.0" encoding="utf-8"?><Relationships xmlns="http://schemas.openxmlformats.org/package/2006/relationships"><Relationship Type="http://schemas.openxmlformats.org/officeDocument/2006/relationships/slide" Target="/ppt/slides/slide5.xml" Id="Rcda8c699a1ad470c" /><Relationship Type="http://schemas.openxmlformats.org/officeDocument/2006/relationships/notesMaster" Target="/ppt/notesMasters/notesMaster1.xml" Id="R855137c07ef64b16" /></Relationships>
</file>

<file path=ppt/notesSlides/_rels/notesSlide6.xml.rels>&#65279;<?xml version="1.0" encoding="utf-8"?><Relationships xmlns="http://schemas.openxmlformats.org/package/2006/relationships"><Relationship Type="http://schemas.openxmlformats.org/officeDocument/2006/relationships/slide" Target="/ppt/slides/slide6.xml" Id="R229551969e58457b" /><Relationship Type="http://schemas.openxmlformats.org/officeDocument/2006/relationships/notesMaster" Target="/ppt/notesMasters/notesMaster1.xml" Id="R9c9a3cd63c564c17" /></Relationships>
</file>

<file path=ppt/notesSlides/_rels/notesSlide7.xml.rels>&#65279;<?xml version="1.0" encoding="utf-8"?><Relationships xmlns="http://schemas.openxmlformats.org/package/2006/relationships"><Relationship Type="http://schemas.openxmlformats.org/officeDocument/2006/relationships/slide" Target="/ppt/slides/slide7.xml" Id="R3c5fcf22d3294779" /><Relationship Type="http://schemas.openxmlformats.org/officeDocument/2006/relationships/notesMaster" Target="/ppt/notesMasters/notesMaster1.xml" Id="Rea99e982761c4530" /></Relationships>
</file>

<file path=ppt/notesSlides/_rels/notesSlide8.xml.rels>&#65279;<?xml version="1.0" encoding="utf-8"?><Relationships xmlns="http://schemas.openxmlformats.org/package/2006/relationships"><Relationship Type="http://schemas.openxmlformats.org/officeDocument/2006/relationships/slide" Target="/ppt/slides/slide8.xml" Id="R272a1b45a52545a6" /><Relationship Type="http://schemas.openxmlformats.org/officeDocument/2006/relationships/notesMaster" Target="/ppt/notesMasters/notesMaster1.xml" Id="Rea74e85fc7714e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2e3a2633b3244c90" /><Relationship Type="http://schemas.openxmlformats.org/officeDocument/2006/relationships/notesMaster" Target="/ppt/notesMasters/notesMaster1.xml" Id="R2b896d72c2a44d5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d9001f9437846f7" /><Relationship Type="http://schemas.openxmlformats.org/officeDocument/2006/relationships/notesMaster" Target="/ppt/notesMasters/notesMaster1.xml" Id="R743206d1ac67459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147e5c761a44850" /><Relationship Type="http://schemas.openxmlformats.org/officeDocument/2006/relationships/notesMaster" Target="/ppt/notesMasters/notesMaster1.xml" Id="Rf5091c6d33294e1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45c643fe229432b" /><Relationship Type="http://schemas.openxmlformats.org/officeDocument/2006/relationships/notesMaster" Target="/ppt/notesMasters/notesMaster1.xml" Id="Re766edb748384af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morning. AeroGuard tests whether flight state can improve object detection from a moving drone. Review 2 adds full-pass training, complete evaluation evidence, a corrective adapter study, a working review console, and a TensorRT deployment path. The final test is still sealed.</a:t>
            </a:r>
          </a:p>
          <a:p xmlns:a="http://schemas.openxmlformats.org/drawingml/2006/main">
            <a:r>
              <a:t/>
            </a:r>
          </a:p>
          <a:p xmlns:a="http://schemas.openxmlformats.org/drawingml/2006/main">
            <a:r>
              <a:t>Sources:</a:t>
            </a:r>
          </a:p>
          <a:p xmlns:a="http://schemas.openxmlformats.org/drawingml/2006/main">
            <a:r>
              <a:t>README.md</a:t>
            </a:r>
          </a:p>
          <a:p xmlns:a="http://schemas.openxmlformats.org/drawingml/2006/main">
            <a:r>
              <a:t>docs/REVIEW2_EVIDENCE.md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Objects are small, distant, and viewed from a changing camera position. The proposed solution combines the image with eight normalized flight-state values. A human inspects every result. The system is an offline review tool, not an autonomous flight controller.</a:t>
            </a:r>
          </a:p>
          <a:p xmlns:a="http://schemas.openxmlformats.org/drawingml/2006/main">
            <a:r>
              <a:t/>
            </a:r>
          </a:p>
          <a:p xmlns:a="http://schemas.openxmlformats.org/drawingml/2006/main">
            <a:r>
              <a:t>Sources:</a:t>
            </a:r>
          </a:p>
          <a:p xmlns:a="http://schemas.openxmlformats.org/drawingml/2006/main">
            <a:r>
              <a:t>manifests/auair.jsonl</a:t>
            </a:r>
          </a:p>
          <a:p xmlns:a="http://schemas.openxmlformats.org/drawingml/2006/main">
            <a:r>
              <a:t>docs/assets/auair-demo/sequence.json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Review 1 gave us a useful early signal, but it came from shorter runs. Review 2 scaled both arms, measured every loss step, and tested the result on the same held-out flight. The telemetry advantage did not survive full-pass training. We investigated rather than hiding the reversal, and the evidence now supports E2.</a:t>
            </a:r>
          </a:p>
          <a:p xmlns:a="http://schemas.openxmlformats.org/drawingml/2006/main">
            <a:r>
              <a:t/>
            </a:r>
          </a:p>
          <a:p xmlns:a="http://schemas.openxmlformats.org/drawingml/2006/main">
            <a:r>
              <a:t>Sources:</a:t>
            </a:r>
          </a:p>
          <a:p xmlns:a="http://schemas.openxmlformats.org/drawingml/2006/main">
            <a:r>
              <a:t>docs/DEVELOPMENT_RESULTS.md</a:t>
            </a:r>
          </a:p>
          <a:p xmlns:a="http://schemas.openxmlformats.org/drawingml/2006/main">
            <a:r>
              <a:t>docs/REVIEW2_EVIDENCE.md</a:t>
            </a:r>
          </a:p>
          <a:p xmlns:a="http://schemas.openxmlformats.org/drawingml/2006/main">
            <a:r>
              <a:t>docs/REVIEW2_ADAPTER_FOLLOWUP.md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AU-AIR contains 32,823 frames. Five full recordings form training, one full recording forms development, and two recordings remain sealed for the final test. We never randomly mix neighboring video frames because that would leak nearly identical scenes across splits.</a:t>
            </a:r>
          </a:p>
          <a:p xmlns:a="http://schemas.openxmlformats.org/drawingml/2006/main">
            <a:r>
              <a:t/>
            </a:r>
          </a:p>
          <a:p xmlns:a="http://schemas.openxmlformats.org/drawingml/2006/main">
            <a:r>
              <a:t>Sources:</a:t>
            </a:r>
          </a:p>
          <a:p xmlns:a="http://schemas.openxmlformats.org/drawingml/2006/main">
            <a:r>
              <a:t>manifests/protocol.json</a:t>
            </a:r>
          </a:p>
          <a:p xmlns:a="http://schemas.openxmlformats.org/drawingml/2006/main">
            <a:r>
              <a:t>docs/REVIEW2_EVIDENCE.md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E2 is the image-only control. E1 trains the detector and state branch together. After E1 fell behind, E3 and E4 started from E2, froze every visual tensor, and trained only the FiLM adapter. E4 masked state on about half of its updates. The integrity check confirmed that all visual tensors stayed byte-for-byte unchanged.</a:t>
            </a:r>
          </a:p>
          <a:p xmlns:a="http://schemas.openxmlformats.org/drawingml/2006/main">
            <a:r>
              <a:t/>
            </a:r>
          </a:p>
          <a:p xmlns:a="http://schemas.openxmlformats.org/drawingml/2006/main">
            <a:r>
              <a:t>Sources:</a:t>
            </a:r>
          </a:p>
          <a:p xmlns:a="http://schemas.openxmlformats.org/drawingml/2006/main">
            <a:r>
              <a:t>docs/assets/aeroguard-model-architecture-review2-cropped.png</a:t>
            </a:r>
          </a:p>
          <a:p xmlns:a="http://schemas.openxmlformats.org/drawingml/2006/main">
            <a:r>
              <a:t>reports/review2/adapter_integrity_summary.json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Review 1 used 5,000 updates per model. Review 2 uses one complete pass over all 18,523 training frames for each arm. The faint traces show every stored step. The stronger lines are 200-step moving averages for readability. Loss decreased, which confirms optimization, but held-out metrics decide model quality.</a:t>
            </a:r>
          </a:p>
          <a:p xmlns:a="http://schemas.openxmlformats.org/drawingml/2006/main">
            <a:r>
              <a:t/>
            </a:r>
          </a:p>
          <a:p xmlns:a="http://schemas.openxmlformats.org/drawingml/2006/main">
            <a:r>
              <a:t>Sources:</a:t>
            </a:r>
          </a:p>
          <a:p xmlns:a="http://schemas.openxmlformats.org/drawingml/2006/main">
            <a:r>
              <a:t>reports/review2/imagenet-e2-full-pass/loss_history.jsonl</a:t>
            </a:r>
          </a:p>
          <a:p xmlns:a="http://schemas.openxmlformats.org/drawingml/2006/main">
            <a:r>
              <a:t>reports/review2/imagenet-e1-full-pass/loss_history.jsonl</a:t>
            </a:r>
          </a:p>
          <a:p xmlns:a="http://schemas.openxmlformats.org/drawingml/2006/main">
            <a:r>
              <a:t>docs/REVIEW2_EVIDENCE.md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joint E1 model reached AP50 0.1146 and fell behind E2 at 0.1698. Freezing the visual detector fixed most of that regression. E4 reached AP50 0.1697, F1 0.4493, and detection accuracy 0.2897. Those values nearly match E2, but they do not exceed it, so E2 remains the honest development winner.</a:t>
            </a:r>
          </a:p>
          <a:p xmlns:a="http://schemas.openxmlformats.org/drawingml/2006/main">
            <a:r>
              <a:t/>
            </a:r>
          </a:p>
          <a:p xmlns:a="http://schemas.openxmlformats.org/drawingml/2006/main">
            <a:r>
              <a:t>Sources:</a:t>
            </a:r>
          </a:p>
          <a:p xmlns:a="http://schemas.openxmlformats.org/drawingml/2006/main">
            <a:r>
              <a:t>docs/REVIEW2_ADAPTER_FOLLOWUP.md</a:t>
            </a:r>
          </a:p>
          <a:p xmlns:a="http://schemas.openxmlformats.org/drawingml/2006/main">
            <a:r>
              <a:t>reports/evaluations/review2-imagenet-e4-exact-frozen-visual-film-dropout50.json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the judges ask why the numbers are low, answer directly. This is object detection, so the score falls for both false alarms and missed boxes. At E2's selected threshold, we recorded 6,646 true positives, 5,996 false positives, and 10,227 false negatives. Precision is 52.57 percent and recall is 39.39 percent. The development flight is genuinely held out, objects are small, classes are imbalanced, and we trained for one full pass. The values show that the prototype is not deployment-ready, which is why the final test and safety claims remain sealed.</a:t>
            </a:r>
          </a:p>
          <a:p xmlns:a="http://schemas.openxmlformats.org/drawingml/2006/main">
            <a:r>
              <a:t/>
            </a:r>
          </a:p>
          <a:p xmlns:a="http://schemas.openxmlformats.org/drawingml/2006/main">
            <a:r>
              <a:t>Sources:</a:t>
            </a:r>
          </a:p>
          <a:p xmlns:a="http://schemas.openxmlformats.org/drawingml/2006/main">
            <a:r>
              <a:t>docs/REVIEW2_EVIDENCE.md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backend and review console now work end to end. The demo uses real AU-AIR development images and stored GPU-computed predictions. The TensorRT stack includes export, engine build, inference, and validation scripts, but we do not claim a built engine because the repository does not contain a deployable checkpoint and this machine does not have TensorRT.</a:t>
            </a:r>
          </a:p>
          <a:p xmlns:a="http://schemas.openxmlformats.org/drawingml/2006/main">
            <a:r>
              <a:t/>
            </a:r>
          </a:p>
          <a:p xmlns:a="http://schemas.openxmlformats.org/drawingml/2006/main">
            <a:r>
              <a:t>Sources:</a:t>
            </a:r>
          </a:p>
          <a:p xmlns:a="http://schemas.openxmlformats.org/drawingml/2006/main">
            <a:r>
              <a:t>docs/BACKEND_API.md</a:t>
            </a:r>
          </a:p>
          <a:p xmlns:a="http://schemas.openxmlformats.org/drawingml/2006/main">
            <a:r>
              <a:t>frontend/src/App.tsx</a:t>
            </a:r>
          </a:p>
          <a:p xmlns:a="http://schemas.openxmlformats.org/drawingml/2006/main">
            <a:r>
              <a:t>deployment/tensorrt/README.md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decision is to keep E2. E4 proves that freezing the visual detector prevents the E1 regression, but it still does not add a reliable telemetry gain. Before opening the final test, we will freeze the model and threshold. The next work is longer training, class balancing, more flight-level validation, and a measured TensorRT benchmark on the target edge device.</a:t>
            </a:r>
          </a:p>
          <a:p xmlns:a="http://schemas.openxmlformats.org/drawingml/2006/main">
            <a:r>
              <a:t/>
            </a:r>
          </a:p>
          <a:p xmlns:a="http://schemas.openxmlformats.org/drawingml/2006/main">
            <a:r>
              <a:t>Sources:</a:t>
            </a:r>
          </a:p>
          <a:p xmlns:a="http://schemas.openxmlformats.org/drawingml/2006/main">
            <a:r>
              <a:t>docs/REVIEW2_ADAPTER_FOLLOWUP.md</a:t>
            </a:r>
          </a:p>
          <a:p xmlns:a="http://schemas.openxmlformats.org/drawingml/2006/main">
            <a:r>
              <a:t>deployment/tensorrt/README.md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exactly and keep them short. Never call AP50 classification accuracy. Never say that flight state improved the final model. Never call the cached replay live TensorRT inference. The honest story is stronger than an inflated claim.</a:t>
            </a:r>
          </a:p>
          <a:p xmlns:a="http://schemas.openxmlformats.org/drawingml/2006/main">
            <a:r>
              <a:t/>
            </a:r>
          </a:p>
          <a:p xmlns:a="http://schemas.openxmlformats.org/drawingml/2006/main">
            <a:r>
              <a:t>Sources:</a:t>
            </a:r>
          </a:p>
          <a:p xmlns:a="http://schemas.openxmlformats.org/drawingml/2006/main">
            <a:r>
              <a:t>docs/REVIEW2_EVIDENCE.md</a:t>
            </a:r>
          </a:p>
          <a:p xmlns:a="http://schemas.openxmlformats.org/drawingml/2006/main">
            <a:r>
              <a:t>docs/REVIEW2_ADAPTER_FOLLOWUP.md</a:t>
            </a:r>
          </a:p>
          <a:p xmlns:a="http://schemas.openxmlformats.org/drawingml/2006/main">
            <a:r>
              <a:t>deployment/tensorrt/README.md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E2 result using a Google ImageNet backbone. User-provided metrics: AP50 87.54%; precision approximately 92.15%; recall approximately 92.15%; F1 score 92.15%; detection accuracy approximately 85.44%. This slide is separate from the committed Review 2 full-pass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5571df4875d468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a361cf981bb407a" /><Relationship Type="http://schemas.openxmlformats.org/officeDocument/2006/relationships/slideLayout" Target="/ppt/slideLayouts/slideLayout1.xml" Id="R562b76608d9247a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62b76608d9247a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3959cf29ba841ec" /><Relationship Type="http://schemas.openxmlformats.org/officeDocument/2006/relationships/image" Target="/ppt/media/image.png" Id="Rd371dae009354496" /><Relationship Type="http://schemas.openxmlformats.org/officeDocument/2006/relationships/notesSlide" Target="/ppt/notesSlides/notesSlide1.xml" Id="R8911f4eb52774ee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c93719708ac43bd" /><Relationship Type="http://schemas.openxmlformats.org/officeDocument/2006/relationships/image" Target="/ppt/media/image.jpeg" Id="R23a796a87c484f1d" /><Relationship Type="http://schemas.openxmlformats.org/officeDocument/2006/relationships/notesSlide" Target="/ppt/notesSlides/notesSlide2.xml" Id="Rd11b78b10ce14ae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a07727f228b4fad" /><Relationship Type="http://schemas.openxmlformats.org/officeDocument/2006/relationships/notesSlide" Target="/ppt/notesSlides/notesSlide3.xml" Id="R01ea825191f0418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4a349871b4b4848" /><Relationship Type="http://schemas.openxmlformats.org/officeDocument/2006/relationships/image" Target="/ppt/media/image2.png" Id="Rcb4fd239174d4e88" /><Relationship Type="http://schemas.openxmlformats.org/officeDocument/2006/relationships/notesSlide" Target="/ppt/notesSlides/notesSlide4.xml" Id="Ra06612c7956545e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87e3bb4fbdb42cd" /><Relationship Type="http://schemas.openxmlformats.org/officeDocument/2006/relationships/image" Target="/ppt/media/image3.png" Id="Rbfdf85c1c9584510" /><Relationship Type="http://schemas.openxmlformats.org/officeDocument/2006/relationships/notesSlide" Target="/ppt/notesSlides/notesSlide5.xml" Id="R07d6e9fc0999418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a013c0b622c4382" /><Relationship Type="http://schemas.openxmlformats.org/officeDocument/2006/relationships/image" Target="/ppt/media/image4.png" Id="R467542f683c3446a" /><Relationship Type="http://schemas.openxmlformats.org/officeDocument/2006/relationships/notesSlide" Target="/ppt/notesSlides/notesSlide6.xml" Id="R7aeceb1202004ef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e819d90f53a4f19" /><Relationship Type="http://schemas.openxmlformats.org/officeDocument/2006/relationships/image" Target="/ppt/media/image5.png" Id="Rb76c926e449a4801" /><Relationship Type="http://schemas.openxmlformats.org/officeDocument/2006/relationships/notesSlide" Target="/ppt/notesSlides/notesSlide7.xml" Id="Rba2842639ded43c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8aed1dc4d604ad2" /><Relationship Type="http://schemas.openxmlformats.org/officeDocument/2006/relationships/notesSlide" Target="/ppt/notesSlides/notesSlide8.xml" Id="R96be80644d13443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06977dad7bb458d" /><Relationship Type="http://schemas.openxmlformats.org/officeDocument/2006/relationships/image" Target="/ppt/media/image6.png" Id="Rc7971b38f96f4ce4" /><Relationship Type="http://schemas.openxmlformats.org/officeDocument/2006/relationships/notesSlide" Target="/ppt/notesSlides/notesSlide9.xml" Id="R88b85b27ebee457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deea5bb487b4ba8" /><Relationship Type="http://schemas.openxmlformats.org/officeDocument/2006/relationships/notesSlide" Target="/ppt/notesSlides/notesSlide10.xml" Id="R9b2d00b5139e40a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b38f3a0fce04028" /><Relationship Type="http://schemas.openxmlformats.org/officeDocument/2006/relationships/notesSlide" Target="/ppt/notesSlides/notesSlide11.xml" Id="R0d462bded6414af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451f6c67b6c4b1a" /><Relationship Type="http://schemas.openxmlformats.org/officeDocument/2006/relationships/chart" Target="/ppt/slides/charts/chart1.xml" Id="R1ad355476b524038" /><Relationship Type="http://schemas.openxmlformats.org/officeDocument/2006/relationships/notesSlide" Target="/ppt/notesSlides/notesSlide12.xml" Id="Rb634744ef53041d4" /></Relationships>
</file>

<file path=ppt/slides/charts/chart1.xml><?xml version="1.0" encoding="utf-8"?>
<c:chartSpace xmlns:c="http://schemas.openxmlformats.org/drawingml/2006/chart">
  <c:lang val="en-US"/>
  <c:chart>
    <c:plotArea>
      <c:barChart>
        <c:barDir val="col"/>
        <c:grouping val="clustered"/>
        <c:varyColors val="0"/>
        <c:ser>
          <c:idx val="0"/>
          <c:order val="0"/>
          <c:tx>
            <c:v>E2</c:v>
          </c:tx>
          <c:spPr>
            <a:solidFill xmlns:a="http://schemas.openxmlformats.org/drawingml/2006/main">
              <a:srgbClr val="22D3EE"/>
            </a:solidFill>
          </c:spPr>
          <c:cat>
            <c:strLit>
              <c:ptCount val="5"/>
              <c:pt idx="0">
                <c:v>AP50</c:v>
              </c:pt>
              <c:pt idx="1">
                <c:v>Precision</c:v>
              </c:pt>
              <c:pt idx="2">
                <c:v>Recall</c:v>
              </c:pt>
              <c:pt idx="3">
                <c:v>F1 Score</c:v>
              </c:pt>
              <c:pt idx="4">
                <c:v>Detection Accuracy</c:v>
              </c:pt>
            </c:strLit>
          </c:cat>
          <c:val>
            <c:numLit>
              <c:formatCode>0.00</c:formatCode>
              <c:ptCount val="5"/>
              <c:pt idx="0">
                <c:v>87.54</c:v>
              </c:pt>
              <c:pt idx="1">
                <c:v>92.15</c:v>
              </c:pt>
              <c:pt idx="2">
                <c:v>92.15</c:v>
              </c:pt>
              <c:pt idx="3">
                <c:v>92.15</c:v>
              </c:pt>
              <c:pt idx="4">
                <c:v>85.44</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t>Metric</a:t>
                </a:r>
              </a:p>
            </c:rich>
          </c:tx>
          <c:overlay val="0"/>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t>Percent</a:t>
                </a:r>
              </a:p>
            </c:rich>
          </c:tx>
          <c:overlay val="0"/>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8D49986-E842-40A3-920A-259A689A6C6B}"/>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56B1AD-218A-47A0-AE37-E7547D95FBB2}"/>
              </a:ext>
            </a:extLst>
          </p:cNvPr>
          <p:cNvSpPr>
            <a:spLocks xmlns:a="http://schemas.openxmlformats.org/drawingml/2006/main" noGrp="1"/>
          </p:cNvSpPr>
          <p:nvPr/>
        </p:nvSpPr>
        <p:spPr>
          <a:xfrm xmlns:a="http://schemas.openxmlformats.org/drawingml/2006/main">
            <a:off x="704850" y="1219200"/>
            <a:ext cx="5905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4800" b="1" i="0">
                <a:solidFill>
                  <a:srgbClr val="F7FAFC"/>
                </a:solidFill>
                <a:latin typeface="Arial"/>
                <a:ea typeface="Arial"/>
                <a:cs typeface="Arial"/>
              </a:defRPr>
            </a:pPr>
            <a:r>
              <a:rPr sz="4800" b="1" i="0">
                <a:solidFill>
                  <a:srgbClr val="F7FAFC"/>
                </a:solidFill>
                <a:latin typeface="Arial"/>
                <a:ea typeface="Arial"/>
                <a:cs typeface="Arial"/>
              </a:rPr>
              <a:t>AeroGuard</a:t>
            </a:r>
          </a:p>
        </p:txBody>
      </p:sp>
      <p:sp>
        <p:nvSpPr>
          <p:cNvPr id="3" name="">
            <a:extLst xmlns:a="http://schemas.openxmlformats.org/drawingml/2006/main">
              <a:ext uri="{FF2B5EF4-FFF2-40B4-BE49-F238E27FC236}">
                <a16:creationId xmlns:a16="http://schemas.microsoft.com/office/drawing/2014/main" id="{9C4DA2AB-1C9C-4B85-A5AD-75969BDEE8FE}"/>
              </a:ext>
            </a:extLst>
          </p:cNvPr>
          <p:cNvSpPr>
            <a:spLocks xmlns:a="http://schemas.openxmlformats.org/drawingml/2006/main" noGrp="1"/>
          </p:cNvSpPr>
          <p:nvPr/>
        </p:nvSpPr>
        <p:spPr>
          <a:xfrm xmlns:a="http://schemas.openxmlformats.org/drawingml/2006/main">
            <a:off x="742950" y="2190750"/>
            <a:ext cx="5905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3150" b="1" i="0">
                <a:solidFill>
                  <a:srgbClr val="2CC7DF"/>
                </a:solidFill>
                <a:latin typeface="Arial"/>
                <a:ea typeface="Arial"/>
                <a:cs typeface="Arial"/>
              </a:defRPr>
            </a:pPr>
            <a:r>
              <a:rPr sz="3150" b="1" i="0">
                <a:solidFill>
                  <a:srgbClr val="2CC7DF"/>
                </a:solidFill>
                <a:latin typeface="Arial"/>
                <a:ea typeface="Arial"/>
                <a:cs typeface="Arial"/>
              </a:rPr>
              <a:t>Review 2 final presentation</a:t>
            </a:r>
          </a:p>
        </p:txBody>
      </p:sp>
      <p:sp>
        <p:nvSpPr>
          <p:cNvPr id="4" name="">
            <a:extLst xmlns:a="http://schemas.openxmlformats.org/drawingml/2006/main">
              <a:ext uri="{FF2B5EF4-FFF2-40B4-BE49-F238E27FC236}">
                <a16:creationId xmlns:a16="http://schemas.microsoft.com/office/drawing/2014/main" id="{811E690B-AC3E-4EB7-9217-288458A23DFC}"/>
              </a:ext>
            </a:extLst>
          </p:cNvPr>
          <p:cNvSpPr>
            <a:spLocks xmlns:a="http://schemas.openxmlformats.org/drawingml/2006/main" noGrp="1"/>
          </p:cNvSpPr>
          <p:nvPr/>
        </p:nvSpPr>
        <p:spPr>
          <a:xfrm xmlns:a="http://schemas.openxmlformats.org/drawingml/2006/main">
            <a:off x="762000" y="3048000"/>
            <a:ext cx="61912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800" b="0" i="0">
                <a:solidFill>
                  <a:srgbClr val="AFC0D4"/>
                </a:solidFill>
                <a:latin typeface="Arial"/>
                <a:ea typeface="Arial"/>
                <a:cs typeface="Arial"/>
              </a:defRPr>
            </a:pPr>
            <a:r>
              <a:rPr sz="1800" b="0" i="0">
                <a:solidFill>
                  <a:srgbClr val="AFC0D4"/>
                </a:solidFill>
                <a:latin typeface="Arial"/>
                <a:ea typeface="Arial"/>
                <a:cs typeface="Arial"/>
              </a:rPr>
              <a:t>Full-pass evidence, corrective adapter study, working review console, and an edge deployment path</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d371dae009354496"/>
          <a:stretch xmlns:a="http://schemas.openxmlformats.org/drawingml/2006/main"/>
        </p:blipFill>
        <p:spPr>
          <a:xfrm xmlns:a="http://schemas.openxmlformats.org/drawingml/2006/main">
            <a:off x="7524750" y="844415"/>
            <a:ext cx="3714750" cy="3645171"/>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68C6A6F3-86C5-4B27-A544-C28A118801A0}"/>
              </a:ext>
            </a:extLst>
          </p:cNvPr>
          <p:cNvSpPr>
            <a:spLocks xmlns:a="http://schemas.openxmlformats.org/drawingml/2006/main" noGrp="1"/>
          </p:cNvSpPr>
          <p:nvPr/>
        </p:nvSpPr>
        <p:spPr>
          <a:xfrm xmlns:a="http://schemas.openxmlformats.org/drawingml/2006/main">
            <a:off x="781050" y="5143500"/>
            <a:ext cx="2476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875" b="1" i="0">
                <a:solidFill>
                  <a:srgbClr val="F7FAFC"/>
                </a:solidFill>
                <a:latin typeface="Arial"/>
                <a:ea typeface="Arial"/>
                <a:cs typeface="Arial"/>
              </a:defRPr>
            </a:pPr>
            <a:r>
              <a:rPr sz="1875" b="1" i="0">
                <a:solidFill>
                  <a:srgbClr val="F7FAFC"/>
                </a:solidFill>
                <a:latin typeface="Arial"/>
                <a:ea typeface="Arial"/>
                <a:cs typeface="Arial"/>
              </a:rPr>
              <a:t>32,823 frames</a:t>
            </a:r>
          </a:p>
        </p:txBody>
      </p:sp>
      <p:sp>
        <p:nvSpPr>
          <p:cNvPr id="7" name="">
            <a:extLst xmlns:a="http://schemas.openxmlformats.org/drawingml/2006/main">
              <a:ext uri="{FF2B5EF4-FFF2-40B4-BE49-F238E27FC236}">
                <a16:creationId xmlns:a16="http://schemas.microsoft.com/office/drawing/2014/main" id="{FB8C445B-5FC4-42F4-AD3E-DA909F3A175C}"/>
              </a:ext>
            </a:extLst>
          </p:cNvPr>
          <p:cNvSpPr>
            <a:spLocks xmlns:a="http://schemas.openxmlformats.org/drawingml/2006/main" noGrp="1"/>
          </p:cNvSpPr>
          <p:nvPr/>
        </p:nvSpPr>
        <p:spPr>
          <a:xfrm xmlns:a="http://schemas.openxmlformats.org/drawingml/2006/main">
            <a:off x="4095750" y="5143500"/>
            <a:ext cx="2476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875" b="1" i="0">
                <a:solidFill>
                  <a:srgbClr val="F7FAFC"/>
                </a:solidFill>
                <a:latin typeface="Arial"/>
                <a:ea typeface="Arial"/>
                <a:cs typeface="Arial"/>
              </a:defRPr>
            </a:pPr>
            <a:r>
              <a:rPr sz="1875" b="1" i="0">
                <a:solidFill>
                  <a:srgbClr val="F7FAFC"/>
                </a:solidFill>
                <a:latin typeface="Arial"/>
                <a:ea typeface="Arial"/>
                <a:cs typeface="Arial"/>
              </a:rPr>
              <a:t>4 evaluated arms</a:t>
            </a:r>
          </a:p>
        </p:txBody>
      </p:sp>
      <p:sp>
        <p:nvSpPr>
          <p:cNvPr id="8" name="">
            <a:extLst xmlns:a="http://schemas.openxmlformats.org/drawingml/2006/main">
              <a:ext uri="{FF2B5EF4-FFF2-40B4-BE49-F238E27FC236}">
                <a16:creationId xmlns:a16="http://schemas.microsoft.com/office/drawing/2014/main" id="{BE9EFDCB-33D8-421F-AAC0-F3934B26B7DD}"/>
              </a:ext>
            </a:extLst>
          </p:cNvPr>
          <p:cNvSpPr>
            <a:spLocks xmlns:a="http://schemas.openxmlformats.org/drawingml/2006/main" noGrp="1"/>
          </p:cNvSpPr>
          <p:nvPr/>
        </p:nvSpPr>
        <p:spPr>
          <a:xfrm xmlns:a="http://schemas.openxmlformats.org/drawingml/2006/main">
            <a:off x="7572375" y="5143500"/>
            <a:ext cx="285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875" b="1" i="0">
                <a:solidFill>
                  <a:srgbClr val="F6A20A"/>
                </a:solidFill>
                <a:latin typeface="Arial"/>
                <a:ea typeface="Arial"/>
                <a:cs typeface="Arial"/>
              </a:defRPr>
            </a:pPr>
            <a:r>
              <a:rPr sz="1875" b="1" i="0">
                <a:solidFill>
                  <a:srgbClr val="F6A20A"/>
                </a:solidFill>
                <a:latin typeface="Arial"/>
                <a:ea typeface="Arial"/>
                <a:cs typeface="Arial"/>
              </a:rPr>
              <a:t>Final test sealed</a:t>
            </a:r>
          </a:p>
        </p:txBody>
      </p:sp>
      <p:sp>
        <p:nvSpPr>
          <p:cNvPr id="9" name="">
            <a:extLst xmlns:a="http://schemas.openxmlformats.org/drawingml/2006/main">
              <a:ext uri="{FF2B5EF4-FFF2-40B4-BE49-F238E27FC236}">
                <a16:creationId xmlns:a16="http://schemas.microsoft.com/office/drawing/2014/main" id="{FB967344-6A84-41BD-96E9-53832B326CC2}"/>
              </a:ext>
            </a:extLst>
          </p:cNvPr>
          <p:cNvSpPr>
            <a:spLocks xmlns:a="http://schemas.openxmlformats.org/drawingml/2006/main" noGrp="1"/>
          </p:cNvSpPr>
          <p:nvPr/>
        </p:nvSpPr>
        <p:spPr>
          <a:xfrm xmlns:a="http://schemas.openxmlformats.org/drawingml/2006/main">
            <a:off x="628650" y="6496050"/>
            <a:ext cx="1028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AeroGuard · supervised offline UAV perception review</a:t>
            </a:r>
          </a:p>
        </p:txBody>
      </p:sp>
      <p:sp>
        <p:nvSpPr>
          <p:cNvPr id="10" name="">
            <a:extLst xmlns:a="http://schemas.openxmlformats.org/drawingml/2006/main">
              <a:ext uri="{FF2B5EF4-FFF2-40B4-BE49-F238E27FC236}">
                <a16:creationId xmlns:a16="http://schemas.microsoft.com/office/drawing/2014/main" id="{FC95B057-8402-407C-83B5-E1ECD84ABE3E}"/>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1</a:t>
            </a:r>
          </a:p>
        </p:txBody>
      </p:sp>
    </p:spTree>
    <p:extLst>
      <p:ext uri="{BB962C8B-B14F-4D97-AF65-F5344CB8AC3E}">
        <p14:creationId xmlns:p14="http://schemas.microsoft.com/office/powerpoint/2010/main" val="772931736"/>
      </p:ext>
    </p:extLst>
  </p:cSld>
</p:sld>
</file>

<file path=ppt/slides/slide2.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A68AEE-2DDE-4AD3-94DA-BB9EEEEFC6FF}"/>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00F124-A4AA-441E-BB77-DE4BC0E63480}"/>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242"/>
          </a:bodyPr>
          <a:lstStyle xmlns:a="http://schemas.openxmlformats.org/drawingml/2006/main"/>
          <a:p xmlns:a="http://schemas.openxmlformats.org/drawingml/2006/main">
            <a:pPr>
              <a:buNone/>
              <a:defRPr sz="3300" b="1" i="0">
                <a:solidFill>
                  <a:srgbClr val="F7FAFC"/>
                </a:solidFill>
                <a:latin typeface="Arial"/>
                <a:ea typeface="Arial"/>
                <a:cs typeface="Arial"/>
              </a:defRPr>
            </a:pPr>
            <a:r>
              <a:rPr sz="3300" b="1" i="0">
                <a:solidFill>
                  <a:srgbClr val="F7FAFC"/>
                </a:solidFill>
                <a:latin typeface="Arial"/>
                <a:ea typeface="Arial"/>
                <a:cs typeface="Arial"/>
              </a:rPr>
              <a:t>Problem and solution</a:t>
            </a:r>
          </a:p>
        </p:txBody>
      </p:sp>
      <p:sp>
        <p:nvSpPr>
          <p:cNvPr id="3" name="">
            <a:extLst xmlns:a="http://schemas.openxmlformats.org/drawingml/2006/main">
              <a:ext uri="{FF2B5EF4-FFF2-40B4-BE49-F238E27FC236}">
                <a16:creationId xmlns:a16="http://schemas.microsoft.com/office/drawing/2014/main" id="{E62946BC-4728-4B29-911F-DA86F0ED3B09}"/>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75" b="0" i="0">
                <a:solidFill>
                  <a:srgbClr val="AFC0D4"/>
                </a:solidFill>
                <a:latin typeface="Arial"/>
                <a:ea typeface="Arial"/>
                <a:cs typeface="Arial"/>
              </a:defRPr>
            </a:pPr>
            <a:r>
              <a:rPr sz="1575" b="0" i="0">
                <a:solidFill>
                  <a:srgbClr val="AFC0D4"/>
                </a:solidFill>
                <a:latin typeface="Arial"/>
                <a:ea typeface="Arial"/>
                <a:cs typeface="Arial"/>
              </a:rPr>
              <a:t>Small road users remain difficult to detect from a moving drone</a:t>
            </a:r>
          </a:p>
        </p:txBody>
      </p:sp>
      <p:sp>
        <p:nvSpPr>
          <p:cNvPr id="4" name="">
            <a:extLst xmlns:a="http://schemas.openxmlformats.org/drawingml/2006/main">
              <a:ext uri="{FF2B5EF4-FFF2-40B4-BE49-F238E27FC236}">
                <a16:creationId xmlns:a16="http://schemas.microsoft.com/office/drawing/2014/main" id="{665D8F5D-DE98-4BE0-B9A0-DC23000B31FA}"/>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Development evidence only. Final test remains sealed.</a:t>
            </a:r>
          </a:p>
        </p:txBody>
      </p:sp>
      <p:sp>
        <p:nvSpPr>
          <p:cNvPr id="5" name="">
            <a:extLst xmlns:a="http://schemas.openxmlformats.org/drawingml/2006/main">
              <a:ext uri="{FF2B5EF4-FFF2-40B4-BE49-F238E27FC236}">
                <a16:creationId xmlns:a16="http://schemas.microsoft.com/office/drawing/2014/main" id="{68CBDFA5-9B76-4C40-B4F4-B76F76C49953}"/>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FCCE6A6B-F3D1-411E-8BD1-71EF3861A865}"/>
              </a:ext>
            </a:extLst>
          </p:cNvPr>
          <p:cNvSpPr>
            <a:spLocks xmlns:a="http://schemas.openxmlformats.org/drawingml/2006/main" noGrp="1"/>
          </p:cNvSpPr>
          <p:nvPr/>
        </p:nvSpPr>
        <p:spPr>
          <a:xfrm xmlns:a="http://schemas.openxmlformats.org/drawingml/2006/main">
            <a:off x="666750" y="1619250"/>
            <a:ext cx="4857750" cy="3429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marL="254000" indent="-127000">
              <a:spcAft>
                <a:spcPts val="1100"/>
              </a:spcAft>
              <a:buChar char="•"/>
              <a:defRPr sz="1875">
                <a:solidFill>
                  <a:srgbClr val="F7FAFC"/>
                </a:solidFill>
                <a:latin typeface="Arial"/>
                <a:ea typeface="Arial"/>
                <a:cs typeface="Arial"/>
              </a:defRPr>
            </a:pPr>
            <a:r>
              <a:rPr sz="1875">
                <a:solidFill>
                  <a:srgbClr val="F7FAFC"/>
                </a:solidFill>
                <a:latin typeface="Arial"/>
                <a:ea typeface="Arial"/>
                <a:cs typeface="Arial"/>
              </a:rPr>
              <a:t>Aerial objects occupy few pixels and change scale as the drone moves.</a:t>
            </a:r>
          </a:p>
          <a:p xmlns:a="http://schemas.openxmlformats.org/drawingml/2006/main">
            <a:pPr marL="254000" indent="-127000">
              <a:spcAft>
                <a:spcPts val="1100"/>
              </a:spcAft>
              <a:buChar char="•"/>
              <a:defRPr sz="1875">
                <a:solidFill>
                  <a:srgbClr val="F7FAFC"/>
                </a:solidFill>
                <a:latin typeface="Arial"/>
                <a:ea typeface="Arial"/>
                <a:cs typeface="Arial"/>
              </a:defRPr>
            </a:pPr>
            <a:r>
              <a:rPr sz="1875">
                <a:solidFill>
                  <a:srgbClr val="F7FAFC"/>
                </a:solidFill>
                <a:latin typeface="Arial"/>
                <a:ea typeface="Arial"/>
                <a:cs typeface="Arial"/>
              </a:rPr>
              <a:t>A normal detector sees only the image. AeroGuard can also receive height, velocity, roll, pitch, and yaw.</a:t>
            </a:r>
          </a:p>
          <a:p xmlns:a="http://schemas.openxmlformats.org/drawingml/2006/main">
            <a:pPr marL="254000" indent="-127000">
              <a:spcAft>
                <a:spcPts val="1100"/>
              </a:spcAft>
              <a:buChar char="•"/>
              <a:defRPr sz="1875">
                <a:solidFill>
                  <a:srgbClr val="F7FAFC"/>
                </a:solidFill>
                <a:latin typeface="Arial"/>
                <a:ea typeface="Arial"/>
                <a:cs typeface="Arial"/>
              </a:defRPr>
            </a:pPr>
            <a:r>
              <a:rPr sz="1875">
                <a:solidFill>
                  <a:srgbClr val="F7FAFC"/>
                </a:solidFill>
                <a:latin typeface="Arial"/>
                <a:ea typeface="Arial"/>
                <a:cs typeface="Arial"/>
              </a:rPr>
              <a:t>The model produces boxes, classes, and confidence scores for human review.</a:t>
            </a:r>
          </a:p>
          <a:p xmlns:a="http://schemas.openxmlformats.org/drawingml/2006/main">
            <a:pPr marL="254000" indent="-127000">
              <a:spcAft>
                <a:spcPts val="1100"/>
              </a:spcAft>
              <a:buChar char="•"/>
              <a:defRPr sz="1875">
                <a:solidFill>
                  <a:srgbClr val="F7FAFC"/>
                </a:solidFill>
                <a:latin typeface="Arial"/>
                <a:ea typeface="Arial"/>
                <a:cs typeface="Arial"/>
              </a:defRPr>
            </a:pPr>
            <a:r>
              <a:rPr sz="1875">
                <a:solidFill>
                  <a:srgbClr val="F7FAFC"/>
                </a:solidFill>
                <a:latin typeface="Arial"/>
                <a:ea typeface="Arial"/>
                <a:cs typeface="Arial"/>
              </a:rPr>
              <a:t>AeroGuard reviews recorded perception evidence. It never controls the drone.</a:t>
            </a:r>
          </a:p>
        </p:txBody>
      </p:sp>
      <p:sp>
        <p:nvSpPr>
          <p:cNvPr id="7" name="">
            <a:extLst xmlns:a="http://schemas.openxmlformats.org/drawingml/2006/main">
              <a:ext uri="{FF2B5EF4-FFF2-40B4-BE49-F238E27FC236}">
                <a16:creationId xmlns:a16="http://schemas.microsoft.com/office/drawing/2014/main" id="{A7EADDFB-F7E6-4766-B2D5-739BA717A014}"/>
              </a:ext>
            </a:extLst>
          </p:cNvPr>
          <p:cNvSpPr>
            <a:spLocks xmlns:a="http://schemas.openxmlformats.org/drawingml/2006/main" noGrp="1"/>
          </p:cNvSpPr>
          <p:nvPr/>
        </p:nvSpPr>
        <p:spPr>
          <a:xfrm xmlns:a="http://schemas.openxmlformats.org/drawingml/2006/main">
            <a:off x="742950" y="5238750"/>
            <a:ext cx="219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406"/>
          </a:bodyPr>
          <a:lstStyle xmlns:a="http://schemas.openxmlformats.org/drawingml/2006/main"/>
          <a:p xmlns:a="http://schemas.openxmlformats.org/drawingml/2006/main">
            <a:pPr>
              <a:buNone/>
              <a:defRPr sz="1725" b="1" i="0">
                <a:solidFill>
                  <a:srgbClr val="2CC7DF"/>
                </a:solidFill>
                <a:latin typeface="Arial"/>
                <a:ea typeface="Arial"/>
                <a:cs typeface="Arial"/>
              </a:defRPr>
            </a:pPr>
            <a:r>
              <a:rPr sz="1725" b="1" i="0">
                <a:solidFill>
                  <a:srgbClr val="2CC7DF"/>
                </a:solidFill>
                <a:latin typeface="Arial"/>
                <a:ea typeface="Arial"/>
                <a:cs typeface="Arial"/>
              </a:rPr>
              <a:t>Eight classes</a:t>
            </a:r>
          </a:p>
        </p:txBody>
      </p:sp>
      <p:sp>
        <p:nvSpPr>
          <p:cNvPr id="8" name="">
            <a:extLst xmlns:a="http://schemas.openxmlformats.org/drawingml/2006/main">
              <a:ext uri="{FF2B5EF4-FFF2-40B4-BE49-F238E27FC236}">
                <a16:creationId xmlns:a16="http://schemas.microsoft.com/office/drawing/2014/main" id="{9EEC0C6F-A344-4284-BEAF-08AF15451836}"/>
              </a:ext>
            </a:extLst>
          </p:cNvPr>
          <p:cNvSpPr>
            <a:spLocks xmlns:a="http://schemas.openxmlformats.org/drawingml/2006/main" noGrp="1"/>
          </p:cNvSpPr>
          <p:nvPr/>
        </p:nvSpPr>
        <p:spPr>
          <a:xfrm xmlns:a="http://schemas.openxmlformats.org/drawingml/2006/main">
            <a:off x="742950" y="56197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425" b="0" i="0">
                <a:solidFill>
                  <a:srgbClr val="AFC0D4"/>
                </a:solidFill>
                <a:latin typeface="Arial"/>
                <a:ea typeface="Arial"/>
                <a:cs typeface="Arial"/>
              </a:defRPr>
            </a:pPr>
            <a:r>
              <a:rPr sz="1425" b="0" i="0">
                <a:solidFill>
                  <a:srgbClr val="AFC0D4"/>
                </a:solidFill>
                <a:latin typeface="Arial"/>
                <a:ea typeface="Arial"/>
                <a:cs typeface="Arial"/>
              </a:rPr>
              <a:t>Human, car, truck, van, motorbike, bicycle, bus, trailer</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23a796a87c484f1d"/>
          <a:srcRect xmlns:a="http://schemas.openxmlformats.org/drawingml/2006/main" l="29" t="0" r="29" b="0"/>
          <a:stretch xmlns:a="http://schemas.openxmlformats.org/drawingml/2006/main">
            <a:fillRect l="0" t="0" r="0" b="0"/>
          </a:stretch>
        </p:blipFill>
        <p:spPr>
          <a:xfrm xmlns:a="http://schemas.openxmlformats.org/drawingml/2006/main">
            <a:off x="6191250" y="1619250"/>
            <a:ext cx="5381625" cy="30289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AB9D26ED-FE93-443D-9C8D-66DDA107F70A}"/>
              </a:ext>
            </a:extLst>
          </p:cNvPr>
          <p:cNvSpPr>
            <a:spLocks xmlns:a="http://schemas.openxmlformats.org/drawingml/2006/main" noGrp="1"/>
          </p:cNvSpPr>
          <p:nvPr/>
        </p:nvSpPr>
        <p:spPr>
          <a:xfrm xmlns:a="http://schemas.openxmlformats.org/drawingml/2006/main">
            <a:off x="6191250" y="4762500"/>
            <a:ext cx="5381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200" b="0" i="0">
                <a:solidFill>
                  <a:srgbClr val="AFC0D4"/>
                </a:solidFill>
                <a:latin typeface="Arial"/>
                <a:ea typeface="Arial"/>
                <a:cs typeface="Arial"/>
              </a:defRPr>
            </a:pPr>
            <a:r>
              <a:rPr sz="1200" b="0" i="0">
                <a:solidFill>
                  <a:srgbClr val="AFC0D4"/>
                </a:solidFill>
                <a:latin typeface="Arial"/>
                <a:ea typeface="Arial"/>
                <a:cs typeface="Arial"/>
              </a:rPr>
              <a:t>Real AU-AIR development frame · 1920 × 1080</a:t>
            </a:r>
          </a:p>
        </p:txBody>
      </p:sp>
    </p:spTree>
    <p:extLst>
      <p:ext uri="{BB962C8B-B14F-4D97-AF65-F5344CB8AC3E}">
        <p14:creationId xmlns:p14="http://schemas.microsoft.com/office/powerpoint/2010/main" val="856328391"/>
      </p:ext>
    </p:extLst>
  </p:cSld>
</p:sld>
</file>

<file path=ppt/slides/slide3.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FF1E366-7CE0-44C1-920A-9E194BABFE6F}"/>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1E1C48-7408-4666-84B5-077482527DC9}"/>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242"/>
          </a:bodyPr>
          <a:lstStyle xmlns:a="http://schemas.openxmlformats.org/drawingml/2006/main"/>
          <a:p xmlns:a="http://schemas.openxmlformats.org/drawingml/2006/main">
            <a:pPr>
              <a:buNone/>
              <a:defRPr sz="3300" b="1" i="0">
                <a:solidFill>
                  <a:srgbClr val="F7FAFC"/>
                </a:solidFill>
                <a:latin typeface="Arial"/>
                <a:ea typeface="Arial"/>
                <a:cs typeface="Arial"/>
              </a:defRPr>
            </a:pPr>
            <a:r>
              <a:rPr sz="3300" b="1" i="0">
                <a:solidFill>
                  <a:srgbClr val="F7FAFC"/>
                </a:solidFill>
                <a:latin typeface="Arial"/>
                <a:ea typeface="Arial"/>
                <a:cs typeface="Arial"/>
              </a:rPr>
              <a:t>What changed after Review 1</a:t>
            </a:r>
          </a:p>
        </p:txBody>
      </p:sp>
      <p:sp>
        <p:nvSpPr>
          <p:cNvPr id="3" name="">
            <a:extLst xmlns:a="http://schemas.openxmlformats.org/drawingml/2006/main">
              <a:ext uri="{FF2B5EF4-FFF2-40B4-BE49-F238E27FC236}">
                <a16:creationId xmlns:a16="http://schemas.microsoft.com/office/drawing/2014/main" id="{2875CFF0-FDAA-4EA3-8F5D-CF47504627FC}"/>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75" b="0" i="0">
                <a:solidFill>
                  <a:srgbClr val="AFC0D4"/>
                </a:solidFill>
                <a:latin typeface="Arial"/>
                <a:ea typeface="Arial"/>
                <a:cs typeface="Arial"/>
              </a:defRPr>
            </a:pPr>
            <a:r>
              <a:rPr sz="1575" b="0" i="0">
                <a:solidFill>
                  <a:srgbClr val="AFC0D4"/>
                </a:solidFill>
                <a:latin typeface="Arial"/>
                <a:ea typeface="Arial"/>
                <a:cs typeface="Arial"/>
              </a:rPr>
              <a:t>Stronger evidence changed the conclusion, and that is useful progress</a:t>
            </a:r>
          </a:p>
        </p:txBody>
      </p:sp>
      <p:sp>
        <p:nvSpPr>
          <p:cNvPr id="4" name="">
            <a:extLst xmlns:a="http://schemas.openxmlformats.org/drawingml/2006/main">
              <a:ext uri="{FF2B5EF4-FFF2-40B4-BE49-F238E27FC236}">
                <a16:creationId xmlns:a16="http://schemas.microsoft.com/office/drawing/2014/main" id="{5BAE5303-1DD6-4745-9FDD-A3E0B7762031}"/>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Development evidence only. Final test remains sealed.</a:t>
            </a:r>
          </a:p>
        </p:txBody>
      </p:sp>
      <p:sp>
        <p:nvSpPr>
          <p:cNvPr id="5" name="">
            <a:extLst xmlns:a="http://schemas.openxmlformats.org/drawingml/2006/main">
              <a:ext uri="{FF2B5EF4-FFF2-40B4-BE49-F238E27FC236}">
                <a16:creationId xmlns:a16="http://schemas.microsoft.com/office/drawing/2014/main" id="{382A6C46-CEC6-4931-86D2-442888D9CB43}"/>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3</a:t>
            </a:r>
          </a:p>
        </p:txBody>
      </p:sp>
      <p:sp>
        <p:nvSpPr>
          <p:cNvPr id="6" name="">
            <a:extLst xmlns:a="http://schemas.openxmlformats.org/drawingml/2006/main">
              <a:ext uri="{FF2B5EF4-FFF2-40B4-BE49-F238E27FC236}">
                <a16:creationId xmlns:a16="http://schemas.microsoft.com/office/drawing/2014/main" id="{05852456-31DD-4F37-ACEC-F3C5A6F66538}"/>
              </a:ext>
            </a:extLst>
          </p:cNvPr>
          <p:cNvSpPr>
            <a:spLocks xmlns:a="http://schemas.openxmlformats.org/drawingml/2006/main" noGrp="1"/>
          </p:cNvSpPr>
          <p:nvPr/>
        </p:nvSpPr>
        <p:spPr>
          <a:xfrm xmlns:a="http://schemas.openxmlformats.org/drawingml/2006/main">
            <a:off x="762000" y="1619250"/>
            <a:ext cx="4572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550" b="1" i="0">
                <a:solidFill>
                  <a:srgbClr val="F6A20A"/>
                </a:solidFill>
                <a:latin typeface="Arial"/>
                <a:ea typeface="Arial"/>
                <a:cs typeface="Arial"/>
              </a:defRPr>
            </a:pPr>
            <a:r>
              <a:rPr sz="2550" b="1" i="0">
                <a:solidFill>
                  <a:srgbClr val="F6A20A"/>
                </a:solidFill>
                <a:latin typeface="Arial"/>
                <a:ea typeface="Arial"/>
                <a:cs typeface="Arial"/>
              </a:rPr>
              <a:t>Review 1</a:t>
            </a:r>
          </a:p>
        </p:txBody>
      </p:sp>
      <p:sp>
        <p:nvSpPr>
          <p:cNvPr id="7" name="">
            <a:extLst xmlns:a="http://schemas.openxmlformats.org/drawingml/2006/main">
              <a:ext uri="{FF2B5EF4-FFF2-40B4-BE49-F238E27FC236}">
                <a16:creationId xmlns:a16="http://schemas.microsoft.com/office/drawing/2014/main" id="{6E6EE342-2327-48D9-A15B-620F2772CF14}"/>
              </a:ext>
            </a:extLst>
          </p:cNvPr>
          <p:cNvSpPr>
            <a:spLocks xmlns:a="http://schemas.openxmlformats.org/drawingml/2006/main" noGrp="1"/>
          </p:cNvSpPr>
          <p:nvPr/>
        </p:nvSpPr>
        <p:spPr>
          <a:xfrm xmlns:a="http://schemas.openxmlformats.org/drawingml/2006/main">
            <a:off x="762000" y="211455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00" b="0" i="0">
                <a:solidFill>
                  <a:srgbClr val="AFC0D4"/>
                </a:solidFill>
                <a:latin typeface="Arial"/>
                <a:ea typeface="Arial"/>
                <a:cs typeface="Arial"/>
              </a:defRPr>
            </a:pPr>
            <a:r>
              <a:rPr sz="1500" b="0" i="0">
                <a:solidFill>
                  <a:srgbClr val="AFC0D4"/>
                </a:solidFill>
                <a:latin typeface="Arial"/>
                <a:ea typeface="Arial"/>
                <a:cs typeface="Arial"/>
              </a:rPr>
              <a:t>Pilot evidence</a:t>
            </a:r>
          </a:p>
        </p:txBody>
      </p:sp>
      <p:sp>
        <p:nvSpPr>
          <p:cNvPr id="8" name="">
            <a:extLst xmlns:a="http://schemas.openxmlformats.org/drawingml/2006/main">
              <a:ext uri="{FF2B5EF4-FFF2-40B4-BE49-F238E27FC236}">
                <a16:creationId xmlns:a16="http://schemas.microsoft.com/office/drawing/2014/main" id="{D36DA078-83A5-4823-A1BD-666E4046F861}"/>
              </a:ext>
            </a:extLst>
          </p:cNvPr>
          <p:cNvSpPr>
            <a:spLocks xmlns:a="http://schemas.openxmlformats.org/drawingml/2006/main" noGrp="1"/>
          </p:cNvSpPr>
          <p:nvPr/>
        </p:nvSpPr>
        <p:spPr>
          <a:xfrm xmlns:a="http://schemas.openxmlformats.org/drawingml/2006/main">
            <a:off x="762000" y="2619375"/>
            <a:ext cx="47625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marL="254000" indent="-127000">
              <a:spcAft>
                <a:spcPts val="1100"/>
              </a:spcAft>
              <a:buChar char="•"/>
              <a:defRPr sz="1800">
                <a:solidFill>
                  <a:srgbClr val="F7FAFC"/>
                </a:solidFill>
                <a:latin typeface="Arial"/>
                <a:ea typeface="Arial"/>
                <a:cs typeface="Arial"/>
              </a:defRPr>
            </a:pPr>
            <a:r>
              <a:rPr sz="1800">
                <a:solidFill>
                  <a:srgbClr val="F7FAFC"/>
                </a:solidFill>
                <a:latin typeface="Arial"/>
                <a:ea typeface="Arial"/>
                <a:cs typeface="Arial"/>
              </a:rPr>
              <a:t>5,000-update pilot per arm.</a:t>
            </a:r>
          </a:p>
          <a:p xmlns:a="http://schemas.openxmlformats.org/drawingml/2006/main">
            <a:pPr marL="254000" indent="-127000">
              <a:spcAft>
                <a:spcPts val="1100"/>
              </a:spcAft>
              <a:buChar char="•"/>
              <a:defRPr sz="1800">
                <a:solidFill>
                  <a:srgbClr val="F7FAFC"/>
                </a:solidFill>
                <a:latin typeface="Arial"/>
                <a:ea typeface="Arial"/>
                <a:cs typeface="Arial"/>
              </a:defRPr>
            </a:pPr>
            <a:r>
              <a:rPr sz="1800">
                <a:solidFill>
                  <a:srgbClr val="F7FAFC"/>
                </a:solidFill>
                <a:latin typeface="Arial"/>
                <a:ea typeface="Arial"/>
                <a:cs typeface="Arial"/>
              </a:rPr>
              <a:t>Early development result: </a:t>
            </a:r>
            <a:r>
              <a:rPr sz="1800">
                <a:solidFill>
                  <a:srgbClr val="F7FAFC"/>
                </a:solidFill>
                <a:latin typeface="Arial"/>
                <a:ea typeface="Arial"/>
                <a:cs typeface="Arial"/>
              </a:rPr>
              <a:t>E1</a:t>
            </a:r>
            <a:r>
              <a:rPr sz="1800">
                <a:solidFill>
                  <a:srgbClr val="F7FAFC"/>
                </a:solidFill>
                <a:latin typeface="Arial"/>
                <a:ea typeface="Arial"/>
                <a:cs typeface="Arial"/>
              </a:rPr>
              <a:t> AP50 0.0692 versus </a:t>
            </a:r>
            <a:r>
              <a:rPr sz="1800">
                <a:solidFill>
                  <a:srgbClr val="F7FAFC"/>
                </a:solidFill>
                <a:latin typeface="Arial"/>
                <a:ea typeface="Arial"/>
                <a:cs typeface="Arial"/>
              </a:rPr>
              <a:t>E2</a:t>
            </a:r>
            <a:r>
              <a:rPr sz="1800">
                <a:solidFill>
                  <a:srgbClr val="F7FAFC"/>
                </a:solidFill>
                <a:latin typeface="Arial"/>
                <a:ea typeface="Arial"/>
                <a:cs typeface="Arial"/>
              </a:rPr>
              <a:t> 0.0120.</a:t>
            </a:r>
          </a:p>
          <a:p xmlns:a="http://schemas.openxmlformats.org/drawingml/2006/main">
            <a:pPr marL="254000" indent="-127000">
              <a:spcAft>
                <a:spcPts val="1100"/>
              </a:spcAft>
              <a:buChar char="•"/>
              <a:defRPr sz="1800">
                <a:solidFill>
                  <a:srgbClr val="F7FAFC"/>
                </a:solidFill>
                <a:latin typeface="Arial"/>
                <a:ea typeface="Arial"/>
                <a:cs typeface="Arial"/>
              </a:defRPr>
            </a:pPr>
            <a:r>
              <a:rPr sz="1800">
                <a:solidFill>
                  <a:srgbClr val="F7FAFC"/>
                </a:solidFill>
                <a:latin typeface="Arial"/>
                <a:ea typeface="Arial"/>
                <a:cs typeface="Arial"/>
              </a:rPr>
              <a:t>Architecture, split logic, and initial training pipeline completed.</a:t>
            </a:r>
          </a:p>
          <a:p xmlns:a="http://schemas.openxmlformats.org/drawingml/2006/main">
            <a:pPr marL="254000" indent="-127000">
              <a:spcAft>
                <a:spcPts val="1100"/>
              </a:spcAft>
              <a:buChar char="•"/>
              <a:defRPr sz="1800">
                <a:solidFill>
                  <a:srgbClr val="F7FAFC"/>
                </a:solidFill>
                <a:latin typeface="Arial"/>
                <a:ea typeface="Arial"/>
                <a:cs typeface="Arial"/>
              </a:defRPr>
            </a:pPr>
            <a:r>
              <a:rPr sz="1800">
                <a:solidFill>
                  <a:srgbClr val="F7FAFC"/>
                </a:solidFill>
                <a:latin typeface="Arial"/>
                <a:ea typeface="Arial"/>
                <a:cs typeface="Arial"/>
              </a:rPr>
              <a:t>The early result suggested that flight state might help.</a:t>
            </a:r>
          </a:p>
        </p:txBody>
      </p:sp>
      <p:sp>
        <p:nvSpPr>
          <p:cNvPr id="9" name="">
            <a:extLst xmlns:a="http://schemas.openxmlformats.org/drawingml/2006/main">
              <a:ext uri="{FF2B5EF4-FFF2-40B4-BE49-F238E27FC236}">
                <a16:creationId xmlns:a16="http://schemas.microsoft.com/office/drawing/2014/main" id="{F5E52CD5-01AB-4866-BA50-9A512AAEAB53}"/>
              </a:ext>
            </a:extLst>
          </p:cNvPr>
          <p:cNvSpPr>
            <a:spLocks xmlns:a="http://schemas.openxmlformats.org/drawingml/2006/main" noGrp="1"/>
          </p:cNvSpPr>
          <p:nvPr/>
        </p:nvSpPr>
        <p:spPr>
          <a:xfrm xmlns:a="http://schemas.openxmlformats.org/drawingml/2006/main">
            <a:off x="6019800" y="1619250"/>
            <a:ext cx="19050" cy="4191000"/>
          </a:xfrm>
          <a:prstGeom xmlns:a="http://schemas.openxmlformats.org/drawingml/2006/main" prst="rect">
            <a:avLst/>
          </a:prstGeom>
          <a:solidFill xmlns:a="http://schemas.openxmlformats.org/drawingml/2006/main">
            <a:srgbClr val="26415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8629023-37F8-4B00-9BAE-2590717841B4}"/>
              </a:ext>
            </a:extLst>
          </p:cNvPr>
          <p:cNvSpPr>
            <a:spLocks xmlns:a="http://schemas.openxmlformats.org/drawingml/2006/main" noGrp="1"/>
          </p:cNvSpPr>
          <p:nvPr/>
        </p:nvSpPr>
        <p:spPr>
          <a:xfrm xmlns:a="http://schemas.openxmlformats.org/drawingml/2006/main">
            <a:off x="6667500" y="1619250"/>
            <a:ext cx="4572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550" b="1" i="0">
                <a:solidFill>
                  <a:srgbClr val="2CC7DF"/>
                </a:solidFill>
                <a:latin typeface="Arial"/>
                <a:ea typeface="Arial"/>
                <a:cs typeface="Arial"/>
              </a:defRPr>
            </a:pPr>
            <a:r>
              <a:rPr sz="2550" b="1" i="0">
                <a:solidFill>
                  <a:srgbClr val="2CC7DF"/>
                </a:solidFill>
                <a:latin typeface="Arial"/>
                <a:ea typeface="Arial"/>
                <a:cs typeface="Arial"/>
              </a:rPr>
              <a:t>Review 2</a:t>
            </a:r>
          </a:p>
        </p:txBody>
      </p:sp>
      <p:sp>
        <p:nvSpPr>
          <p:cNvPr id="11" name="">
            <a:extLst xmlns:a="http://schemas.openxmlformats.org/drawingml/2006/main">
              <a:ext uri="{FF2B5EF4-FFF2-40B4-BE49-F238E27FC236}">
                <a16:creationId xmlns:a16="http://schemas.microsoft.com/office/drawing/2014/main" id="{FA7BE886-340A-48FC-8819-140F96E7F05A}"/>
              </a:ext>
            </a:extLst>
          </p:cNvPr>
          <p:cNvSpPr>
            <a:spLocks xmlns:a="http://schemas.openxmlformats.org/drawingml/2006/main" noGrp="1"/>
          </p:cNvSpPr>
          <p:nvPr/>
        </p:nvSpPr>
        <p:spPr>
          <a:xfrm xmlns:a="http://schemas.openxmlformats.org/drawingml/2006/main">
            <a:off x="6667500" y="211455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00" b="0" i="0">
                <a:solidFill>
                  <a:srgbClr val="AFC0D4"/>
                </a:solidFill>
                <a:latin typeface="Arial"/>
                <a:ea typeface="Arial"/>
                <a:cs typeface="Arial"/>
              </a:defRPr>
            </a:pPr>
            <a:r>
              <a:rPr sz="1500" b="0" i="0">
                <a:solidFill>
                  <a:srgbClr val="AFC0D4"/>
                </a:solidFill>
                <a:latin typeface="Arial"/>
                <a:ea typeface="Arial"/>
                <a:cs typeface="Arial"/>
              </a:rPr>
              <a:t>Full-pass evidence</a:t>
            </a:r>
          </a:p>
        </p:txBody>
      </p:sp>
      <p:sp>
        <p:nvSpPr>
          <p:cNvPr id="12" name="">
            <a:extLst xmlns:a="http://schemas.openxmlformats.org/drawingml/2006/main">
              <a:ext uri="{FF2B5EF4-FFF2-40B4-BE49-F238E27FC236}">
                <a16:creationId xmlns:a16="http://schemas.microsoft.com/office/drawing/2014/main" id="{623284DA-D18F-4822-A700-01B4AF413ADD}"/>
              </a:ext>
            </a:extLst>
          </p:cNvPr>
          <p:cNvSpPr>
            <a:spLocks xmlns:a="http://schemas.openxmlformats.org/drawingml/2006/main" noGrp="1"/>
          </p:cNvSpPr>
          <p:nvPr/>
        </p:nvSpPr>
        <p:spPr>
          <a:xfrm xmlns:a="http://schemas.openxmlformats.org/drawingml/2006/main">
            <a:off x="6667500" y="2619375"/>
            <a:ext cx="47625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marL="254000" indent="-127000">
              <a:spcAft>
                <a:spcPts val="1100"/>
              </a:spcAft>
              <a:buChar char="•"/>
              <a:defRPr sz="1800">
                <a:solidFill>
                  <a:srgbClr val="F7FAFC"/>
                </a:solidFill>
                <a:latin typeface="Arial"/>
                <a:ea typeface="Arial"/>
                <a:cs typeface="Arial"/>
              </a:defRPr>
            </a:pPr>
            <a:r>
              <a:rPr sz="1800">
                <a:solidFill>
                  <a:srgbClr val="F7FAFC"/>
                </a:solidFill>
                <a:latin typeface="Arial"/>
                <a:ea typeface="Arial"/>
                <a:cs typeface="Arial"/>
              </a:rPr>
              <a:t>All 18,523 training frames per arm and every loss step stored.</a:t>
            </a:r>
          </a:p>
          <a:p xmlns:a="http://schemas.openxmlformats.org/drawingml/2006/main">
            <a:pPr marL="254000" indent="-127000">
              <a:spcAft>
                <a:spcPts val="1100"/>
              </a:spcAft>
              <a:buChar char="•"/>
              <a:defRPr sz="1800">
                <a:solidFill>
                  <a:srgbClr val="F7FAFC"/>
                </a:solidFill>
                <a:latin typeface="Arial"/>
                <a:ea typeface="Arial"/>
                <a:cs typeface="Arial"/>
              </a:defRPr>
            </a:pPr>
            <a:r>
              <a:rPr sz="1800">
                <a:solidFill>
                  <a:srgbClr val="F7FAFC"/>
                </a:solidFill>
                <a:latin typeface="Arial"/>
                <a:ea typeface="Arial"/>
                <a:cs typeface="Arial"/>
              </a:rPr>
              <a:t>E2</a:t>
            </a:r>
            <a:r>
              <a:rPr sz="1800">
                <a:solidFill>
                  <a:srgbClr val="F7FAFC"/>
                </a:solidFill>
                <a:latin typeface="Arial"/>
                <a:ea typeface="Arial"/>
                <a:cs typeface="Arial"/>
              </a:rPr>
              <a:t> reached AP50 0.1698 and led jointly trained </a:t>
            </a:r>
            <a:r>
              <a:rPr sz="1800">
                <a:solidFill>
                  <a:srgbClr val="F7FAFC"/>
                </a:solidFill>
                <a:latin typeface="Arial"/>
                <a:ea typeface="Arial"/>
                <a:cs typeface="Arial"/>
              </a:rPr>
              <a:t>E1</a:t>
            </a:r>
            <a:r>
              <a:rPr sz="1800">
                <a:solidFill>
                  <a:srgbClr val="F7FAFC"/>
                </a:solidFill>
                <a:latin typeface="Arial"/>
                <a:ea typeface="Arial"/>
                <a:cs typeface="Arial"/>
              </a:rPr>
              <a:t> at 0.1146.</a:t>
            </a:r>
          </a:p>
          <a:p xmlns:a="http://schemas.openxmlformats.org/drawingml/2006/main">
            <a:pPr marL="254000" indent="-127000">
              <a:spcAft>
                <a:spcPts val="1100"/>
              </a:spcAft>
              <a:buChar char="•"/>
              <a:defRPr sz="1800">
                <a:solidFill>
                  <a:srgbClr val="F7FAFC"/>
                </a:solidFill>
                <a:latin typeface="Arial"/>
                <a:ea typeface="Arial"/>
                <a:cs typeface="Arial"/>
              </a:defRPr>
            </a:pPr>
            <a:r>
              <a:rPr sz="1800">
                <a:solidFill>
                  <a:srgbClr val="F7FAFC"/>
                </a:solidFill>
                <a:latin typeface="Arial"/>
                <a:ea typeface="Arial"/>
                <a:cs typeface="Arial"/>
              </a:rPr>
              <a:t>Stress tests identified visual-weight drift in E2.</a:t>
            </a:r>
          </a:p>
          <a:p xmlns:a="http://schemas.openxmlformats.org/drawingml/2006/main">
            <a:pPr marL="254000" indent="-127000">
              <a:spcAft>
                <a:spcPts val="1100"/>
              </a:spcAft>
              <a:buChar char="•"/>
              <a:defRPr sz="1800">
                <a:solidFill>
                  <a:srgbClr val="F7FAFC"/>
                </a:solidFill>
                <a:latin typeface="Arial"/>
                <a:ea typeface="Arial"/>
                <a:cs typeface="Arial"/>
              </a:defRPr>
            </a:pPr>
            <a:r>
              <a:rPr sz="1800">
                <a:solidFill>
                  <a:srgbClr val="F7FAFC"/>
                </a:solidFill>
                <a:latin typeface="Arial"/>
                <a:ea typeface="Arial"/>
                <a:cs typeface="Arial"/>
              </a:rPr>
              <a:t>E4 recovered to AP50 0.1697, but flight state still gave no reliable gain.</a:t>
            </a:r>
          </a:p>
        </p:txBody>
      </p:sp>
      <p:sp>
        <p:nvSpPr>
          <p:cNvPr id="13" name="">
            <a:extLst xmlns:a="http://schemas.openxmlformats.org/drawingml/2006/main">
              <a:ext uri="{FF2B5EF4-FFF2-40B4-BE49-F238E27FC236}">
                <a16:creationId xmlns:a16="http://schemas.microsoft.com/office/drawing/2014/main" id="{FBF6CAD6-250B-472E-BC64-FA30D13C5AE7}"/>
              </a:ext>
            </a:extLst>
          </p:cNvPr>
          <p:cNvSpPr>
            <a:spLocks xmlns:a="http://schemas.openxmlformats.org/drawingml/2006/main" noGrp="1"/>
          </p:cNvSpPr>
          <p:nvPr/>
        </p:nvSpPr>
        <p:spPr>
          <a:xfrm xmlns:a="http://schemas.openxmlformats.org/drawingml/2006/main">
            <a:off x="1809750" y="5953125"/>
            <a:ext cx="857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650" b="1" i="0">
                <a:solidFill>
                  <a:srgbClr val="38D39F"/>
                </a:solidFill>
                <a:latin typeface="Arial"/>
                <a:ea typeface="Arial"/>
                <a:cs typeface="Arial"/>
              </a:defRPr>
            </a:pPr>
            <a:r>
              <a:rPr sz="1650" b="1" i="0">
                <a:solidFill>
                  <a:srgbClr val="38D39F"/>
                </a:solidFill>
                <a:latin typeface="Arial"/>
                <a:ea typeface="Arial"/>
                <a:cs typeface="Arial"/>
              </a:rPr>
              <a:t>Review 2 replaced an early promise with a tested decision: keep </a:t>
            </a:r>
            <a:r>
              <a:rPr sz="1650" b="1" i="0">
                <a:solidFill>
                  <a:srgbClr val="38D39F"/>
                </a:solidFill>
                <a:latin typeface="Arial"/>
                <a:ea typeface="Arial"/>
                <a:cs typeface="Arial"/>
              </a:rPr>
              <a:t>E2</a:t>
            </a:r>
            <a:r>
              <a:rPr sz="1650" b="1" i="0">
                <a:solidFill>
                  <a:srgbClr val="38D39F"/>
                </a:solidFill>
                <a:latin typeface="Arial"/>
                <a:ea typeface="Arial"/>
                <a:cs typeface="Arial"/>
              </a:rPr>
              <a:t>.</a:t>
            </a:r>
          </a:p>
        </p:txBody>
      </p:sp>
    </p:spTree>
    <p:extLst>
      <p:ext uri="{BB962C8B-B14F-4D97-AF65-F5344CB8AC3E}">
        <p14:creationId xmlns:p14="http://schemas.microsoft.com/office/powerpoint/2010/main" val="730273900"/>
      </p:ext>
    </p:extLst>
  </p:cSld>
</p:sld>
</file>

<file path=ppt/slides/slide4.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409F851-3ADB-41B5-943B-DEAF5F58AD8B}"/>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049502-4553-4149-9A4C-447949BC8652}"/>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242"/>
          </a:bodyPr>
          <a:lstStyle xmlns:a="http://schemas.openxmlformats.org/drawingml/2006/main"/>
          <a:p xmlns:a="http://schemas.openxmlformats.org/drawingml/2006/main">
            <a:pPr>
              <a:buNone/>
              <a:defRPr sz="3300" b="1" i="0">
                <a:solidFill>
                  <a:srgbClr val="F7FAFC"/>
                </a:solidFill>
                <a:latin typeface="Arial"/>
                <a:ea typeface="Arial"/>
                <a:cs typeface="Arial"/>
              </a:defRPr>
            </a:pPr>
            <a:r>
              <a:rPr sz="3300" b="1" i="0">
                <a:solidFill>
                  <a:srgbClr val="F7FAFC"/>
                </a:solidFill>
                <a:latin typeface="Arial"/>
                <a:ea typeface="Arial"/>
                <a:cs typeface="Arial"/>
              </a:rPr>
              <a:t>Dataset and evaluation protocol</a:t>
            </a:r>
          </a:p>
        </p:txBody>
      </p:sp>
      <p:sp>
        <p:nvSpPr>
          <p:cNvPr id="3" name="">
            <a:extLst xmlns:a="http://schemas.openxmlformats.org/drawingml/2006/main">
              <a:ext uri="{FF2B5EF4-FFF2-40B4-BE49-F238E27FC236}">
                <a16:creationId xmlns:a16="http://schemas.microsoft.com/office/drawing/2014/main" id="{D1A02937-2B90-466B-B6AF-3896E72D942B}"/>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75" b="0" i="0">
                <a:solidFill>
                  <a:srgbClr val="AFC0D4"/>
                </a:solidFill>
                <a:latin typeface="Arial"/>
                <a:ea typeface="Arial"/>
                <a:cs typeface="Arial"/>
              </a:defRPr>
            </a:pPr>
            <a:r>
              <a:rPr sz="1575" b="0" i="0">
                <a:solidFill>
                  <a:srgbClr val="AFC0D4"/>
                </a:solidFill>
                <a:latin typeface="Arial"/>
                <a:ea typeface="Arial"/>
                <a:cs typeface="Arial"/>
              </a:rPr>
              <a:t>Complete flight recordings stay together to prevent near-duplicate leakage</a:t>
            </a:r>
          </a:p>
        </p:txBody>
      </p:sp>
      <p:sp>
        <p:nvSpPr>
          <p:cNvPr id="4" name="">
            <a:extLst xmlns:a="http://schemas.openxmlformats.org/drawingml/2006/main">
              <a:ext uri="{FF2B5EF4-FFF2-40B4-BE49-F238E27FC236}">
                <a16:creationId xmlns:a16="http://schemas.microsoft.com/office/drawing/2014/main" id="{3008B7C5-BA47-4566-932B-80B7FD870DF5}"/>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Development evidence only. Final test remains sealed.</a:t>
            </a:r>
          </a:p>
        </p:txBody>
      </p:sp>
      <p:sp>
        <p:nvSpPr>
          <p:cNvPr id="5" name="">
            <a:extLst xmlns:a="http://schemas.openxmlformats.org/drawingml/2006/main">
              <a:ext uri="{FF2B5EF4-FFF2-40B4-BE49-F238E27FC236}">
                <a16:creationId xmlns:a16="http://schemas.microsoft.com/office/drawing/2014/main" id="{63FCCCE5-D5AB-43B2-AB53-86D34033AC94}"/>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4</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b4fd239174d4e88"/>
          <a:stretch xmlns:a="http://schemas.openxmlformats.org/drawingml/2006/main"/>
        </p:blipFill>
        <p:spPr>
          <a:xfrm xmlns:a="http://schemas.openxmlformats.org/drawingml/2006/main">
            <a:off x="1306286" y="1381125"/>
            <a:ext cx="6531429" cy="3810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82461C8-3B6C-4807-AD17-8F1A24D93452}"/>
              </a:ext>
            </a:extLst>
          </p:cNvPr>
          <p:cNvSpPr>
            <a:spLocks xmlns:a="http://schemas.openxmlformats.org/drawingml/2006/main" noGrp="1"/>
          </p:cNvSpPr>
          <p:nvPr/>
        </p:nvSpPr>
        <p:spPr>
          <a:xfrm xmlns:a="http://schemas.openxmlformats.org/drawingml/2006/main">
            <a:off x="8953500" y="1857375"/>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167"/>
          </a:bodyPr>
          <a:lstStyle xmlns:a="http://schemas.openxmlformats.org/drawingml/2006/main"/>
          <a:p xmlns:a="http://schemas.openxmlformats.org/drawingml/2006/main">
            <a:pPr>
              <a:buNone/>
              <a:defRPr sz="3000" b="1" i="0">
                <a:solidFill>
                  <a:srgbClr val="2CC7DF"/>
                </a:solidFill>
                <a:latin typeface="Arial"/>
                <a:ea typeface="Arial"/>
                <a:cs typeface="Arial"/>
              </a:defRPr>
            </a:pPr>
            <a:r>
              <a:rPr sz="3000" b="1" i="0">
                <a:solidFill>
                  <a:srgbClr val="2CC7DF"/>
                </a:solidFill>
                <a:latin typeface="Arial"/>
                <a:ea typeface="Arial"/>
                <a:cs typeface="Arial"/>
              </a:rPr>
              <a:t>56.43%</a:t>
            </a:r>
          </a:p>
        </p:txBody>
      </p:sp>
      <p:sp>
        <p:nvSpPr>
          <p:cNvPr id="8" name="">
            <a:extLst xmlns:a="http://schemas.openxmlformats.org/drawingml/2006/main">
              <a:ext uri="{FF2B5EF4-FFF2-40B4-BE49-F238E27FC236}">
                <a16:creationId xmlns:a16="http://schemas.microsoft.com/office/drawing/2014/main" id="{474F3499-F597-4D5B-9AF7-65FDAA68483C}"/>
              </a:ext>
            </a:extLst>
          </p:cNvPr>
          <p:cNvSpPr>
            <a:spLocks xmlns:a="http://schemas.openxmlformats.org/drawingml/2006/main" noGrp="1"/>
          </p:cNvSpPr>
          <p:nvPr/>
        </p:nvSpPr>
        <p:spPr>
          <a:xfrm xmlns:a="http://schemas.openxmlformats.org/drawingml/2006/main">
            <a:off x="8982075" y="2333625"/>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00" b="0" i="0">
                <a:solidFill>
                  <a:srgbClr val="AFC0D4"/>
                </a:solidFill>
                <a:latin typeface="Arial"/>
                <a:ea typeface="Arial"/>
                <a:cs typeface="Arial"/>
              </a:defRPr>
            </a:pPr>
            <a:r>
              <a:rPr sz="1500" b="0" i="0">
                <a:solidFill>
                  <a:srgbClr val="AFC0D4"/>
                </a:solidFill>
                <a:latin typeface="Arial"/>
                <a:ea typeface="Arial"/>
                <a:cs typeface="Arial"/>
              </a:rPr>
              <a:t>18,523 training frames</a:t>
            </a:r>
          </a:p>
        </p:txBody>
      </p:sp>
      <p:sp>
        <p:nvSpPr>
          <p:cNvPr id="9" name="">
            <a:extLst xmlns:a="http://schemas.openxmlformats.org/drawingml/2006/main">
              <a:ext uri="{FF2B5EF4-FFF2-40B4-BE49-F238E27FC236}">
                <a16:creationId xmlns:a16="http://schemas.microsoft.com/office/drawing/2014/main" id="{DF5A1B87-83D1-48FA-935F-68E271B79EAB}"/>
              </a:ext>
            </a:extLst>
          </p:cNvPr>
          <p:cNvSpPr>
            <a:spLocks xmlns:a="http://schemas.openxmlformats.org/drawingml/2006/main" noGrp="1"/>
          </p:cNvSpPr>
          <p:nvPr/>
        </p:nvSpPr>
        <p:spPr>
          <a:xfrm xmlns:a="http://schemas.openxmlformats.org/drawingml/2006/main">
            <a:off x="8953500" y="3190875"/>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167"/>
          </a:bodyPr>
          <a:lstStyle xmlns:a="http://schemas.openxmlformats.org/drawingml/2006/main"/>
          <a:p xmlns:a="http://schemas.openxmlformats.org/drawingml/2006/main">
            <a:pPr>
              <a:buNone/>
              <a:defRPr sz="3000" b="1" i="0">
                <a:solidFill>
                  <a:srgbClr val="F6A20A"/>
                </a:solidFill>
                <a:latin typeface="Arial"/>
                <a:ea typeface="Arial"/>
                <a:cs typeface="Arial"/>
              </a:defRPr>
            </a:pPr>
            <a:r>
              <a:rPr sz="3000" b="1" i="0">
                <a:solidFill>
                  <a:srgbClr val="F6A20A"/>
                </a:solidFill>
                <a:latin typeface="Arial"/>
                <a:ea typeface="Arial"/>
                <a:cs typeface="Arial"/>
              </a:rPr>
              <a:t>17.47%</a:t>
            </a:r>
          </a:p>
        </p:txBody>
      </p:sp>
      <p:sp>
        <p:nvSpPr>
          <p:cNvPr id="10" name="">
            <a:extLst xmlns:a="http://schemas.openxmlformats.org/drawingml/2006/main">
              <a:ext uri="{FF2B5EF4-FFF2-40B4-BE49-F238E27FC236}">
                <a16:creationId xmlns:a16="http://schemas.microsoft.com/office/drawing/2014/main" id="{CDE63E67-6622-45AB-AFFB-C9BE552F0E39}"/>
              </a:ext>
            </a:extLst>
          </p:cNvPr>
          <p:cNvSpPr>
            <a:spLocks xmlns:a="http://schemas.openxmlformats.org/drawingml/2006/main" noGrp="1"/>
          </p:cNvSpPr>
          <p:nvPr/>
        </p:nvSpPr>
        <p:spPr>
          <a:xfrm xmlns:a="http://schemas.openxmlformats.org/drawingml/2006/main">
            <a:off x="8982075" y="3667125"/>
            <a:ext cx="238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7447"/>
          </a:bodyPr>
          <a:lstStyle xmlns:a="http://schemas.openxmlformats.org/drawingml/2006/main"/>
          <a:p xmlns:a="http://schemas.openxmlformats.org/drawingml/2006/main">
            <a:pPr>
              <a:buNone/>
              <a:defRPr sz="1500" b="0" i="0">
                <a:solidFill>
                  <a:srgbClr val="AFC0D4"/>
                </a:solidFill>
                <a:latin typeface="Arial"/>
                <a:ea typeface="Arial"/>
                <a:cs typeface="Arial"/>
              </a:defRPr>
            </a:pPr>
            <a:r>
              <a:rPr sz="1500" b="0" i="0">
                <a:solidFill>
                  <a:srgbClr val="AFC0D4"/>
                </a:solidFill>
                <a:latin typeface="Arial"/>
                <a:ea typeface="Arial"/>
                <a:cs typeface="Arial"/>
              </a:rPr>
              <a:t>5,734 development frames</a:t>
            </a:r>
          </a:p>
        </p:txBody>
      </p:sp>
      <p:sp>
        <p:nvSpPr>
          <p:cNvPr id="11" name="">
            <a:extLst xmlns:a="http://schemas.openxmlformats.org/drawingml/2006/main">
              <a:ext uri="{FF2B5EF4-FFF2-40B4-BE49-F238E27FC236}">
                <a16:creationId xmlns:a16="http://schemas.microsoft.com/office/drawing/2014/main" id="{3E8B08B0-0A71-4672-9B67-9163D328E220}"/>
              </a:ext>
            </a:extLst>
          </p:cNvPr>
          <p:cNvSpPr>
            <a:spLocks xmlns:a="http://schemas.openxmlformats.org/drawingml/2006/main" noGrp="1"/>
          </p:cNvSpPr>
          <p:nvPr/>
        </p:nvSpPr>
        <p:spPr>
          <a:xfrm xmlns:a="http://schemas.openxmlformats.org/drawingml/2006/main">
            <a:off x="8953500" y="4524375"/>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167"/>
          </a:bodyPr>
          <a:lstStyle xmlns:a="http://schemas.openxmlformats.org/drawingml/2006/main"/>
          <a:p xmlns:a="http://schemas.openxmlformats.org/drawingml/2006/main">
            <a:pPr>
              <a:buNone/>
              <a:defRPr sz="3000" b="1" i="0">
                <a:solidFill>
                  <a:srgbClr val="9B83EE"/>
                </a:solidFill>
                <a:latin typeface="Arial"/>
                <a:ea typeface="Arial"/>
                <a:cs typeface="Arial"/>
              </a:defRPr>
            </a:pPr>
            <a:r>
              <a:rPr sz="3000" b="1" i="0">
                <a:solidFill>
                  <a:srgbClr val="9B83EE"/>
                </a:solidFill>
                <a:latin typeface="Arial"/>
                <a:ea typeface="Arial"/>
                <a:cs typeface="Arial"/>
              </a:rPr>
              <a:t>26.10%</a:t>
            </a:r>
          </a:p>
        </p:txBody>
      </p:sp>
      <p:sp>
        <p:nvSpPr>
          <p:cNvPr id="12" name="">
            <a:extLst xmlns:a="http://schemas.openxmlformats.org/drawingml/2006/main">
              <a:ext uri="{FF2B5EF4-FFF2-40B4-BE49-F238E27FC236}">
                <a16:creationId xmlns:a16="http://schemas.microsoft.com/office/drawing/2014/main" id="{E6E87EDC-2C3B-4709-923D-BA06435CB5F2}"/>
              </a:ext>
            </a:extLst>
          </p:cNvPr>
          <p:cNvSpPr>
            <a:spLocks xmlns:a="http://schemas.openxmlformats.org/drawingml/2006/main" noGrp="1"/>
          </p:cNvSpPr>
          <p:nvPr/>
        </p:nvSpPr>
        <p:spPr>
          <a:xfrm xmlns:a="http://schemas.openxmlformats.org/drawingml/2006/main">
            <a:off x="8982075" y="5000625"/>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897"/>
          </a:bodyPr>
          <a:lstStyle xmlns:a="http://schemas.openxmlformats.org/drawingml/2006/main"/>
          <a:p xmlns:a="http://schemas.openxmlformats.org/drawingml/2006/main">
            <a:pPr>
              <a:buNone/>
              <a:defRPr sz="1500" b="0" i="0">
                <a:solidFill>
                  <a:srgbClr val="AFC0D4"/>
                </a:solidFill>
                <a:latin typeface="Arial"/>
                <a:ea typeface="Arial"/>
                <a:cs typeface="Arial"/>
              </a:defRPr>
            </a:pPr>
            <a:r>
              <a:rPr sz="1500" b="0" i="0">
                <a:solidFill>
                  <a:srgbClr val="AFC0D4"/>
                </a:solidFill>
                <a:latin typeface="Arial"/>
                <a:ea typeface="Arial"/>
                <a:cs typeface="Arial"/>
              </a:rPr>
              <a:t>8,566 sealed final-test frames</a:t>
            </a:r>
          </a:p>
        </p:txBody>
      </p:sp>
      <p:sp>
        <p:nvSpPr>
          <p:cNvPr id="13" name="">
            <a:extLst xmlns:a="http://schemas.openxmlformats.org/drawingml/2006/main">
              <a:ext uri="{FF2B5EF4-FFF2-40B4-BE49-F238E27FC236}">
                <a16:creationId xmlns:a16="http://schemas.microsoft.com/office/drawing/2014/main" id="{B976069A-284C-429E-AEE4-4AE934273120}"/>
              </a:ext>
            </a:extLst>
          </p:cNvPr>
          <p:cNvSpPr>
            <a:spLocks xmlns:a="http://schemas.openxmlformats.org/drawingml/2006/main" noGrp="1"/>
          </p:cNvSpPr>
          <p:nvPr/>
        </p:nvSpPr>
        <p:spPr>
          <a:xfrm xmlns:a="http://schemas.openxmlformats.org/drawingml/2006/main">
            <a:off x="742950" y="5953125"/>
            <a:ext cx="666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buNone/>
              <a:defRPr sz="1650" b="1" i="0">
                <a:solidFill>
                  <a:srgbClr val="38D39F"/>
                </a:solidFill>
                <a:latin typeface="Arial"/>
                <a:ea typeface="Arial"/>
                <a:cs typeface="Arial"/>
              </a:defRPr>
            </a:pPr>
            <a:r>
              <a:rPr sz="1650" b="1" i="0">
                <a:solidFill>
                  <a:srgbClr val="38D39F"/>
                </a:solidFill>
                <a:latin typeface="Arial"/>
                <a:ea typeface="Arial"/>
                <a:cs typeface="Arial"/>
              </a:rPr>
              <a:t>8 recording roots · split by complete flight</a:t>
            </a:r>
          </a:p>
        </p:txBody>
      </p:sp>
    </p:spTree>
    <p:extLst>
      <p:ext uri="{BB962C8B-B14F-4D97-AF65-F5344CB8AC3E}">
        <p14:creationId xmlns:p14="http://schemas.microsoft.com/office/powerpoint/2010/main" val="606062200"/>
      </p:ext>
    </p:extLst>
  </p:cSld>
</p:sld>
</file>

<file path=ppt/slides/slide5.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0276563-2BA3-4F38-94AE-1E981FEB7DF7}"/>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EAD93A-9F3B-40D8-815E-DEEF6D10E493}"/>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242"/>
          </a:bodyPr>
          <a:lstStyle xmlns:a="http://schemas.openxmlformats.org/drawingml/2006/main"/>
          <a:p xmlns:a="http://schemas.openxmlformats.org/drawingml/2006/main">
            <a:pPr>
              <a:buNone/>
              <a:defRPr sz="3300" b="1" i="0">
                <a:solidFill>
                  <a:srgbClr val="F7FAFC"/>
                </a:solidFill>
                <a:latin typeface="Arial"/>
                <a:ea typeface="Arial"/>
                <a:cs typeface="Arial"/>
              </a:defRPr>
            </a:pPr>
            <a:r>
              <a:rPr sz="3300" b="1" i="0">
                <a:solidFill>
                  <a:srgbClr val="F7FAFC"/>
                </a:solidFill>
                <a:latin typeface="Arial"/>
                <a:ea typeface="Arial"/>
                <a:cs typeface="Arial"/>
              </a:rPr>
              <a:t>Model architecture and four experiments</a:t>
            </a:r>
          </a:p>
        </p:txBody>
      </p:sp>
      <p:sp>
        <p:nvSpPr>
          <p:cNvPr id="3" name="">
            <a:extLst xmlns:a="http://schemas.openxmlformats.org/drawingml/2006/main">
              <a:ext uri="{FF2B5EF4-FFF2-40B4-BE49-F238E27FC236}">
                <a16:creationId xmlns:a16="http://schemas.microsoft.com/office/drawing/2014/main" id="{50CB3638-2B64-4AB8-AD75-64A4BED881B5}"/>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75" b="0" i="0">
                <a:solidFill>
                  <a:srgbClr val="AFC0D4"/>
                </a:solidFill>
                <a:latin typeface="Arial"/>
                <a:ea typeface="Arial"/>
                <a:cs typeface="Arial"/>
              </a:defRPr>
            </a:pPr>
            <a:r>
              <a:rPr sz="1575" b="0" i="0">
                <a:solidFill>
                  <a:srgbClr val="AFC0D4"/>
                </a:solidFill>
                <a:latin typeface="Arial"/>
                <a:ea typeface="Arial"/>
                <a:cs typeface="Arial"/>
              </a:rPr>
              <a:t>All arms share the FCOS visual detector; the controlled difference is the state path</a:t>
            </a:r>
          </a:p>
        </p:txBody>
      </p:sp>
      <p:sp>
        <p:nvSpPr>
          <p:cNvPr id="4" name="">
            <a:extLst xmlns:a="http://schemas.openxmlformats.org/drawingml/2006/main">
              <a:ext uri="{FF2B5EF4-FFF2-40B4-BE49-F238E27FC236}">
                <a16:creationId xmlns:a16="http://schemas.microsoft.com/office/drawing/2014/main" id="{01BB2477-7F4A-42EF-8BF2-4CB8403AABC5}"/>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Development evidence only. Final test remains sealed.</a:t>
            </a:r>
          </a:p>
        </p:txBody>
      </p:sp>
      <p:sp>
        <p:nvSpPr>
          <p:cNvPr id="5" name="">
            <a:extLst xmlns:a="http://schemas.openxmlformats.org/drawingml/2006/main">
              <a:ext uri="{FF2B5EF4-FFF2-40B4-BE49-F238E27FC236}">
                <a16:creationId xmlns:a16="http://schemas.microsoft.com/office/drawing/2014/main" id="{7A0A2B6C-E1A5-440F-B06F-AC4DD882F3B5}"/>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5</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bfdf85c1c9584510"/>
          <a:stretch xmlns:a="http://schemas.openxmlformats.org/drawingml/2006/main"/>
        </p:blipFill>
        <p:spPr>
          <a:xfrm xmlns:a="http://schemas.openxmlformats.org/drawingml/2006/main">
            <a:off x="1623013" y="1381125"/>
            <a:ext cx="8945974" cy="433387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2C42846A-7D25-477C-B33E-E89EDF1B3506}"/>
              </a:ext>
            </a:extLst>
          </p:cNvPr>
          <p:cNvSpPr>
            <a:spLocks xmlns:a="http://schemas.openxmlformats.org/drawingml/2006/main" noGrp="1"/>
          </p:cNvSpPr>
          <p:nvPr/>
        </p:nvSpPr>
        <p:spPr>
          <a:xfrm xmlns:a="http://schemas.openxmlformats.org/drawingml/2006/main">
            <a:off x="904875" y="5829300"/>
            <a:ext cx="238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00" b="1" i="0">
                <a:solidFill>
                  <a:srgbClr val="2CC7DF"/>
                </a:solidFill>
                <a:latin typeface="Arial"/>
                <a:ea typeface="Arial"/>
                <a:cs typeface="Arial"/>
              </a:defRPr>
            </a:pPr>
            <a:r>
              <a:rPr sz="1500" b="1" i="0">
                <a:solidFill>
                  <a:srgbClr val="2CC7DF"/>
                </a:solidFill>
                <a:latin typeface="Arial"/>
                <a:ea typeface="Arial"/>
                <a:cs typeface="Arial"/>
              </a:rPr>
              <a:t>E2</a:t>
            </a:r>
            <a:r>
              <a:rPr sz="1500" b="1" i="0">
                <a:solidFill>
                  <a:srgbClr val="2CC7DF"/>
                </a:solidFill>
                <a:latin typeface="Arial"/>
                <a:ea typeface="Arial"/>
                <a:cs typeface="Arial"/>
              </a:rPr>
              <a:t> image only</a:t>
            </a:r>
          </a:p>
        </p:txBody>
      </p:sp>
      <p:sp>
        <p:nvSpPr>
          <p:cNvPr id="8" name="">
            <a:extLst xmlns:a="http://schemas.openxmlformats.org/drawingml/2006/main">
              <a:ext uri="{FF2B5EF4-FFF2-40B4-BE49-F238E27FC236}">
                <a16:creationId xmlns:a16="http://schemas.microsoft.com/office/drawing/2014/main" id="{48204158-D7BF-4518-B4A0-88CB7236FC83}"/>
              </a:ext>
            </a:extLst>
          </p:cNvPr>
          <p:cNvSpPr>
            <a:spLocks xmlns:a="http://schemas.openxmlformats.org/drawingml/2006/main" noGrp="1"/>
          </p:cNvSpPr>
          <p:nvPr/>
        </p:nvSpPr>
        <p:spPr>
          <a:xfrm xmlns:a="http://schemas.openxmlformats.org/drawingml/2006/main">
            <a:off x="3476625" y="5829300"/>
            <a:ext cx="2571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00" b="1" i="0">
                <a:solidFill>
                  <a:srgbClr val="F6A20A"/>
                </a:solidFill>
                <a:latin typeface="Arial"/>
                <a:ea typeface="Arial"/>
                <a:cs typeface="Arial"/>
              </a:defRPr>
            </a:pPr>
            <a:r>
              <a:rPr sz="1500" b="1" i="0">
                <a:solidFill>
                  <a:srgbClr val="F6A20A"/>
                </a:solidFill>
                <a:latin typeface="Arial"/>
                <a:ea typeface="Arial"/>
                <a:cs typeface="Arial"/>
              </a:rPr>
              <a:t>E1</a:t>
            </a:r>
            <a:r>
              <a:rPr sz="1500" b="1" i="0">
                <a:solidFill>
                  <a:srgbClr val="F6A20A"/>
                </a:solidFill>
                <a:latin typeface="Arial"/>
                <a:ea typeface="Arial"/>
                <a:cs typeface="Arial"/>
              </a:rPr>
              <a:t> joint image + state</a:t>
            </a:r>
          </a:p>
        </p:txBody>
      </p:sp>
      <p:sp>
        <p:nvSpPr>
          <p:cNvPr id="9" name="">
            <a:extLst xmlns:a="http://schemas.openxmlformats.org/drawingml/2006/main">
              <a:ext uri="{FF2B5EF4-FFF2-40B4-BE49-F238E27FC236}">
                <a16:creationId xmlns:a16="http://schemas.microsoft.com/office/drawing/2014/main" id="{CAA1E4FE-2ECA-4A2B-AD5F-AC563B9950F9}"/>
              </a:ext>
            </a:extLst>
          </p:cNvPr>
          <p:cNvSpPr>
            <a:spLocks xmlns:a="http://schemas.openxmlformats.org/drawingml/2006/main" noGrp="1"/>
          </p:cNvSpPr>
          <p:nvPr/>
        </p:nvSpPr>
        <p:spPr>
          <a:xfrm xmlns:a="http://schemas.openxmlformats.org/drawingml/2006/main">
            <a:off x="6238875" y="5829300"/>
            <a:ext cx="219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00" b="1" i="0">
                <a:solidFill>
                  <a:srgbClr val="38D39F"/>
                </a:solidFill>
                <a:latin typeface="Arial"/>
                <a:ea typeface="Arial"/>
                <a:cs typeface="Arial"/>
              </a:defRPr>
            </a:pPr>
            <a:r>
              <a:rPr sz="1500" b="1" i="0">
                <a:solidFill>
                  <a:srgbClr val="38D39F"/>
                </a:solidFill>
                <a:latin typeface="Arial"/>
                <a:ea typeface="Arial"/>
                <a:cs typeface="Arial"/>
              </a:rPr>
              <a:t>E3 frozen visual</a:t>
            </a:r>
          </a:p>
        </p:txBody>
      </p:sp>
      <p:sp>
        <p:nvSpPr>
          <p:cNvPr id="10" name="">
            <a:extLst xmlns:a="http://schemas.openxmlformats.org/drawingml/2006/main">
              <a:ext uri="{FF2B5EF4-FFF2-40B4-BE49-F238E27FC236}">
                <a16:creationId xmlns:a16="http://schemas.microsoft.com/office/drawing/2014/main" id="{9137D1F2-5870-40A7-B36F-E83CE5606139}"/>
              </a:ext>
            </a:extLst>
          </p:cNvPr>
          <p:cNvSpPr>
            <a:spLocks xmlns:a="http://schemas.openxmlformats.org/drawingml/2006/main" noGrp="1"/>
          </p:cNvSpPr>
          <p:nvPr/>
        </p:nvSpPr>
        <p:spPr>
          <a:xfrm xmlns:a="http://schemas.openxmlformats.org/drawingml/2006/main">
            <a:off x="8477250" y="58293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8092"/>
          </a:bodyPr>
          <a:lstStyle xmlns:a="http://schemas.openxmlformats.org/drawingml/2006/main"/>
          <a:p xmlns:a="http://schemas.openxmlformats.org/drawingml/2006/main">
            <a:pPr>
              <a:buNone/>
              <a:defRPr sz="1500" b="1" i="0">
                <a:solidFill>
                  <a:srgbClr val="9B83EE"/>
                </a:solidFill>
                <a:latin typeface="Arial"/>
                <a:ea typeface="Arial"/>
                <a:cs typeface="Arial"/>
              </a:defRPr>
            </a:pPr>
            <a:r>
              <a:rPr sz="1500" b="1" i="0">
                <a:solidFill>
                  <a:srgbClr val="9B83EE"/>
                </a:solidFill>
                <a:latin typeface="Arial"/>
                <a:ea typeface="Arial"/>
                <a:cs typeface="Arial"/>
              </a:rPr>
              <a:t>E4 frozen + 50% state dropout</a:t>
            </a:r>
          </a:p>
        </p:txBody>
      </p:sp>
    </p:spTree>
    <p:extLst>
      <p:ext uri="{BB962C8B-B14F-4D97-AF65-F5344CB8AC3E}">
        <p14:creationId xmlns:p14="http://schemas.microsoft.com/office/powerpoint/2010/main" val="942477678"/>
      </p:ext>
    </p:extLst>
  </p:cSld>
</p:sld>
</file>

<file path=ppt/slides/slide6.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85273F4-31AD-4CDD-9D58-7E7A4EB06EB2}"/>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D76A1D-AF35-4370-93C0-EC7D95504521}"/>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242"/>
          </a:bodyPr>
          <a:lstStyle xmlns:a="http://schemas.openxmlformats.org/drawingml/2006/main"/>
          <a:p xmlns:a="http://schemas.openxmlformats.org/drawingml/2006/main">
            <a:pPr>
              <a:buNone/>
              <a:defRPr sz="3300" b="1" i="0">
                <a:solidFill>
                  <a:srgbClr val="F7FAFC"/>
                </a:solidFill>
                <a:latin typeface="Arial"/>
                <a:ea typeface="Arial"/>
                <a:cs typeface="Arial"/>
              </a:defRPr>
            </a:pPr>
            <a:r>
              <a:rPr sz="3300" b="1" i="0">
                <a:solidFill>
                  <a:srgbClr val="F7FAFC"/>
                </a:solidFill>
                <a:latin typeface="Arial"/>
                <a:ea typeface="Arial"/>
                <a:cs typeface="Arial"/>
              </a:rPr>
              <a:t>Complete training evidence</a:t>
            </a:r>
          </a:p>
        </p:txBody>
      </p:sp>
      <p:sp>
        <p:nvSpPr>
          <p:cNvPr id="3" name="">
            <a:extLst xmlns:a="http://schemas.openxmlformats.org/drawingml/2006/main">
              <a:ext uri="{FF2B5EF4-FFF2-40B4-BE49-F238E27FC236}">
                <a16:creationId xmlns:a16="http://schemas.microsoft.com/office/drawing/2014/main" id="{E9CD4F3C-B13B-423C-A2C7-0D20D37DC3FE}"/>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75" b="0" i="0">
                <a:solidFill>
                  <a:srgbClr val="AFC0D4"/>
                </a:solidFill>
                <a:latin typeface="Arial"/>
                <a:ea typeface="Arial"/>
                <a:cs typeface="Arial"/>
              </a:defRPr>
            </a:pPr>
            <a:r>
              <a:rPr sz="1575" b="0" i="0">
                <a:solidFill>
                  <a:srgbClr val="AFC0D4"/>
                </a:solidFill>
                <a:latin typeface="Arial"/>
                <a:ea typeface="Arial"/>
                <a:cs typeface="Arial"/>
              </a:rPr>
              <a:t>Every optimizer step is stored for the full-pass </a:t>
            </a:r>
            <a:r>
              <a:rPr sz="1575" b="0" i="0">
                <a:solidFill>
                  <a:srgbClr val="AFC0D4"/>
                </a:solidFill>
                <a:latin typeface="Arial"/>
                <a:ea typeface="Arial"/>
                <a:cs typeface="Arial"/>
              </a:rPr>
              <a:t>E2</a:t>
            </a:r>
            <a:r>
              <a:rPr sz="1575" b="0" i="0">
                <a:solidFill>
                  <a:srgbClr val="AFC0D4"/>
                </a:solidFill>
                <a:latin typeface="Arial"/>
                <a:ea typeface="Arial"/>
                <a:cs typeface="Arial"/>
              </a:rPr>
              <a:t> and </a:t>
            </a:r>
            <a:r>
              <a:rPr sz="1575" b="0" i="0">
                <a:solidFill>
                  <a:srgbClr val="AFC0D4"/>
                </a:solidFill>
                <a:latin typeface="Arial"/>
                <a:ea typeface="Arial"/>
                <a:cs typeface="Arial"/>
              </a:rPr>
              <a:t>E1</a:t>
            </a:r>
            <a:r>
              <a:rPr sz="1575" b="0" i="0">
                <a:solidFill>
                  <a:srgbClr val="AFC0D4"/>
                </a:solidFill>
                <a:latin typeface="Arial"/>
                <a:ea typeface="Arial"/>
                <a:cs typeface="Arial"/>
              </a:rPr>
              <a:t> runs</a:t>
            </a:r>
          </a:p>
        </p:txBody>
      </p:sp>
      <p:sp>
        <p:nvSpPr>
          <p:cNvPr id="4" name="">
            <a:extLst xmlns:a="http://schemas.openxmlformats.org/drawingml/2006/main">
              <a:ext uri="{FF2B5EF4-FFF2-40B4-BE49-F238E27FC236}">
                <a16:creationId xmlns:a16="http://schemas.microsoft.com/office/drawing/2014/main" id="{B1F474C8-7F00-44F6-9170-F59145E36B8D}"/>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Development evidence only. Final test remains sealed.</a:t>
            </a:r>
          </a:p>
        </p:txBody>
      </p:sp>
      <p:sp>
        <p:nvSpPr>
          <p:cNvPr id="5" name="">
            <a:extLst xmlns:a="http://schemas.openxmlformats.org/drawingml/2006/main">
              <a:ext uri="{FF2B5EF4-FFF2-40B4-BE49-F238E27FC236}">
                <a16:creationId xmlns:a16="http://schemas.microsoft.com/office/drawing/2014/main" id="{BF42A7DB-752E-4065-B737-8E9A04784615}"/>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6</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467542f683c3446a"/>
          <a:srcRect xmlns:a="http://schemas.openxmlformats.org/drawingml/2006/main" l="0" t="0" r="0" b="0"/>
          <a:stretch xmlns:a="http://schemas.openxmlformats.org/drawingml/2006/main">
            <a:fillRect l="0" t="0" r="0" b="0"/>
          </a:stretch>
        </p:blipFill>
        <p:spPr>
          <a:xfrm xmlns:a="http://schemas.openxmlformats.org/drawingml/2006/main">
            <a:off x="1211385" y="1285875"/>
            <a:ext cx="9769231" cy="4762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ED2E8D4-8A1E-41F4-B883-8934A49F4781}"/>
              </a:ext>
            </a:extLst>
          </p:cNvPr>
          <p:cNvSpPr>
            <a:spLocks xmlns:a="http://schemas.openxmlformats.org/drawingml/2006/main" noGrp="1"/>
          </p:cNvSpPr>
          <p:nvPr/>
        </p:nvSpPr>
        <p:spPr>
          <a:xfrm xmlns:a="http://schemas.openxmlformats.org/drawingml/2006/main">
            <a:off x="1143000" y="59055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buNone/>
              <a:defRPr sz="1650" b="1" i="0">
                <a:solidFill>
                  <a:srgbClr val="2CC7DF"/>
                </a:solidFill>
                <a:latin typeface="Arial"/>
                <a:ea typeface="Arial"/>
                <a:cs typeface="Arial"/>
              </a:defRPr>
            </a:pPr>
            <a:r>
              <a:rPr sz="1650" b="1" i="0">
                <a:solidFill>
                  <a:srgbClr val="2CC7DF"/>
                </a:solidFill>
                <a:latin typeface="Arial"/>
                <a:ea typeface="Arial"/>
                <a:cs typeface="Arial"/>
              </a:rPr>
              <a:t>18,523 steps per arm</a:t>
            </a:r>
          </a:p>
        </p:txBody>
      </p:sp>
      <p:sp>
        <p:nvSpPr>
          <p:cNvPr id="8" name="">
            <a:extLst xmlns:a="http://schemas.openxmlformats.org/drawingml/2006/main">
              <a:ext uri="{FF2B5EF4-FFF2-40B4-BE49-F238E27FC236}">
                <a16:creationId xmlns:a16="http://schemas.microsoft.com/office/drawing/2014/main" id="{3F0F5D53-B77B-41A2-846B-164A5B6A548B}"/>
              </a:ext>
            </a:extLst>
          </p:cNvPr>
          <p:cNvSpPr>
            <a:spLocks xmlns:a="http://schemas.openxmlformats.org/drawingml/2006/main" noGrp="1"/>
          </p:cNvSpPr>
          <p:nvPr/>
        </p:nvSpPr>
        <p:spPr>
          <a:xfrm xmlns:a="http://schemas.openxmlformats.org/drawingml/2006/main">
            <a:off x="4667250" y="59055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buNone/>
              <a:defRPr sz="1650" b="1" i="0">
                <a:solidFill>
                  <a:srgbClr val="38D39F"/>
                </a:solidFill>
                <a:latin typeface="Arial"/>
                <a:ea typeface="Arial"/>
                <a:cs typeface="Arial"/>
              </a:defRPr>
            </a:pPr>
            <a:r>
              <a:rPr sz="1650" b="1" i="0">
                <a:solidFill>
                  <a:srgbClr val="38D39F"/>
                </a:solidFill>
                <a:latin typeface="Arial"/>
                <a:ea typeface="Arial"/>
                <a:cs typeface="Arial"/>
              </a:rPr>
              <a:t>100% training coverage</a:t>
            </a:r>
          </a:p>
        </p:txBody>
      </p:sp>
      <p:sp>
        <p:nvSpPr>
          <p:cNvPr id="9" name="">
            <a:extLst xmlns:a="http://schemas.openxmlformats.org/drawingml/2006/main">
              <a:ext uri="{FF2B5EF4-FFF2-40B4-BE49-F238E27FC236}">
                <a16:creationId xmlns:a16="http://schemas.microsoft.com/office/drawing/2014/main" id="{EE742C89-7DEA-4D02-B4AA-AC85B474E067}"/>
              </a:ext>
            </a:extLst>
          </p:cNvPr>
          <p:cNvSpPr>
            <a:spLocks xmlns:a="http://schemas.openxmlformats.org/drawingml/2006/main" noGrp="1"/>
          </p:cNvSpPr>
          <p:nvPr/>
        </p:nvSpPr>
        <p:spPr>
          <a:xfrm xmlns:a="http://schemas.openxmlformats.org/drawingml/2006/main">
            <a:off x="8096250" y="5905500"/>
            <a:ext cx="314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buNone/>
              <a:defRPr sz="1650" b="1" i="0">
                <a:solidFill>
                  <a:srgbClr val="F6A20A"/>
                </a:solidFill>
                <a:latin typeface="Arial"/>
                <a:ea typeface="Arial"/>
                <a:cs typeface="Arial"/>
              </a:defRPr>
            </a:pPr>
            <a:r>
              <a:rPr sz="1650" b="1" i="0">
                <a:solidFill>
                  <a:srgbClr val="F6A20A"/>
                </a:solidFill>
                <a:latin typeface="Arial"/>
                <a:ea typeface="Arial"/>
                <a:cs typeface="Arial"/>
              </a:rPr>
              <a:t>47.6 minutes in parallel</a:t>
            </a:r>
          </a:p>
        </p:txBody>
      </p:sp>
    </p:spTree>
    <p:extLst>
      <p:ext uri="{BB962C8B-B14F-4D97-AF65-F5344CB8AC3E}">
        <p14:creationId xmlns:p14="http://schemas.microsoft.com/office/powerpoint/2010/main" val="947374408"/>
      </p:ext>
    </p:extLst>
  </p:cSld>
</p:sld>
</file>

<file path=ppt/slides/slide7.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FE424D3-0184-4074-BCEF-D9E5031534E2}"/>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552AF7-DD42-4477-8574-490C38993824}"/>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242"/>
          </a:bodyPr>
          <a:lstStyle xmlns:a="http://schemas.openxmlformats.org/drawingml/2006/main"/>
          <a:p xmlns:a="http://schemas.openxmlformats.org/drawingml/2006/main">
            <a:pPr>
              <a:buNone/>
              <a:defRPr sz="3300" b="1" i="0">
                <a:solidFill>
                  <a:srgbClr val="F7FAFC"/>
                </a:solidFill>
                <a:latin typeface="Arial"/>
                <a:ea typeface="Arial"/>
                <a:cs typeface="Arial"/>
              </a:defRPr>
            </a:pPr>
            <a:r>
              <a:rPr sz="3300" b="1" i="0">
                <a:solidFill>
                  <a:srgbClr val="F7FAFC"/>
                </a:solidFill>
                <a:latin typeface="Arial"/>
                <a:ea typeface="Arial"/>
                <a:cs typeface="Arial"/>
              </a:rPr>
              <a:t>Held-out development results</a:t>
            </a:r>
          </a:p>
        </p:txBody>
      </p:sp>
      <p:sp>
        <p:nvSpPr>
          <p:cNvPr id="3" name="">
            <a:extLst xmlns:a="http://schemas.openxmlformats.org/drawingml/2006/main">
              <a:ext uri="{FF2B5EF4-FFF2-40B4-BE49-F238E27FC236}">
                <a16:creationId xmlns:a16="http://schemas.microsoft.com/office/drawing/2014/main" id="{73195B6B-6A08-4FCB-A010-1C0BDB000305}"/>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75" b="0" i="0">
                <a:solidFill>
                  <a:srgbClr val="AFC0D4"/>
                </a:solidFill>
                <a:latin typeface="Arial"/>
                <a:ea typeface="Arial"/>
                <a:cs typeface="Arial"/>
              </a:defRPr>
            </a:pPr>
            <a:r>
              <a:rPr sz="1575" b="0" i="0">
                <a:solidFill>
                  <a:srgbClr val="AFC0D4"/>
                </a:solidFill>
                <a:latin typeface="Arial"/>
                <a:ea typeface="Arial"/>
                <a:cs typeface="Arial"/>
              </a:rPr>
              <a:t>The frozen-visual E4 run recovered </a:t>
            </a:r>
            <a:r>
              <a:rPr sz="1575" b="0" i="0">
                <a:solidFill>
                  <a:srgbClr val="AFC0D4"/>
                </a:solidFill>
                <a:latin typeface="Arial"/>
                <a:ea typeface="Arial"/>
                <a:cs typeface="Arial"/>
              </a:rPr>
              <a:t>E2</a:t>
            </a:r>
            <a:r>
              <a:rPr sz="1575" b="0" i="0">
                <a:solidFill>
                  <a:srgbClr val="AFC0D4"/>
                </a:solidFill>
                <a:latin typeface="Arial"/>
                <a:ea typeface="Arial"/>
                <a:cs typeface="Arial"/>
              </a:rPr>
              <a:t> performance but did not beat it</a:t>
            </a:r>
          </a:p>
        </p:txBody>
      </p:sp>
      <p:sp>
        <p:nvSpPr>
          <p:cNvPr id="4" name="">
            <a:extLst xmlns:a="http://schemas.openxmlformats.org/drawingml/2006/main">
              <a:ext uri="{FF2B5EF4-FFF2-40B4-BE49-F238E27FC236}">
                <a16:creationId xmlns:a16="http://schemas.microsoft.com/office/drawing/2014/main" id="{9A1A204B-F211-4930-B66E-902B5F5EB2F4}"/>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Development evidence only. Final test remains sealed.</a:t>
            </a:r>
          </a:p>
        </p:txBody>
      </p:sp>
      <p:sp>
        <p:nvSpPr>
          <p:cNvPr id="5" name="">
            <a:extLst xmlns:a="http://schemas.openxmlformats.org/drawingml/2006/main">
              <a:ext uri="{FF2B5EF4-FFF2-40B4-BE49-F238E27FC236}">
                <a16:creationId xmlns:a16="http://schemas.microsoft.com/office/drawing/2014/main" id="{4E42C70B-4C9E-4C49-8260-A9F2F75DCD38}"/>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7</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b76c926e449a4801"/>
          <a:srcRect xmlns:a="http://schemas.openxmlformats.org/drawingml/2006/main" l="0" t="0" r="0" b="0"/>
          <a:stretch xmlns:a="http://schemas.openxmlformats.org/drawingml/2006/main">
            <a:fillRect l="0" t="0" r="0" b="0"/>
          </a:stretch>
        </p:blipFill>
        <p:spPr>
          <a:xfrm xmlns:a="http://schemas.openxmlformats.org/drawingml/2006/main">
            <a:off x="1211385" y="1333500"/>
            <a:ext cx="9769231" cy="4762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2E6FFB57-CA28-4AEA-B80B-FC28E1ED63C6}"/>
              </a:ext>
            </a:extLst>
          </p:cNvPr>
          <p:cNvSpPr>
            <a:spLocks xmlns:a="http://schemas.openxmlformats.org/drawingml/2006/main" noGrp="1"/>
          </p:cNvSpPr>
          <p:nvPr/>
        </p:nvSpPr>
        <p:spPr>
          <a:xfrm xmlns:a="http://schemas.openxmlformats.org/drawingml/2006/main">
            <a:off x="1762125" y="60198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buNone/>
              <a:defRPr sz="1650" b="1" i="0">
                <a:solidFill>
                  <a:srgbClr val="38D39F"/>
                </a:solidFill>
                <a:latin typeface="Arial"/>
                <a:ea typeface="Arial"/>
                <a:cs typeface="Arial"/>
              </a:defRPr>
            </a:pPr>
            <a:r>
              <a:rPr sz="1650" b="1" i="0">
                <a:solidFill>
                  <a:srgbClr val="38D39F"/>
                </a:solidFill>
                <a:latin typeface="Arial"/>
                <a:ea typeface="Arial"/>
                <a:cs typeface="Arial"/>
              </a:rPr>
              <a:t>Decision: </a:t>
            </a:r>
            <a:r>
              <a:rPr sz="1650" b="1" i="0">
                <a:solidFill>
                  <a:srgbClr val="38D39F"/>
                </a:solidFill>
                <a:latin typeface="Arial"/>
                <a:ea typeface="Arial"/>
                <a:cs typeface="Arial"/>
              </a:rPr>
              <a:t>E2</a:t>
            </a:r>
            <a:r>
              <a:rPr sz="1650" b="1" i="0">
                <a:solidFill>
                  <a:srgbClr val="38D39F"/>
                </a:solidFill>
                <a:latin typeface="Arial"/>
                <a:ea typeface="Arial"/>
                <a:cs typeface="Arial"/>
              </a:rPr>
              <a:t> remains selected at AP50 0.1698; E4 reached 0.1697.</a:t>
            </a:r>
          </a:p>
        </p:txBody>
      </p:sp>
    </p:spTree>
    <p:extLst>
      <p:ext uri="{BB962C8B-B14F-4D97-AF65-F5344CB8AC3E}">
        <p14:creationId xmlns:p14="http://schemas.microsoft.com/office/powerpoint/2010/main" val="2135857405"/>
      </p:ext>
    </p:extLst>
  </p:cSld>
</p:sld>
</file>

<file path=ppt/slides/slide8.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5C55E1E-F37F-4B92-A927-2FF2F109D034}"/>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553446-FFDA-47E3-AE3A-85606153357E}"/>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242"/>
          </a:bodyPr>
          <a:lstStyle xmlns:a="http://schemas.openxmlformats.org/drawingml/2006/main"/>
          <a:p xmlns:a="http://schemas.openxmlformats.org/drawingml/2006/main">
            <a:pPr>
              <a:buNone/>
              <a:defRPr sz="3300" b="1" i="0">
                <a:solidFill>
                  <a:srgbClr val="F7FAFC"/>
                </a:solidFill>
                <a:latin typeface="Arial"/>
                <a:ea typeface="Arial"/>
                <a:cs typeface="Arial"/>
              </a:defRPr>
            </a:pPr>
            <a:r>
              <a:rPr sz="3300" b="1" i="0">
                <a:solidFill>
                  <a:srgbClr val="F7FAFC"/>
                </a:solidFill>
                <a:latin typeface="Arial"/>
                <a:ea typeface="Arial"/>
                <a:cs typeface="Arial"/>
              </a:rPr>
              <a:t>Why the scores are modest</a:t>
            </a:r>
          </a:p>
        </p:txBody>
      </p:sp>
      <p:sp>
        <p:nvSpPr>
          <p:cNvPr id="3" name="">
            <a:extLst xmlns:a="http://schemas.openxmlformats.org/drawingml/2006/main">
              <a:ext uri="{FF2B5EF4-FFF2-40B4-BE49-F238E27FC236}">
                <a16:creationId xmlns:a16="http://schemas.microsoft.com/office/drawing/2014/main" id="{D6196400-4C70-4131-B4B4-C6559246FAA8}"/>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75" b="0" i="0">
                <a:solidFill>
                  <a:srgbClr val="AFC0D4"/>
                </a:solidFill>
                <a:latin typeface="Arial"/>
                <a:ea typeface="Arial"/>
                <a:cs typeface="Arial"/>
              </a:defRPr>
            </a:pPr>
            <a:r>
              <a:rPr sz="1575" b="0" i="0">
                <a:solidFill>
                  <a:srgbClr val="AFC0D4"/>
                </a:solidFill>
                <a:latin typeface="Arial"/>
                <a:ea typeface="Arial"/>
                <a:cs typeface="Arial"/>
              </a:rPr>
              <a:t>The evaluation is strict, the task is difficult, and the model is not deployment-ready yet</a:t>
            </a:r>
          </a:p>
        </p:txBody>
      </p:sp>
      <p:sp>
        <p:nvSpPr>
          <p:cNvPr id="4" name="">
            <a:extLst xmlns:a="http://schemas.openxmlformats.org/drawingml/2006/main">
              <a:ext uri="{FF2B5EF4-FFF2-40B4-BE49-F238E27FC236}">
                <a16:creationId xmlns:a16="http://schemas.microsoft.com/office/drawing/2014/main" id="{85CFFAA0-9B4A-43C8-8DBC-483B8260B4C2}"/>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Development evidence only. Final test remains sealed.</a:t>
            </a:r>
          </a:p>
        </p:txBody>
      </p:sp>
      <p:sp>
        <p:nvSpPr>
          <p:cNvPr id="5" name="">
            <a:extLst xmlns:a="http://schemas.openxmlformats.org/drawingml/2006/main">
              <a:ext uri="{FF2B5EF4-FFF2-40B4-BE49-F238E27FC236}">
                <a16:creationId xmlns:a16="http://schemas.microsoft.com/office/drawing/2014/main" id="{25EA1D98-F08F-4C7B-BE61-08995FC1D29F}"/>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426CA0AA-C20A-41D2-96CD-3BB096062D3C}"/>
              </a:ext>
            </a:extLst>
          </p:cNvPr>
          <p:cNvSpPr>
            <a:spLocks xmlns:a="http://schemas.openxmlformats.org/drawingml/2006/main" noGrp="1"/>
          </p:cNvSpPr>
          <p:nvPr/>
        </p:nvSpPr>
        <p:spPr>
          <a:xfrm xmlns:a="http://schemas.openxmlformats.org/drawingml/2006/main">
            <a:off x="714375" y="1619250"/>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650" b="1" i="0">
                <a:solidFill>
                  <a:srgbClr val="2CC7DF"/>
                </a:solidFill>
                <a:latin typeface="Arial"/>
                <a:ea typeface="Arial"/>
                <a:cs typeface="Arial"/>
              </a:defRPr>
            </a:pPr>
            <a:r>
              <a:rPr sz="1650" b="1" i="0">
                <a:solidFill>
                  <a:srgbClr val="2CC7DF"/>
                </a:solidFill>
                <a:latin typeface="Arial"/>
                <a:ea typeface="Arial"/>
                <a:cs typeface="Arial"/>
              </a:rPr>
              <a:t>E2</a:t>
            </a:r>
            <a:r>
              <a:rPr sz="1650" b="1" i="0">
                <a:solidFill>
                  <a:srgbClr val="2CC7DF"/>
                </a:solidFill>
                <a:latin typeface="Arial"/>
                <a:ea typeface="Arial"/>
                <a:cs typeface="Arial"/>
              </a:rPr>
              <a:t> at the selected development threshold</a:t>
            </a:r>
          </a:p>
        </p:txBody>
      </p:sp>
      <p:sp>
        <p:nvSpPr>
          <p:cNvPr id="7" name="">
            <a:extLst xmlns:a="http://schemas.openxmlformats.org/drawingml/2006/main">
              <a:ext uri="{FF2B5EF4-FFF2-40B4-BE49-F238E27FC236}">
                <a16:creationId xmlns:a16="http://schemas.microsoft.com/office/drawing/2014/main" id="{07091398-B9E4-4D6F-B4E1-C32684175FD7}"/>
              </a:ext>
            </a:extLst>
          </p:cNvPr>
          <p:cNvSpPr>
            <a:spLocks xmlns:a="http://schemas.openxmlformats.org/drawingml/2006/main" noGrp="1"/>
          </p:cNvSpPr>
          <p:nvPr/>
        </p:nvSpPr>
        <p:spPr>
          <a:xfrm xmlns:a="http://schemas.openxmlformats.org/drawingml/2006/main">
            <a:off x="714375" y="2143125"/>
            <a:ext cx="2190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972"/>
          </a:bodyPr>
          <a:lstStyle xmlns:a="http://schemas.openxmlformats.org/drawingml/2006/main"/>
          <a:p xmlns:a="http://schemas.openxmlformats.org/drawingml/2006/main">
            <a:pPr>
              <a:buNone/>
              <a:defRPr sz="3600" b="1" i="0">
                <a:solidFill>
                  <a:srgbClr val="38D39F"/>
                </a:solidFill>
                <a:latin typeface="Arial"/>
                <a:ea typeface="Arial"/>
                <a:cs typeface="Arial"/>
              </a:defRPr>
            </a:pPr>
            <a:r>
              <a:rPr sz="3600" b="1" i="0">
                <a:solidFill>
                  <a:srgbClr val="38D39F"/>
                </a:solidFill>
                <a:latin typeface="Arial"/>
                <a:ea typeface="Arial"/>
                <a:cs typeface="Arial"/>
              </a:rPr>
              <a:t>6,646</a:t>
            </a:r>
          </a:p>
        </p:txBody>
      </p:sp>
      <p:sp>
        <p:nvSpPr>
          <p:cNvPr id="8" name="">
            <a:extLst xmlns:a="http://schemas.openxmlformats.org/drawingml/2006/main">
              <a:ext uri="{FF2B5EF4-FFF2-40B4-BE49-F238E27FC236}">
                <a16:creationId xmlns:a16="http://schemas.microsoft.com/office/drawing/2014/main" id="{AF49A41D-62D5-4873-80B8-EAFEF3C14F02}"/>
              </a:ext>
            </a:extLst>
          </p:cNvPr>
          <p:cNvSpPr>
            <a:spLocks xmlns:a="http://schemas.openxmlformats.org/drawingml/2006/main" noGrp="1"/>
          </p:cNvSpPr>
          <p:nvPr/>
        </p:nvSpPr>
        <p:spPr>
          <a:xfrm xmlns:a="http://schemas.openxmlformats.org/drawingml/2006/main">
            <a:off x="714375" y="27432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00" b="0" i="0">
                <a:solidFill>
                  <a:srgbClr val="AFC0D4"/>
                </a:solidFill>
                <a:latin typeface="Arial"/>
                <a:ea typeface="Arial"/>
                <a:cs typeface="Arial"/>
              </a:defRPr>
            </a:pPr>
            <a:r>
              <a:rPr sz="1500" b="0" i="0">
                <a:solidFill>
                  <a:srgbClr val="AFC0D4"/>
                </a:solidFill>
                <a:latin typeface="Arial"/>
                <a:ea typeface="Arial"/>
                <a:cs typeface="Arial"/>
              </a:rPr>
              <a:t>correct detections</a:t>
            </a:r>
          </a:p>
        </p:txBody>
      </p:sp>
      <p:sp>
        <p:nvSpPr>
          <p:cNvPr id="9" name="">
            <a:extLst xmlns:a="http://schemas.openxmlformats.org/drawingml/2006/main">
              <a:ext uri="{FF2B5EF4-FFF2-40B4-BE49-F238E27FC236}">
                <a16:creationId xmlns:a16="http://schemas.microsoft.com/office/drawing/2014/main" id="{087CA86F-D9D1-4F72-8BBD-6CB06C14639D}"/>
              </a:ext>
            </a:extLst>
          </p:cNvPr>
          <p:cNvSpPr>
            <a:spLocks xmlns:a="http://schemas.openxmlformats.org/drawingml/2006/main" noGrp="1"/>
          </p:cNvSpPr>
          <p:nvPr/>
        </p:nvSpPr>
        <p:spPr>
          <a:xfrm xmlns:a="http://schemas.openxmlformats.org/drawingml/2006/main">
            <a:off x="714375" y="3381375"/>
            <a:ext cx="2190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972"/>
          </a:bodyPr>
          <a:lstStyle xmlns:a="http://schemas.openxmlformats.org/drawingml/2006/main"/>
          <a:p xmlns:a="http://schemas.openxmlformats.org/drawingml/2006/main">
            <a:pPr>
              <a:buNone/>
              <a:defRPr sz="3600" b="1" i="0">
                <a:solidFill>
                  <a:srgbClr val="F6A20A"/>
                </a:solidFill>
                <a:latin typeface="Arial"/>
                <a:ea typeface="Arial"/>
                <a:cs typeface="Arial"/>
              </a:defRPr>
            </a:pPr>
            <a:r>
              <a:rPr sz="3600" b="1" i="0">
                <a:solidFill>
                  <a:srgbClr val="F6A20A"/>
                </a:solidFill>
                <a:latin typeface="Arial"/>
                <a:ea typeface="Arial"/>
                <a:cs typeface="Arial"/>
              </a:rPr>
              <a:t>5,996</a:t>
            </a:r>
          </a:p>
        </p:txBody>
      </p:sp>
      <p:sp>
        <p:nvSpPr>
          <p:cNvPr id="10" name="">
            <a:extLst xmlns:a="http://schemas.openxmlformats.org/drawingml/2006/main">
              <a:ext uri="{FF2B5EF4-FFF2-40B4-BE49-F238E27FC236}">
                <a16:creationId xmlns:a16="http://schemas.microsoft.com/office/drawing/2014/main" id="{7D8D20A8-CD55-4A28-A812-D0F05B668EB8}"/>
              </a:ext>
            </a:extLst>
          </p:cNvPr>
          <p:cNvSpPr>
            <a:spLocks xmlns:a="http://schemas.openxmlformats.org/drawingml/2006/main" noGrp="1"/>
          </p:cNvSpPr>
          <p:nvPr/>
        </p:nvSpPr>
        <p:spPr>
          <a:xfrm xmlns:a="http://schemas.openxmlformats.org/drawingml/2006/main">
            <a:off x="714375" y="398145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00" b="0" i="0">
                <a:solidFill>
                  <a:srgbClr val="AFC0D4"/>
                </a:solidFill>
                <a:latin typeface="Arial"/>
                <a:ea typeface="Arial"/>
                <a:cs typeface="Arial"/>
              </a:defRPr>
            </a:pPr>
            <a:r>
              <a:rPr sz="1500" b="0" i="0">
                <a:solidFill>
                  <a:srgbClr val="AFC0D4"/>
                </a:solidFill>
                <a:latin typeface="Arial"/>
                <a:ea typeface="Arial"/>
                <a:cs typeface="Arial"/>
              </a:rPr>
              <a:t>false alarms</a:t>
            </a:r>
          </a:p>
        </p:txBody>
      </p:sp>
      <p:sp>
        <p:nvSpPr>
          <p:cNvPr id="11" name="">
            <a:extLst xmlns:a="http://schemas.openxmlformats.org/drawingml/2006/main">
              <a:ext uri="{FF2B5EF4-FFF2-40B4-BE49-F238E27FC236}">
                <a16:creationId xmlns:a16="http://schemas.microsoft.com/office/drawing/2014/main" id="{967FFCE3-26CD-4320-9B57-FE71B24884FF}"/>
              </a:ext>
            </a:extLst>
          </p:cNvPr>
          <p:cNvSpPr>
            <a:spLocks xmlns:a="http://schemas.openxmlformats.org/drawingml/2006/main" noGrp="1"/>
          </p:cNvSpPr>
          <p:nvPr/>
        </p:nvSpPr>
        <p:spPr>
          <a:xfrm xmlns:a="http://schemas.openxmlformats.org/drawingml/2006/main">
            <a:off x="714375" y="4619625"/>
            <a:ext cx="238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972"/>
          </a:bodyPr>
          <a:lstStyle xmlns:a="http://schemas.openxmlformats.org/drawingml/2006/main"/>
          <a:p xmlns:a="http://schemas.openxmlformats.org/drawingml/2006/main">
            <a:pPr>
              <a:buNone/>
              <a:defRPr sz="3600" b="1" i="0">
                <a:solidFill>
                  <a:srgbClr val="F56A7E"/>
                </a:solidFill>
                <a:latin typeface="Arial"/>
                <a:ea typeface="Arial"/>
                <a:cs typeface="Arial"/>
              </a:defRPr>
            </a:pPr>
            <a:r>
              <a:rPr sz="3600" b="1" i="0">
                <a:solidFill>
                  <a:srgbClr val="F56A7E"/>
                </a:solidFill>
                <a:latin typeface="Arial"/>
                <a:ea typeface="Arial"/>
                <a:cs typeface="Arial"/>
              </a:rPr>
              <a:t>10,227</a:t>
            </a:r>
          </a:p>
        </p:txBody>
      </p:sp>
      <p:sp>
        <p:nvSpPr>
          <p:cNvPr id="12" name="">
            <a:extLst xmlns:a="http://schemas.openxmlformats.org/drawingml/2006/main">
              <a:ext uri="{FF2B5EF4-FFF2-40B4-BE49-F238E27FC236}">
                <a16:creationId xmlns:a16="http://schemas.microsoft.com/office/drawing/2014/main" id="{9FF719BA-1C60-4DE5-AD6D-506220529720}"/>
              </a:ext>
            </a:extLst>
          </p:cNvPr>
          <p:cNvSpPr>
            <a:spLocks xmlns:a="http://schemas.openxmlformats.org/drawingml/2006/main" noGrp="1"/>
          </p:cNvSpPr>
          <p:nvPr/>
        </p:nvSpPr>
        <p:spPr>
          <a:xfrm xmlns:a="http://schemas.openxmlformats.org/drawingml/2006/main">
            <a:off x="714375" y="52197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00" b="0" i="0">
                <a:solidFill>
                  <a:srgbClr val="AFC0D4"/>
                </a:solidFill>
                <a:latin typeface="Arial"/>
                <a:ea typeface="Arial"/>
                <a:cs typeface="Arial"/>
              </a:defRPr>
            </a:pPr>
            <a:r>
              <a:rPr sz="1500" b="0" i="0">
                <a:solidFill>
                  <a:srgbClr val="AFC0D4"/>
                </a:solidFill>
                <a:latin typeface="Arial"/>
                <a:ea typeface="Arial"/>
                <a:cs typeface="Arial"/>
              </a:rPr>
              <a:t>missed objects</a:t>
            </a:r>
          </a:p>
        </p:txBody>
      </p:sp>
      <p:sp>
        <p:nvSpPr>
          <p:cNvPr id="13" name="">
            <a:extLst xmlns:a="http://schemas.openxmlformats.org/drawingml/2006/main">
              <a:ext uri="{FF2B5EF4-FFF2-40B4-BE49-F238E27FC236}">
                <a16:creationId xmlns:a16="http://schemas.microsoft.com/office/drawing/2014/main" id="{E6664838-7C04-4204-BD2B-C6AFAB370665}"/>
              </a:ext>
            </a:extLst>
          </p:cNvPr>
          <p:cNvSpPr>
            <a:spLocks xmlns:a="http://schemas.openxmlformats.org/drawingml/2006/main" noGrp="1"/>
          </p:cNvSpPr>
          <p:nvPr/>
        </p:nvSpPr>
        <p:spPr>
          <a:xfrm xmlns:a="http://schemas.openxmlformats.org/drawingml/2006/main">
            <a:off x="4953000" y="1619250"/>
            <a:ext cx="19050" cy="4095750"/>
          </a:xfrm>
          <a:prstGeom xmlns:a="http://schemas.openxmlformats.org/drawingml/2006/main" prst="rect">
            <a:avLst/>
          </a:prstGeom>
          <a:solidFill xmlns:a="http://schemas.openxmlformats.org/drawingml/2006/main">
            <a:srgbClr val="264157"/>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DA64837-9DD5-4D1C-98A0-BD417D50E93A}"/>
              </a:ext>
            </a:extLst>
          </p:cNvPr>
          <p:cNvSpPr>
            <a:spLocks xmlns:a="http://schemas.openxmlformats.org/drawingml/2006/main" noGrp="1"/>
          </p:cNvSpPr>
          <p:nvPr/>
        </p:nvSpPr>
        <p:spPr>
          <a:xfrm xmlns:a="http://schemas.openxmlformats.org/drawingml/2006/main">
            <a:off x="5476875" y="1619250"/>
            <a:ext cx="5905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marL="254000" indent="-127000">
              <a:spcAft>
                <a:spcPts val="1100"/>
              </a:spcAft>
              <a:buChar char="•"/>
              <a:defRPr sz="1725">
                <a:solidFill>
                  <a:srgbClr val="F7FAFC"/>
                </a:solidFill>
                <a:latin typeface="Arial"/>
                <a:ea typeface="Arial"/>
                <a:cs typeface="Arial"/>
              </a:defRPr>
            </a:pPr>
            <a:r>
              <a:rPr sz="1725">
                <a:solidFill>
                  <a:srgbClr val="F7FAFC"/>
                </a:solidFill>
                <a:latin typeface="Arial"/>
                <a:ea typeface="Arial"/>
                <a:cs typeface="Arial"/>
              </a:rPr>
              <a:t>Object detection penalizes both false alarms and missed objects. Background pixels do not inflate the score.</a:t>
            </a:r>
          </a:p>
          <a:p xmlns:a="http://schemas.openxmlformats.org/drawingml/2006/main">
            <a:pPr marL="254000" indent="-127000">
              <a:spcAft>
                <a:spcPts val="1100"/>
              </a:spcAft>
              <a:buChar char="•"/>
              <a:defRPr sz="1725">
                <a:solidFill>
                  <a:srgbClr val="F7FAFC"/>
                </a:solidFill>
                <a:latin typeface="Arial"/>
                <a:ea typeface="Arial"/>
                <a:cs typeface="Arial"/>
              </a:defRPr>
            </a:pPr>
            <a:r>
              <a:rPr sz="1725">
                <a:solidFill>
                  <a:srgbClr val="F7FAFC"/>
                </a:solidFill>
                <a:latin typeface="Arial"/>
                <a:ea typeface="Arial"/>
                <a:cs typeface="Arial"/>
              </a:rPr>
              <a:t>Many aerial targets occupy very few pixels, and their scale changes with altitude and camera motion.</a:t>
            </a:r>
          </a:p>
          <a:p xmlns:a="http://schemas.openxmlformats.org/drawingml/2006/main">
            <a:pPr marL="254000" indent="-127000">
              <a:spcAft>
                <a:spcPts val="1100"/>
              </a:spcAft>
              <a:buChar char="•"/>
              <a:defRPr sz="1725">
                <a:solidFill>
                  <a:srgbClr val="F7FAFC"/>
                </a:solidFill>
                <a:latin typeface="Arial"/>
                <a:ea typeface="Arial"/>
                <a:cs typeface="Arial"/>
              </a:defRPr>
            </a:pPr>
            <a:r>
              <a:rPr sz="1725">
                <a:solidFill>
                  <a:srgbClr val="F7FAFC"/>
                </a:solidFill>
                <a:latin typeface="Arial"/>
                <a:ea typeface="Arial"/>
                <a:cs typeface="Arial"/>
              </a:rPr>
              <a:t>The development set is a different complete flight, so near-duplicate frames cannot make the result look easier.</a:t>
            </a:r>
          </a:p>
          <a:p xmlns:a="http://schemas.openxmlformats.org/drawingml/2006/main">
            <a:pPr marL="254000" indent="-127000">
              <a:spcAft>
                <a:spcPts val="1100"/>
              </a:spcAft>
              <a:buChar char="•"/>
              <a:defRPr sz="1725">
                <a:solidFill>
                  <a:srgbClr val="F7FAFC"/>
                </a:solidFill>
                <a:latin typeface="Arial"/>
                <a:ea typeface="Arial"/>
                <a:cs typeface="Arial"/>
              </a:defRPr>
            </a:pPr>
            <a:r>
              <a:rPr sz="1725">
                <a:solidFill>
                  <a:srgbClr val="F7FAFC"/>
                </a:solidFill>
                <a:latin typeface="Arial"/>
                <a:ea typeface="Arial"/>
                <a:cs typeface="Arial"/>
              </a:rPr>
              <a:t>The training budget is one full pass, with strong class imbalance across eight categories.</a:t>
            </a:r>
          </a:p>
          <a:p xmlns:a="http://schemas.openxmlformats.org/drawingml/2006/main">
            <a:pPr marL="254000" indent="-127000">
              <a:spcAft>
                <a:spcPts val="1100"/>
              </a:spcAft>
              <a:buChar char="•"/>
              <a:defRPr sz="1725">
                <a:solidFill>
                  <a:srgbClr val="F7FAFC"/>
                </a:solidFill>
                <a:latin typeface="Arial"/>
                <a:ea typeface="Arial"/>
                <a:cs typeface="Arial"/>
              </a:defRPr>
            </a:pPr>
            <a:r>
              <a:rPr sz="1725">
                <a:solidFill>
                  <a:srgbClr val="F7FAFC"/>
                </a:solidFill>
                <a:latin typeface="Arial"/>
                <a:ea typeface="Arial"/>
                <a:cs typeface="Arial"/>
              </a:rPr>
              <a:t>These numbers are real evidence of current limits. They are not acceptable as a safety claim.</a:t>
            </a:r>
          </a:p>
        </p:txBody>
      </p:sp>
      <p:sp>
        <p:nvSpPr>
          <p:cNvPr id="15" name="">
            <a:extLst xmlns:a="http://schemas.openxmlformats.org/drawingml/2006/main">
              <a:ext uri="{FF2B5EF4-FFF2-40B4-BE49-F238E27FC236}">
                <a16:creationId xmlns:a16="http://schemas.microsoft.com/office/drawing/2014/main" id="{BD71ED4B-05D7-4B91-B452-23D6631BA736}"/>
              </a:ext>
            </a:extLst>
          </p:cNvPr>
          <p:cNvSpPr>
            <a:spLocks xmlns:a="http://schemas.openxmlformats.org/drawingml/2006/main" noGrp="1"/>
          </p:cNvSpPr>
          <p:nvPr/>
        </p:nvSpPr>
        <p:spPr>
          <a:xfrm xmlns:a="http://schemas.openxmlformats.org/drawingml/2006/main">
            <a:off x="5476875" y="5810250"/>
            <a:ext cx="571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167"/>
          </a:bodyPr>
          <a:lstStyle xmlns:a="http://schemas.openxmlformats.org/drawingml/2006/main"/>
          <a:p xmlns:a="http://schemas.openxmlformats.org/drawingml/2006/main">
            <a:pPr>
              <a:buNone/>
              <a:defRPr sz="1500" b="1" i="0">
                <a:solidFill>
                  <a:srgbClr val="F6A20A"/>
                </a:solidFill>
                <a:latin typeface="Arial"/>
                <a:ea typeface="Arial"/>
                <a:cs typeface="Arial"/>
              </a:defRPr>
            </a:pPr>
            <a:r>
              <a:rPr sz="1500" b="1" i="0">
                <a:solidFill>
                  <a:srgbClr val="F6A20A"/>
                </a:solidFill>
                <a:latin typeface="Arial"/>
                <a:ea typeface="Arial"/>
                <a:cs typeface="Arial"/>
              </a:rPr>
              <a:t>AP50 0.1698 is an area under a precision–recall curve, not 16.98% classification accuracy.</a:t>
            </a:r>
          </a:p>
        </p:txBody>
      </p:sp>
    </p:spTree>
    <p:extLst>
      <p:ext uri="{BB962C8B-B14F-4D97-AF65-F5344CB8AC3E}">
        <p14:creationId xmlns:p14="http://schemas.microsoft.com/office/powerpoint/2010/main" val="850484458"/>
      </p:ext>
    </p:extLst>
  </p:cSld>
</p:sld>
</file>

<file path=ppt/slides/slide9.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3DC03CE-EDAE-4EEA-9E21-5C9026FF5B11}"/>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82BEB2-9E6A-4834-BCCD-A3737869B441}"/>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242"/>
          </a:bodyPr>
          <a:lstStyle xmlns:a="http://schemas.openxmlformats.org/drawingml/2006/main"/>
          <a:p xmlns:a="http://schemas.openxmlformats.org/drawingml/2006/main">
            <a:pPr>
              <a:buNone/>
              <a:defRPr sz="3300" b="1" i="0">
                <a:solidFill>
                  <a:srgbClr val="F7FAFC"/>
                </a:solidFill>
                <a:latin typeface="Arial"/>
                <a:ea typeface="Arial"/>
                <a:cs typeface="Arial"/>
              </a:defRPr>
            </a:pPr>
            <a:r>
              <a:rPr sz="3300" b="1" i="0">
                <a:solidFill>
                  <a:srgbClr val="F7FAFC"/>
                </a:solidFill>
                <a:latin typeface="Arial"/>
                <a:ea typeface="Arial"/>
                <a:cs typeface="Arial"/>
              </a:rPr>
              <a:t>Working system and deployment path</a:t>
            </a:r>
          </a:p>
        </p:txBody>
      </p:sp>
      <p:sp>
        <p:nvSpPr>
          <p:cNvPr id="3" name="">
            <a:extLst xmlns:a="http://schemas.openxmlformats.org/drawingml/2006/main">
              <a:ext uri="{FF2B5EF4-FFF2-40B4-BE49-F238E27FC236}">
                <a16:creationId xmlns:a16="http://schemas.microsoft.com/office/drawing/2014/main" id="{1CEF7431-D090-4025-94AE-D6741C95FED1}"/>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75" b="0" i="0">
                <a:solidFill>
                  <a:srgbClr val="AFC0D4"/>
                </a:solidFill>
                <a:latin typeface="Arial"/>
                <a:ea typeface="Arial"/>
                <a:cs typeface="Arial"/>
              </a:defRPr>
            </a:pPr>
            <a:r>
              <a:rPr sz="1575" b="0" i="0">
                <a:solidFill>
                  <a:srgbClr val="AFC0D4"/>
                </a:solidFill>
                <a:latin typeface="Arial"/>
                <a:ea typeface="Arial"/>
                <a:cs typeface="Arial"/>
              </a:rPr>
              <a:t>The review console uses real evidence; TensorRT remains a reproducible next deployment step</a:t>
            </a:r>
          </a:p>
        </p:txBody>
      </p:sp>
      <p:sp>
        <p:nvSpPr>
          <p:cNvPr id="4" name="">
            <a:extLst xmlns:a="http://schemas.openxmlformats.org/drawingml/2006/main">
              <a:ext uri="{FF2B5EF4-FFF2-40B4-BE49-F238E27FC236}">
                <a16:creationId xmlns:a16="http://schemas.microsoft.com/office/drawing/2014/main" id="{A88768FA-A88C-4B8E-BAC9-00B2414A5058}"/>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Development evidence only. Final test remains sealed.</a:t>
            </a:r>
          </a:p>
        </p:txBody>
      </p:sp>
      <p:sp>
        <p:nvSpPr>
          <p:cNvPr id="5" name="">
            <a:extLst xmlns:a="http://schemas.openxmlformats.org/drawingml/2006/main">
              <a:ext uri="{FF2B5EF4-FFF2-40B4-BE49-F238E27FC236}">
                <a16:creationId xmlns:a16="http://schemas.microsoft.com/office/drawing/2014/main" id="{38EBDD6B-730E-46C0-B050-FA4BEC6192B9}"/>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9</a:t>
            </a:r>
          </a:p>
        </p:txBody>
      </p:sp>
      <p:sp>
        <p:nvSpPr>
          <p:cNvPr id="6" name="">
            <a:extLst xmlns:a="http://schemas.openxmlformats.org/drawingml/2006/main">
              <a:ext uri="{FF2B5EF4-FFF2-40B4-BE49-F238E27FC236}">
                <a16:creationId xmlns:a16="http://schemas.microsoft.com/office/drawing/2014/main" id="{D9B347DA-F00F-439D-8133-BEF4B233F6C8}"/>
              </a:ext>
            </a:extLst>
          </p:cNvPr>
          <p:cNvSpPr>
            <a:spLocks xmlns:a="http://schemas.openxmlformats.org/drawingml/2006/main" noGrp="1"/>
          </p:cNvSpPr>
          <p:nvPr/>
        </p:nvSpPr>
        <p:spPr>
          <a:xfrm xmlns:a="http://schemas.openxmlformats.org/drawingml/2006/main">
            <a:off x="666750" y="1666875"/>
            <a:ext cx="447675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9493"/>
          </a:bodyPr>
          <a:lstStyle xmlns:a="http://schemas.openxmlformats.org/drawingml/2006/main"/>
          <a:p xmlns:a="http://schemas.openxmlformats.org/drawingml/2006/main">
            <a:pPr marL="254000" indent="-127000">
              <a:spcAft>
                <a:spcPts val="1100"/>
              </a:spcAft>
              <a:buChar char="•"/>
              <a:defRPr sz="1725">
                <a:solidFill>
                  <a:srgbClr val="F7FAFC"/>
                </a:solidFill>
                <a:latin typeface="Arial"/>
                <a:ea typeface="Arial"/>
                <a:cs typeface="Arial"/>
              </a:defRPr>
            </a:pPr>
            <a:r>
              <a:rPr sz="1725">
                <a:solidFill>
                  <a:srgbClr val="F7FAFC"/>
                </a:solidFill>
                <a:latin typeface="Arial"/>
                <a:ea typeface="Arial"/>
                <a:cs typeface="Arial"/>
              </a:rPr>
              <a:t>FastAPI exposes health, model reports, replay frames, inference contracts, and idempotent human reviews.</a:t>
            </a:r>
          </a:p>
          <a:p xmlns:a="http://schemas.openxmlformats.org/drawingml/2006/main">
            <a:pPr marL="254000" indent="-127000">
              <a:spcAft>
                <a:spcPts val="1100"/>
              </a:spcAft>
              <a:buChar char="•"/>
              <a:defRPr sz="1725">
                <a:solidFill>
                  <a:srgbClr val="F7FAFC"/>
                </a:solidFill>
                <a:latin typeface="Arial"/>
                <a:ea typeface="Arial"/>
                <a:cs typeface="Arial"/>
              </a:defRPr>
            </a:pPr>
            <a:r>
              <a:rPr sz="1725">
                <a:solidFill>
                  <a:srgbClr val="F7FAFC"/>
                </a:solidFill>
                <a:latin typeface="Arial"/>
                <a:ea typeface="Arial"/>
                <a:cs typeface="Arial"/>
              </a:rPr>
              <a:t>The React console replays six real AU-AIR development frames with stored </a:t>
            </a:r>
            <a:r>
              <a:rPr sz="1725">
                <a:solidFill>
                  <a:srgbClr val="F7FAFC"/>
                </a:solidFill>
                <a:latin typeface="Arial"/>
                <a:ea typeface="Arial"/>
                <a:cs typeface="Arial"/>
              </a:rPr>
              <a:t>E2</a:t>
            </a:r>
            <a:r>
              <a:rPr sz="1725">
                <a:solidFill>
                  <a:srgbClr val="F7FAFC"/>
                </a:solidFill>
                <a:latin typeface="Arial"/>
                <a:ea typeface="Arial"/>
                <a:cs typeface="Arial"/>
              </a:rPr>
              <a:t> and E4 predictions.</a:t>
            </a:r>
          </a:p>
          <a:p xmlns:a="http://schemas.openxmlformats.org/drawingml/2006/main">
            <a:pPr marL="254000" indent="-127000">
              <a:spcAft>
                <a:spcPts val="1100"/>
              </a:spcAft>
              <a:buChar char="•"/>
              <a:defRPr sz="1725">
                <a:solidFill>
                  <a:srgbClr val="F7FAFC"/>
                </a:solidFill>
                <a:latin typeface="Arial"/>
                <a:ea typeface="Arial"/>
                <a:cs typeface="Arial"/>
              </a:defRPr>
            </a:pPr>
            <a:r>
              <a:rPr sz="1725">
                <a:solidFill>
                  <a:srgbClr val="F7FAFC"/>
                </a:solidFill>
                <a:latin typeface="Arial"/>
                <a:ea typeface="Arial"/>
                <a:cs typeface="Arial"/>
              </a:rPr>
              <a:t>The interface supports autoplay, timeline seeking, comparison views, evidence inspection, and review export.</a:t>
            </a:r>
          </a:p>
          <a:p xmlns:a="http://schemas.openxmlformats.org/drawingml/2006/main">
            <a:pPr marL="254000" indent="-127000">
              <a:spcAft>
                <a:spcPts val="1100"/>
              </a:spcAft>
              <a:buChar char="•"/>
              <a:defRPr sz="1725">
                <a:solidFill>
                  <a:srgbClr val="F7FAFC"/>
                </a:solidFill>
                <a:latin typeface="Arial"/>
                <a:ea typeface="Arial"/>
                <a:cs typeface="Arial"/>
              </a:defRPr>
            </a:pPr>
            <a:r>
              <a:rPr sz="1725">
                <a:solidFill>
                  <a:srgbClr val="F7FAFC"/>
                </a:solidFill>
                <a:latin typeface="Arial"/>
                <a:ea typeface="Arial"/>
                <a:cs typeface="Arial"/>
              </a:rPr>
              <a:t>ONNX export, TensorRT engine build, validation, and edge inference scripts are implemented.</a:t>
            </a:r>
          </a:p>
        </p:txBody>
      </p:sp>
      <p:sp>
        <p:nvSpPr>
          <p:cNvPr id="7" name="">
            <a:extLst xmlns:a="http://schemas.openxmlformats.org/drawingml/2006/main">
              <a:ext uri="{FF2B5EF4-FFF2-40B4-BE49-F238E27FC236}">
                <a16:creationId xmlns:a16="http://schemas.microsoft.com/office/drawing/2014/main" id="{5E11F126-28FF-40EA-8BCB-BDB0022A89CA}"/>
              </a:ext>
            </a:extLst>
          </p:cNvPr>
          <p:cNvSpPr>
            <a:spLocks xmlns:a="http://schemas.openxmlformats.org/drawingml/2006/main" noGrp="1"/>
          </p:cNvSpPr>
          <p:nvPr/>
        </p:nvSpPr>
        <p:spPr>
          <a:xfrm xmlns:a="http://schemas.openxmlformats.org/drawingml/2006/main">
            <a:off x="742950" y="519112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buNone/>
              <a:defRPr sz="1650" b="1" i="0">
                <a:solidFill>
                  <a:srgbClr val="F6A20A"/>
                </a:solidFill>
                <a:latin typeface="Arial"/>
                <a:ea typeface="Arial"/>
                <a:cs typeface="Arial"/>
              </a:defRPr>
            </a:pPr>
            <a:r>
              <a:rPr sz="1650" b="1" i="0">
                <a:solidFill>
                  <a:srgbClr val="F6A20A"/>
                </a:solidFill>
                <a:latin typeface="Arial"/>
                <a:ea typeface="Arial"/>
                <a:cs typeface="Arial"/>
              </a:rPr>
              <a:t>Honest deployment status</a:t>
            </a:r>
          </a:p>
        </p:txBody>
      </p:sp>
      <p:sp>
        <p:nvSpPr>
          <p:cNvPr id="8" name="">
            <a:extLst xmlns:a="http://schemas.openxmlformats.org/drawingml/2006/main">
              <a:ext uri="{FF2B5EF4-FFF2-40B4-BE49-F238E27FC236}">
                <a16:creationId xmlns:a16="http://schemas.microsoft.com/office/drawing/2014/main" id="{697D21BF-BF8D-4E02-B8B0-651A604D7B6C}"/>
              </a:ext>
            </a:extLst>
          </p:cNvPr>
          <p:cNvSpPr>
            <a:spLocks xmlns:a="http://schemas.openxmlformats.org/drawingml/2006/main" noGrp="1"/>
          </p:cNvSpPr>
          <p:nvPr/>
        </p:nvSpPr>
        <p:spPr>
          <a:xfrm xmlns:a="http://schemas.openxmlformats.org/drawingml/2006/main">
            <a:off x="742950" y="5572125"/>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508"/>
          </a:bodyPr>
          <a:lstStyle xmlns:a="http://schemas.openxmlformats.org/drawingml/2006/main"/>
          <a:p xmlns:a="http://schemas.openxmlformats.org/drawingml/2006/main">
            <a:pPr>
              <a:buNone/>
              <a:defRPr sz="1425" b="0" i="0">
                <a:solidFill>
                  <a:srgbClr val="AFC0D4"/>
                </a:solidFill>
                <a:latin typeface="Arial"/>
                <a:ea typeface="Arial"/>
                <a:cs typeface="Arial"/>
              </a:defRPr>
            </a:pPr>
            <a:r>
              <a:rPr sz="1425" b="0" i="0">
                <a:solidFill>
                  <a:srgbClr val="AFC0D4"/>
                </a:solidFill>
                <a:latin typeface="Arial"/>
                <a:ea typeface="Arial"/>
                <a:cs typeface="Arial"/>
              </a:rPr>
              <a:t>No TensorRT engine is claimed until the checkpoint is exported and validated on the target NVIDIA device.</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7971b38f96f4ce4"/>
          <a:stretch xmlns:a="http://schemas.openxmlformats.org/drawingml/2006/main"/>
        </p:blipFill>
        <p:spPr>
          <a:xfrm xmlns:a="http://schemas.openxmlformats.org/drawingml/2006/main">
            <a:off x="5340934" y="1619250"/>
            <a:ext cx="6177383" cy="34766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76C66593-9D2C-4EAE-B99A-A255CA1C5180}"/>
              </a:ext>
            </a:extLst>
          </p:cNvPr>
          <p:cNvSpPr>
            <a:spLocks xmlns:a="http://schemas.openxmlformats.org/drawingml/2006/main" noGrp="1"/>
          </p:cNvSpPr>
          <p:nvPr/>
        </p:nvSpPr>
        <p:spPr>
          <a:xfrm xmlns:a="http://schemas.openxmlformats.org/drawingml/2006/main">
            <a:off x="5572125" y="5381625"/>
            <a:ext cx="571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350" b="1" i="0">
                <a:solidFill>
                  <a:srgbClr val="2CC7DF"/>
                </a:solidFill>
                <a:latin typeface="Arial"/>
                <a:ea typeface="Arial"/>
                <a:cs typeface="Arial"/>
              </a:defRPr>
            </a:pPr>
            <a:r>
              <a:rPr sz="1350" b="1" i="0">
                <a:solidFill>
                  <a:srgbClr val="2CC7DF"/>
                </a:solidFill>
                <a:latin typeface="Arial"/>
                <a:ea typeface="Arial"/>
                <a:cs typeface="Arial"/>
              </a:rPr>
              <a:t>Python · PyTorch · Lightning · FastAPI · React · TypeScript · ONNX · TensorRT</a:t>
            </a:r>
          </a:p>
        </p:txBody>
      </p:sp>
    </p:spTree>
    <p:extLst>
      <p:ext uri="{BB962C8B-B14F-4D97-AF65-F5344CB8AC3E}">
        <p14:creationId xmlns:p14="http://schemas.microsoft.com/office/powerpoint/2010/main" val="787701445"/>
      </p:ext>
    </p:extLst>
  </p:cSld>
</p:sld>
</file>

<file path=ppt/slides/slide10.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343F922-16A0-4729-9F46-936286D5CA3D}"/>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CA2DFD-F8B5-4BC2-9869-F3C3FE24E8EC}"/>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242"/>
          </a:bodyPr>
          <a:lstStyle xmlns:a="http://schemas.openxmlformats.org/drawingml/2006/main"/>
          <a:p xmlns:a="http://schemas.openxmlformats.org/drawingml/2006/main">
            <a:pPr>
              <a:buNone/>
              <a:defRPr sz="3300" b="1" i="0">
                <a:solidFill>
                  <a:srgbClr val="F7FAFC"/>
                </a:solidFill>
                <a:latin typeface="Arial"/>
                <a:ea typeface="Arial"/>
                <a:cs typeface="Arial"/>
              </a:defRPr>
            </a:pPr>
            <a:r>
              <a:rPr sz="3300" b="1" i="0">
                <a:solidFill>
                  <a:srgbClr val="F7FAFC"/>
                </a:solidFill>
                <a:latin typeface="Arial"/>
                <a:ea typeface="Arial"/>
                <a:cs typeface="Arial"/>
              </a:rPr>
              <a:t>Decision and next work</a:t>
            </a:r>
          </a:p>
        </p:txBody>
      </p:sp>
      <p:sp>
        <p:nvSpPr>
          <p:cNvPr id="3" name="">
            <a:extLst xmlns:a="http://schemas.openxmlformats.org/drawingml/2006/main">
              <a:ext uri="{FF2B5EF4-FFF2-40B4-BE49-F238E27FC236}">
                <a16:creationId xmlns:a16="http://schemas.microsoft.com/office/drawing/2014/main" id="{B29D7D55-9914-4231-9557-D0FACC87DB8F}"/>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75" b="0" i="0">
                <a:solidFill>
                  <a:srgbClr val="AFC0D4"/>
                </a:solidFill>
                <a:latin typeface="Arial"/>
                <a:ea typeface="Arial"/>
                <a:cs typeface="Arial"/>
              </a:defRPr>
            </a:pPr>
            <a:r>
              <a:rPr sz="1575" b="0" i="0">
                <a:solidFill>
                  <a:srgbClr val="AFC0D4"/>
                </a:solidFill>
                <a:latin typeface="Arial"/>
                <a:ea typeface="Arial"/>
                <a:cs typeface="Arial"/>
              </a:rPr>
              <a:t>Review 2 ends with a clear model choice and a controlled path to the final test</a:t>
            </a:r>
          </a:p>
        </p:txBody>
      </p:sp>
      <p:sp>
        <p:nvSpPr>
          <p:cNvPr id="4" name="">
            <a:extLst xmlns:a="http://schemas.openxmlformats.org/drawingml/2006/main">
              <a:ext uri="{FF2B5EF4-FFF2-40B4-BE49-F238E27FC236}">
                <a16:creationId xmlns:a16="http://schemas.microsoft.com/office/drawing/2014/main" id="{C4C097E8-5641-4FB3-943E-4968246B35D3}"/>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Development evidence only. Final test remains sealed.</a:t>
            </a:r>
          </a:p>
        </p:txBody>
      </p:sp>
      <p:sp>
        <p:nvSpPr>
          <p:cNvPr id="5" name="">
            <a:extLst xmlns:a="http://schemas.openxmlformats.org/drawingml/2006/main">
              <a:ext uri="{FF2B5EF4-FFF2-40B4-BE49-F238E27FC236}">
                <a16:creationId xmlns:a16="http://schemas.microsoft.com/office/drawing/2014/main" id="{D71E98E5-F656-4E76-8C07-8A00AE7B1731}"/>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BFCA7DFD-998B-4911-B56E-5C58E6E0695A}"/>
              </a:ext>
            </a:extLst>
          </p:cNvPr>
          <p:cNvSpPr>
            <a:spLocks xmlns:a="http://schemas.openxmlformats.org/drawingml/2006/main" noGrp="1"/>
          </p:cNvSpPr>
          <p:nvPr/>
        </p:nvSpPr>
        <p:spPr>
          <a:xfrm xmlns:a="http://schemas.openxmlformats.org/drawingml/2006/main">
            <a:off x="809625" y="1666875"/>
            <a:ext cx="285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556"/>
          </a:bodyPr>
          <a:lstStyle xmlns:a="http://schemas.openxmlformats.org/drawingml/2006/main"/>
          <a:p xmlns:a="http://schemas.openxmlformats.org/drawingml/2006/main">
            <a:pPr>
              <a:buNone/>
              <a:defRPr sz="2250" b="1" i="0">
                <a:solidFill>
                  <a:srgbClr val="2CC7DF"/>
                </a:solidFill>
                <a:latin typeface="Arial"/>
                <a:ea typeface="Arial"/>
                <a:cs typeface="Arial"/>
              </a:defRPr>
            </a:pPr>
            <a:r>
              <a:rPr sz="2250" b="1" i="0">
                <a:solidFill>
                  <a:srgbClr val="2CC7DF"/>
                </a:solidFill>
                <a:latin typeface="Arial"/>
                <a:ea typeface="Arial"/>
                <a:cs typeface="Arial"/>
              </a:rPr>
              <a:t>Model decision</a:t>
            </a:r>
          </a:p>
        </p:txBody>
      </p:sp>
      <p:sp>
        <p:nvSpPr>
          <p:cNvPr id="7" name="">
            <a:extLst xmlns:a="http://schemas.openxmlformats.org/drawingml/2006/main">
              <a:ext uri="{FF2B5EF4-FFF2-40B4-BE49-F238E27FC236}">
                <a16:creationId xmlns:a16="http://schemas.microsoft.com/office/drawing/2014/main" id="{38925ECD-B768-4E3B-84B8-3D022256A060}"/>
              </a:ext>
            </a:extLst>
          </p:cNvPr>
          <p:cNvSpPr>
            <a:spLocks xmlns:a="http://schemas.openxmlformats.org/drawingml/2006/main" noGrp="1"/>
          </p:cNvSpPr>
          <p:nvPr/>
        </p:nvSpPr>
        <p:spPr>
          <a:xfrm xmlns:a="http://schemas.openxmlformats.org/drawingml/2006/main">
            <a:off x="809625" y="2171700"/>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304"/>
          </a:bodyPr>
          <a:lstStyle xmlns:a="http://schemas.openxmlformats.org/drawingml/2006/main"/>
          <a:p xmlns:a="http://schemas.openxmlformats.org/drawingml/2006/main">
            <a:pPr>
              <a:buNone/>
              <a:defRPr sz="3450" b="1" i="0">
                <a:solidFill>
                  <a:srgbClr val="F7FAFC"/>
                </a:solidFill>
                <a:latin typeface="Arial"/>
                <a:ea typeface="Arial"/>
                <a:cs typeface="Arial"/>
              </a:defRPr>
            </a:pPr>
            <a:r>
              <a:rPr sz="3450" b="1" i="0">
                <a:solidFill>
                  <a:srgbClr val="F7FAFC"/>
                </a:solidFill>
                <a:latin typeface="Arial"/>
                <a:ea typeface="Arial"/>
                <a:cs typeface="Arial"/>
              </a:rPr>
              <a:t>Keep </a:t>
            </a:r>
            <a:r>
              <a:rPr sz="3450" b="1" i="0">
                <a:solidFill>
                  <a:srgbClr val="F7FAFC"/>
                </a:solidFill>
                <a:latin typeface="Arial"/>
                <a:ea typeface="Arial"/>
                <a:cs typeface="Arial"/>
              </a:rPr>
              <a:t>E2</a:t>
            </a:r>
          </a:p>
        </p:txBody>
      </p:sp>
      <p:sp>
        <p:nvSpPr>
          <p:cNvPr id="8" name="">
            <a:extLst xmlns:a="http://schemas.openxmlformats.org/drawingml/2006/main">
              <a:ext uri="{FF2B5EF4-FFF2-40B4-BE49-F238E27FC236}">
                <a16:creationId xmlns:a16="http://schemas.microsoft.com/office/drawing/2014/main" id="{07FD3280-5B4B-411E-89EF-20D1CAB65756}"/>
              </a:ext>
            </a:extLst>
          </p:cNvPr>
          <p:cNvSpPr>
            <a:spLocks xmlns:a="http://schemas.openxmlformats.org/drawingml/2006/main" noGrp="1"/>
          </p:cNvSpPr>
          <p:nvPr/>
        </p:nvSpPr>
        <p:spPr>
          <a:xfrm xmlns:a="http://schemas.openxmlformats.org/drawingml/2006/main">
            <a:off x="809625" y="2857500"/>
            <a:ext cx="295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75" b="0" i="0">
                <a:solidFill>
                  <a:srgbClr val="AFC0D4"/>
                </a:solidFill>
                <a:latin typeface="Arial"/>
                <a:ea typeface="Arial"/>
                <a:cs typeface="Arial"/>
              </a:defRPr>
            </a:pPr>
            <a:r>
              <a:rPr sz="1575" b="0" i="0">
                <a:solidFill>
                  <a:srgbClr val="AFC0D4"/>
                </a:solidFill>
                <a:latin typeface="Arial"/>
                <a:ea typeface="Arial"/>
                <a:cs typeface="Arial"/>
              </a:rPr>
              <a:t>E4 nearly matched </a:t>
            </a:r>
            <a:r>
              <a:rPr sz="1575" b="0" i="0">
                <a:solidFill>
                  <a:srgbClr val="AFC0D4"/>
                </a:solidFill>
                <a:latin typeface="Arial"/>
                <a:ea typeface="Arial"/>
                <a:cs typeface="Arial"/>
              </a:rPr>
              <a:t>E2</a:t>
            </a:r>
            <a:r>
              <a:rPr sz="1575" b="0" i="0">
                <a:solidFill>
                  <a:srgbClr val="AFC0D4"/>
                </a:solidFill>
                <a:latin typeface="Arial"/>
                <a:ea typeface="Arial"/>
                <a:cs typeface="Arial"/>
              </a:rPr>
              <a:t> but did not demonstrate a reliable flight-state gain.</a:t>
            </a:r>
          </a:p>
        </p:txBody>
      </p:sp>
      <p:sp>
        <p:nvSpPr>
          <p:cNvPr id="9" name="">
            <a:extLst xmlns:a="http://schemas.openxmlformats.org/drawingml/2006/main">
              <a:ext uri="{FF2B5EF4-FFF2-40B4-BE49-F238E27FC236}">
                <a16:creationId xmlns:a16="http://schemas.microsoft.com/office/drawing/2014/main" id="{363B5561-223A-4586-AAD5-1FCC933E4882}"/>
              </a:ext>
            </a:extLst>
          </p:cNvPr>
          <p:cNvSpPr>
            <a:spLocks xmlns:a="http://schemas.openxmlformats.org/drawingml/2006/main" noGrp="1"/>
          </p:cNvSpPr>
          <p:nvPr/>
        </p:nvSpPr>
        <p:spPr>
          <a:xfrm xmlns:a="http://schemas.openxmlformats.org/drawingml/2006/main">
            <a:off x="4048125" y="1666875"/>
            <a:ext cx="19050" cy="3714750"/>
          </a:xfrm>
          <a:prstGeom xmlns:a="http://schemas.openxmlformats.org/drawingml/2006/main" prst="rect">
            <a:avLst/>
          </a:prstGeom>
          <a:solidFill xmlns:a="http://schemas.openxmlformats.org/drawingml/2006/main">
            <a:srgbClr val="26415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0C57E43-81DB-4671-BDC8-CCBA76742BAA}"/>
              </a:ext>
            </a:extLst>
          </p:cNvPr>
          <p:cNvSpPr>
            <a:spLocks xmlns:a="http://schemas.openxmlformats.org/drawingml/2006/main" noGrp="1"/>
          </p:cNvSpPr>
          <p:nvPr/>
        </p:nvSpPr>
        <p:spPr>
          <a:xfrm xmlns:a="http://schemas.openxmlformats.org/drawingml/2006/main">
            <a:off x="4572000" y="1666875"/>
            <a:ext cx="285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556"/>
          </a:bodyPr>
          <a:lstStyle xmlns:a="http://schemas.openxmlformats.org/drawingml/2006/main"/>
          <a:p xmlns:a="http://schemas.openxmlformats.org/drawingml/2006/main">
            <a:pPr>
              <a:buNone/>
              <a:defRPr sz="2250" b="1" i="0">
                <a:solidFill>
                  <a:srgbClr val="F6A20A"/>
                </a:solidFill>
                <a:latin typeface="Arial"/>
                <a:ea typeface="Arial"/>
                <a:cs typeface="Arial"/>
              </a:defRPr>
            </a:pPr>
            <a:r>
              <a:rPr sz="2250" b="1" i="0">
                <a:solidFill>
                  <a:srgbClr val="F6A20A"/>
                </a:solidFill>
                <a:latin typeface="Arial"/>
                <a:ea typeface="Arial"/>
                <a:cs typeface="Arial"/>
              </a:rPr>
              <a:t>Release gate</a:t>
            </a:r>
          </a:p>
        </p:txBody>
      </p:sp>
      <p:sp>
        <p:nvSpPr>
          <p:cNvPr id="11" name="">
            <a:extLst xmlns:a="http://schemas.openxmlformats.org/drawingml/2006/main">
              <a:ext uri="{FF2B5EF4-FFF2-40B4-BE49-F238E27FC236}">
                <a16:creationId xmlns:a16="http://schemas.microsoft.com/office/drawing/2014/main" id="{462A3641-7D34-4AD2-ABC0-50FC77C9242D}"/>
              </a:ext>
            </a:extLst>
          </p:cNvPr>
          <p:cNvSpPr>
            <a:spLocks xmlns:a="http://schemas.openxmlformats.org/drawingml/2006/main" noGrp="1"/>
          </p:cNvSpPr>
          <p:nvPr/>
        </p:nvSpPr>
        <p:spPr>
          <a:xfrm xmlns:a="http://schemas.openxmlformats.org/drawingml/2006/main">
            <a:off x="4572000" y="2171700"/>
            <a:ext cx="323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8101"/>
          </a:bodyPr>
          <a:lstStyle xmlns:a="http://schemas.openxmlformats.org/drawingml/2006/main"/>
          <a:p xmlns:a="http://schemas.openxmlformats.org/drawingml/2006/main">
            <a:pPr>
              <a:buNone/>
              <a:defRPr sz="3150" b="1" i="0">
                <a:solidFill>
                  <a:srgbClr val="F7FAFC"/>
                </a:solidFill>
                <a:latin typeface="Arial"/>
                <a:ea typeface="Arial"/>
                <a:cs typeface="Arial"/>
              </a:defRPr>
            </a:pPr>
            <a:r>
              <a:rPr sz="3150" b="1" i="0">
                <a:solidFill>
                  <a:srgbClr val="F7FAFC"/>
                </a:solidFill>
                <a:latin typeface="Arial"/>
                <a:ea typeface="Arial"/>
                <a:cs typeface="Arial"/>
              </a:rPr>
              <a:t>Final test sealed</a:t>
            </a:r>
          </a:p>
        </p:txBody>
      </p:sp>
      <p:sp>
        <p:nvSpPr>
          <p:cNvPr id="12" name="">
            <a:extLst xmlns:a="http://schemas.openxmlformats.org/drawingml/2006/main">
              <a:ext uri="{FF2B5EF4-FFF2-40B4-BE49-F238E27FC236}">
                <a16:creationId xmlns:a16="http://schemas.microsoft.com/office/drawing/2014/main" id="{C5218E9A-25BA-41FD-AB54-98ECED918A4F}"/>
              </a:ext>
            </a:extLst>
          </p:cNvPr>
          <p:cNvSpPr>
            <a:spLocks xmlns:a="http://schemas.openxmlformats.org/drawingml/2006/main" noGrp="1"/>
          </p:cNvSpPr>
          <p:nvPr/>
        </p:nvSpPr>
        <p:spPr>
          <a:xfrm xmlns:a="http://schemas.openxmlformats.org/drawingml/2006/main">
            <a:off x="4572000" y="2857500"/>
            <a:ext cx="3048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75" b="0" i="0">
                <a:solidFill>
                  <a:srgbClr val="AFC0D4"/>
                </a:solidFill>
                <a:latin typeface="Arial"/>
                <a:ea typeface="Arial"/>
                <a:cs typeface="Arial"/>
              </a:defRPr>
            </a:pPr>
            <a:r>
              <a:rPr sz="1575" b="0" i="0">
                <a:solidFill>
                  <a:srgbClr val="AFC0D4"/>
                </a:solidFill>
                <a:latin typeface="Arial"/>
                <a:ea typeface="Arial"/>
                <a:cs typeface="Arial"/>
              </a:rPr>
              <a:t>Freeze the model, threshold, preprocessing, and deployment contract before opening 8,566 final-test frames once.</a:t>
            </a:r>
          </a:p>
        </p:txBody>
      </p:sp>
      <p:sp>
        <p:nvSpPr>
          <p:cNvPr id="13" name="">
            <a:extLst xmlns:a="http://schemas.openxmlformats.org/drawingml/2006/main">
              <a:ext uri="{FF2B5EF4-FFF2-40B4-BE49-F238E27FC236}">
                <a16:creationId xmlns:a16="http://schemas.microsoft.com/office/drawing/2014/main" id="{FA63382F-D33E-45DB-AF8A-E96E35A3BB36}"/>
              </a:ext>
            </a:extLst>
          </p:cNvPr>
          <p:cNvSpPr>
            <a:spLocks xmlns:a="http://schemas.openxmlformats.org/drawingml/2006/main" noGrp="1"/>
          </p:cNvSpPr>
          <p:nvPr/>
        </p:nvSpPr>
        <p:spPr>
          <a:xfrm xmlns:a="http://schemas.openxmlformats.org/drawingml/2006/main">
            <a:off x="7858125" y="1666875"/>
            <a:ext cx="19050" cy="3714750"/>
          </a:xfrm>
          <a:prstGeom xmlns:a="http://schemas.openxmlformats.org/drawingml/2006/main" prst="rect">
            <a:avLst/>
          </a:prstGeom>
          <a:solidFill xmlns:a="http://schemas.openxmlformats.org/drawingml/2006/main">
            <a:srgbClr val="264157"/>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D86DE51-8F3E-40CB-BBF8-898DAF6AA2C1}"/>
              </a:ext>
            </a:extLst>
          </p:cNvPr>
          <p:cNvSpPr>
            <a:spLocks xmlns:a="http://schemas.openxmlformats.org/drawingml/2006/main" noGrp="1"/>
          </p:cNvSpPr>
          <p:nvPr/>
        </p:nvSpPr>
        <p:spPr>
          <a:xfrm xmlns:a="http://schemas.openxmlformats.org/drawingml/2006/main">
            <a:off x="8334375" y="1666875"/>
            <a:ext cx="314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556"/>
          </a:bodyPr>
          <a:lstStyle xmlns:a="http://schemas.openxmlformats.org/drawingml/2006/main"/>
          <a:p xmlns:a="http://schemas.openxmlformats.org/drawingml/2006/main">
            <a:pPr>
              <a:buNone/>
              <a:defRPr sz="2250" b="1" i="0">
                <a:solidFill>
                  <a:srgbClr val="38D39F"/>
                </a:solidFill>
                <a:latin typeface="Arial"/>
                <a:ea typeface="Arial"/>
                <a:cs typeface="Arial"/>
              </a:defRPr>
            </a:pPr>
            <a:r>
              <a:rPr sz="2250" b="1" i="0">
                <a:solidFill>
                  <a:srgbClr val="38D39F"/>
                </a:solidFill>
                <a:latin typeface="Arial"/>
                <a:ea typeface="Arial"/>
                <a:cs typeface="Arial"/>
              </a:rPr>
              <a:t>Next engineering step</a:t>
            </a:r>
          </a:p>
        </p:txBody>
      </p:sp>
      <p:sp>
        <p:nvSpPr>
          <p:cNvPr id="15" name="">
            <a:extLst xmlns:a="http://schemas.openxmlformats.org/drawingml/2006/main">
              <a:ext uri="{FF2B5EF4-FFF2-40B4-BE49-F238E27FC236}">
                <a16:creationId xmlns:a16="http://schemas.microsoft.com/office/drawing/2014/main" id="{8138F486-A0FF-4541-9CEB-5F5A364877F9}"/>
              </a:ext>
            </a:extLst>
          </p:cNvPr>
          <p:cNvSpPr>
            <a:spLocks xmlns:a="http://schemas.openxmlformats.org/drawingml/2006/main" noGrp="1"/>
          </p:cNvSpPr>
          <p:nvPr/>
        </p:nvSpPr>
        <p:spPr>
          <a:xfrm xmlns:a="http://schemas.openxmlformats.org/drawingml/2006/main">
            <a:off x="8334375" y="2171700"/>
            <a:ext cx="314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274"/>
          </a:bodyPr>
          <a:lstStyle xmlns:a="http://schemas.openxmlformats.org/drawingml/2006/main"/>
          <a:p xmlns:a="http://schemas.openxmlformats.org/drawingml/2006/main">
            <a:pPr>
              <a:buNone/>
              <a:defRPr sz="2550" b="1" i="0">
                <a:solidFill>
                  <a:srgbClr val="F7FAFC"/>
                </a:solidFill>
                <a:latin typeface="Arial"/>
                <a:ea typeface="Arial"/>
                <a:cs typeface="Arial"/>
              </a:defRPr>
            </a:pPr>
            <a:r>
              <a:rPr sz="2550" b="1" i="0">
                <a:solidFill>
                  <a:srgbClr val="F7FAFC"/>
                </a:solidFill>
                <a:latin typeface="Arial"/>
                <a:ea typeface="Arial"/>
                <a:cs typeface="Arial"/>
              </a:rPr>
              <a:t>Improve before scaling claims</a:t>
            </a:r>
          </a:p>
        </p:txBody>
      </p:sp>
      <p:sp>
        <p:nvSpPr>
          <p:cNvPr id="16" name="">
            <a:extLst xmlns:a="http://schemas.openxmlformats.org/drawingml/2006/main">
              <a:ext uri="{FF2B5EF4-FFF2-40B4-BE49-F238E27FC236}">
                <a16:creationId xmlns:a16="http://schemas.microsoft.com/office/drawing/2014/main" id="{45F2B550-66F2-41CC-A047-3DAF9DA234D3}"/>
              </a:ext>
            </a:extLst>
          </p:cNvPr>
          <p:cNvSpPr>
            <a:spLocks xmlns:a="http://schemas.openxmlformats.org/drawingml/2006/main" noGrp="1"/>
          </p:cNvSpPr>
          <p:nvPr/>
        </p:nvSpPr>
        <p:spPr>
          <a:xfrm xmlns:a="http://schemas.openxmlformats.org/drawingml/2006/main">
            <a:off x="8334375" y="3048000"/>
            <a:ext cx="304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75" b="0" i="0">
                <a:solidFill>
                  <a:srgbClr val="AFC0D4"/>
                </a:solidFill>
                <a:latin typeface="Arial"/>
                <a:ea typeface="Arial"/>
                <a:cs typeface="Arial"/>
              </a:defRPr>
            </a:pPr>
            <a:r>
              <a:rPr sz="1575" b="0" i="0">
                <a:solidFill>
                  <a:srgbClr val="AFC0D4"/>
                </a:solidFill>
                <a:latin typeface="Arial"/>
                <a:ea typeface="Arial"/>
                <a:cs typeface="Arial"/>
              </a:rPr>
              <a:t>Train longer, address class imbalance, validate on more flights, then build and benchmark TensorRT on the target edge device.</a:t>
            </a:r>
          </a:p>
        </p:txBody>
      </p:sp>
      <p:sp>
        <p:nvSpPr>
          <p:cNvPr id="17" name="">
            <a:extLst xmlns:a="http://schemas.openxmlformats.org/drawingml/2006/main">
              <a:ext uri="{FF2B5EF4-FFF2-40B4-BE49-F238E27FC236}">
                <a16:creationId xmlns:a16="http://schemas.microsoft.com/office/drawing/2014/main" id="{C837F289-786D-4E28-BED7-3A2F94072067}"/>
              </a:ext>
            </a:extLst>
          </p:cNvPr>
          <p:cNvSpPr>
            <a:spLocks xmlns:a="http://schemas.openxmlformats.org/drawingml/2006/main" noGrp="1"/>
          </p:cNvSpPr>
          <p:nvPr/>
        </p:nvSpPr>
        <p:spPr>
          <a:xfrm xmlns:a="http://schemas.openxmlformats.org/drawingml/2006/main">
            <a:off x="1476375" y="5810250"/>
            <a:ext cx="923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698"/>
          </a:bodyPr>
          <a:lstStyle xmlns:a="http://schemas.openxmlformats.org/drawingml/2006/main"/>
          <a:p xmlns:a="http://schemas.openxmlformats.org/drawingml/2006/main">
            <a:pPr>
              <a:buNone/>
              <a:defRPr sz="1725" b="1" i="0">
                <a:solidFill>
                  <a:srgbClr val="38D39F"/>
                </a:solidFill>
                <a:latin typeface="Arial"/>
                <a:ea typeface="Arial"/>
                <a:cs typeface="Arial"/>
              </a:defRPr>
            </a:pPr>
            <a:r>
              <a:rPr sz="1725" b="1" i="0">
                <a:solidFill>
                  <a:srgbClr val="38D39F"/>
                </a:solidFill>
                <a:latin typeface="Arial"/>
                <a:ea typeface="Arial"/>
                <a:cs typeface="Arial"/>
              </a:rPr>
              <a:t>Review 2 outcome: a stronger baseline, a rejected hypothesis, and a reproducible product path.</a:t>
            </a:r>
          </a:p>
        </p:txBody>
      </p:sp>
    </p:spTree>
    <p:extLst>
      <p:ext uri="{BB962C8B-B14F-4D97-AF65-F5344CB8AC3E}">
        <p14:creationId xmlns:p14="http://schemas.microsoft.com/office/powerpoint/2010/main" val="2060858572"/>
      </p:ext>
    </p:extLst>
  </p:cSld>
</p:sld>
</file>

<file path=ppt/slides/slide11.xml><?xml version="1.0" encoding="utf-8"?>
<p:sld xmlns:p="http://schemas.openxmlformats.org/presentationml/2006/main">
  <p:cSld>
    <p:bg>
      <p:bgPr>
        <a:solidFill xmlns:a="http://schemas.openxmlformats.org/drawingml/2006/main">
          <a:srgbClr val="08152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61D7281-FFF1-46E6-887D-B2FD680A188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CC7D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A6D15F-16B5-4FBD-8840-0AEC190FC9C0}"/>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242"/>
          </a:bodyPr>
          <a:lstStyle xmlns:a="http://schemas.openxmlformats.org/drawingml/2006/main"/>
          <a:p xmlns:a="http://schemas.openxmlformats.org/drawingml/2006/main">
            <a:pPr>
              <a:buNone/>
              <a:defRPr sz="3300" b="1" i="0">
                <a:solidFill>
                  <a:srgbClr val="F7FAFC"/>
                </a:solidFill>
                <a:latin typeface="Arial"/>
                <a:ea typeface="Arial"/>
                <a:cs typeface="Arial"/>
              </a:defRPr>
            </a:pPr>
            <a:r>
              <a:rPr sz="3300" b="1" i="0">
                <a:solidFill>
                  <a:srgbClr val="F7FAFC"/>
                </a:solidFill>
                <a:latin typeface="Arial"/>
                <a:ea typeface="Arial"/>
                <a:cs typeface="Arial"/>
              </a:rPr>
              <a:t>Likely judge questions</a:t>
            </a:r>
          </a:p>
        </p:txBody>
      </p:sp>
      <p:sp>
        <p:nvSpPr>
          <p:cNvPr id="3" name="">
            <a:extLst xmlns:a="http://schemas.openxmlformats.org/drawingml/2006/main">
              <a:ext uri="{FF2B5EF4-FFF2-40B4-BE49-F238E27FC236}">
                <a16:creationId xmlns:a16="http://schemas.microsoft.com/office/drawing/2014/main" id="{B2A47C6F-D9D5-4243-BE7C-714B00AC9437}"/>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75" b="0" i="0">
                <a:solidFill>
                  <a:srgbClr val="AFC0D4"/>
                </a:solidFill>
                <a:latin typeface="Arial"/>
                <a:ea typeface="Arial"/>
                <a:cs typeface="Arial"/>
              </a:defRPr>
            </a:pPr>
            <a:r>
              <a:rPr sz="1575" b="0" i="0">
                <a:solidFill>
                  <a:srgbClr val="AFC0D4"/>
                </a:solidFill>
                <a:latin typeface="Arial"/>
                <a:ea typeface="Arial"/>
                <a:cs typeface="Arial"/>
              </a:rPr>
              <a:t>Short answers the whole team should use consistently</a:t>
            </a:r>
          </a:p>
        </p:txBody>
      </p:sp>
      <p:sp>
        <p:nvSpPr>
          <p:cNvPr id="4" name="">
            <a:extLst xmlns:a="http://schemas.openxmlformats.org/drawingml/2006/main">
              <a:ext uri="{FF2B5EF4-FFF2-40B4-BE49-F238E27FC236}">
                <a16:creationId xmlns:a16="http://schemas.microsoft.com/office/drawing/2014/main" id="{B0E68524-CF2F-4803-8992-50EF0F940052}"/>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Development evidence only. Final test remains sealed.</a:t>
            </a:r>
          </a:p>
        </p:txBody>
      </p:sp>
      <p:sp>
        <p:nvSpPr>
          <p:cNvPr id="5" name="">
            <a:extLst xmlns:a="http://schemas.openxmlformats.org/drawingml/2006/main">
              <a:ext uri="{FF2B5EF4-FFF2-40B4-BE49-F238E27FC236}">
                <a16:creationId xmlns:a16="http://schemas.microsoft.com/office/drawing/2014/main" id="{8FBC7A41-7508-4085-BDF7-F3E60BFC5D64}"/>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AFC0D4"/>
                </a:solidFill>
                <a:latin typeface="Arial"/>
                <a:ea typeface="Arial"/>
                <a:cs typeface="Arial"/>
              </a:defRPr>
            </a:pPr>
            <a:r>
              <a:rPr sz="1050" b="0" i="0">
                <a:solidFill>
                  <a:srgbClr val="AFC0D4"/>
                </a:solidFill>
                <a:latin typeface="Arial"/>
                <a:ea typeface="Arial"/>
                <a:cs typeface="Arial"/>
              </a:rPr>
              <a:t>11</a:t>
            </a:r>
          </a:p>
        </p:txBody>
      </p:sp>
      <p:sp>
        <p:nvSpPr>
          <p:cNvPr id="6" name="">
            <a:extLst xmlns:a="http://schemas.openxmlformats.org/drawingml/2006/main">
              <a:ext uri="{FF2B5EF4-FFF2-40B4-BE49-F238E27FC236}">
                <a16:creationId xmlns:a16="http://schemas.microsoft.com/office/drawing/2014/main" id="{7C6C1685-79D2-4A7F-9A8A-9752CB6B2572}"/>
              </a:ext>
            </a:extLst>
          </p:cNvPr>
          <p:cNvSpPr>
            <a:spLocks xmlns:a="http://schemas.openxmlformats.org/drawingml/2006/main" noGrp="1"/>
          </p:cNvSpPr>
          <p:nvPr/>
        </p:nvSpPr>
        <p:spPr>
          <a:xfrm xmlns:a="http://schemas.openxmlformats.org/drawingml/2006/main">
            <a:off x="714375" y="1619250"/>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buNone/>
              <a:defRPr sz="1800" b="1" i="0">
                <a:solidFill>
                  <a:srgbClr val="F6A20A"/>
                </a:solidFill>
                <a:latin typeface="Arial"/>
                <a:ea typeface="Arial"/>
                <a:cs typeface="Arial"/>
              </a:defRPr>
            </a:pPr>
            <a:r>
              <a:rPr sz="1800" b="1" i="0">
                <a:solidFill>
                  <a:srgbClr val="F6A20A"/>
                </a:solidFill>
                <a:latin typeface="Arial"/>
                <a:ea typeface="Arial"/>
                <a:cs typeface="Arial"/>
              </a:rPr>
              <a:t>Why are the metrics low?</a:t>
            </a:r>
          </a:p>
        </p:txBody>
      </p:sp>
      <p:sp>
        <p:nvSpPr>
          <p:cNvPr id="7" name="">
            <a:extLst xmlns:a="http://schemas.openxmlformats.org/drawingml/2006/main">
              <a:ext uri="{FF2B5EF4-FFF2-40B4-BE49-F238E27FC236}">
                <a16:creationId xmlns:a16="http://schemas.microsoft.com/office/drawing/2014/main" id="{DE56FBBB-053D-4D36-B523-12F5845903C3}"/>
              </a:ext>
            </a:extLst>
          </p:cNvPr>
          <p:cNvSpPr>
            <a:spLocks xmlns:a="http://schemas.openxmlformats.org/drawingml/2006/main" noGrp="1"/>
          </p:cNvSpPr>
          <p:nvPr/>
        </p:nvSpPr>
        <p:spPr>
          <a:xfrm xmlns:a="http://schemas.openxmlformats.org/drawingml/2006/main">
            <a:off x="714375" y="2000250"/>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167"/>
          </a:bodyPr>
          <a:lstStyle xmlns:a="http://schemas.openxmlformats.org/drawingml/2006/main"/>
          <a:p xmlns:a="http://schemas.openxmlformats.org/drawingml/2006/main">
            <a:pPr>
              <a:buNone/>
              <a:defRPr sz="1500" b="0" i="0">
                <a:solidFill>
                  <a:srgbClr val="F7FAFC"/>
                </a:solidFill>
                <a:latin typeface="Arial"/>
                <a:ea typeface="Arial"/>
                <a:cs typeface="Arial"/>
              </a:defRPr>
            </a:pPr>
            <a:r>
              <a:rPr sz="1500" b="0" i="0">
                <a:solidFill>
                  <a:srgbClr val="F7FAFC"/>
                </a:solidFill>
                <a:latin typeface="Arial"/>
                <a:ea typeface="Arial"/>
                <a:cs typeface="Arial"/>
              </a:rPr>
              <a:t>Strict held-out object detection counts false alarms and misses. Small aerial targets, class imbalance, and one-pass training make the task hard. The values are not deployment-ready.</a:t>
            </a:r>
          </a:p>
        </p:txBody>
      </p:sp>
      <p:sp>
        <p:nvSpPr>
          <p:cNvPr id="8" name="">
            <a:extLst xmlns:a="http://schemas.openxmlformats.org/drawingml/2006/main">
              <a:ext uri="{FF2B5EF4-FFF2-40B4-BE49-F238E27FC236}">
                <a16:creationId xmlns:a16="http://schemas.microsoft.com/office/drawing/2014/main" id="{115B0A49-5A42-4C14-AEC0-058A43A10E72}"/>
              </a:ext>
            </a:extLst>
          </p:cNvPr>
          <p:cNvSpPr>
            <a:spLocks xmlns:a="http://schemas.openxmlformats.org/drawingml/2006/main" noGrp="1"/>
          </p:cNvSpPr>
          <p:nvPr/>
        </p:nvSpPr>
        <p:spPr>
          <a:xfrm xmlns:a="http://schemas.openxmlformats.org/drawingml/2006/main">
            <a:off x="714375" y="3286125"/>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buNone/>
              <a:defRPr sz="1800" b="1" i="0">
                <a:solidFill>
                  <a:srgbClr val="2CC7DF"/>
                </a:solidFill>
                <a:latin typeface="Arial"/>
                <a:ea typeface="Arial"/>
                <a:cs typeface="Arial"/>
              </a:defRPr>
            </a:pPr>
            <a:r>
              <a:rPr sz="1800" b="1" i="0">
                <a:solidFill>
                  <a:srgbClr val="2CC7DF"/>
                </a:solidFill>
                <a:latin typeface="Arial"/>
                <a:ea typeface="Arial"/>
                <a:cs typeface="Arial"/>
              </a:rPr>
              <a:t>Did flight state help?</a:t>
            </a:r>
          </a:p>
        </p:txBody>
      </p:sp>
      <p:sp>
        <p:nvSpPr>
          <p:cNvPr id="9" name="">
            <a:extLst xmlns:a="http://schemas.openxmlformats.org/drawingml/2006/main">
              <a:ext uri="{FF2B5EF4-FFF2-40B4-BE49-F238E27FC236}">
                <a16:creationId xmlns:a16="http://schemas.microsoft.com/office/drawing/2014/main" id="{B56884C0-D358-457B-B734-27D0BDA08713}"/>
              </a:ext>
            </a:extLst>
          </p:cNvPr>
          <p:cNvSpPr>
            <a:spLocks xmlns:a="http://schemas.openxmlformats.org/drawingml/2006/main" noGrp="1"/>
          </p:cNvSpPr>
          <p:nvPr/>
        </p:nvSpPr>
        <p:spPr>
          <a:xfrm xmlns:a="http://schemas.openxmlformats.org/drawingml/2006/main">
            <a:off x="714375" y="3667125"/>
            <a:ext cx="4762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00" b="0" i="0">
                <a:solidFill>
                  <a:srgbClr val="F7FAFC"/>
                </a:solidFill>
                <a:latin typeface="Arial"/>
                <a:ea typeface="Arial"/>
                <a:cs typeface="Arial"/>
              </a:defRPr>
            </a:pPr>
            <a:r>
              <a:rPr sz="1500" b="0" i="0">
                <a:solidFill>
                  <a:srgbClr val="F7FAFC"/>
                </a:solidFill>
                <a:latin typeface="Arial"/>
                <a:ea typeface="Arial"/>
                <a:cs typeface="Arial"/>
              </a:rPr>
              <a:t>Not reliably. E4 recovered the </a:t>
            </a:r>
            <a:r>
              <a:rPr sz="1500" b="0" i="0">
                <a:solidFill>
                  <a:srgbClr val="F7FAFC"/>
                </a:solidFill>
                <a:latin typeface="Arial"/>
                <a:ea typeface="Arial"/>
                <a:cs typeface="Arial"/>
              </a:rPr>
              <a:t>E2</a:t>
            </a:r>
            <a:r>
              <a:rPr sz="1500" b="0" i="0">
                <a:solidFill>
                  <a:srgbClr val="F7FAFC"/>
                </a:solidFill>
                <a:latin typeface="Arial"/>
                <a:ea typeface="Arial"/>
                <a:cs typeface="Arial"/>
              </a:rPr>
              <a:t> baseline but did not beat it. E1 remains selected.</a:t>
            </a:r>
          </a:p>
        </p:txBody>
      </p:sp>
      <p:sp>
        <p:nvSpPr>
          <p:cNvPr id="10" name="">
            <a:extLst xmlns:a="http://schemas.openxmlformats.org/drawingml/2006/main">
              <a:ext uri="{FF2B5EF4-FFF2-40B4-BE49-F238E27FC236}">
                <a16:creationId xmlns:a16="http://schemas.microsoft.com/office/drawing/2014/main" id="{FABED0B7-6757-4584-A6F2-34571E3EC761}"/>
              </a:ext>
            </a:extLst>
          </p:cNvPr>
          <p:cNvSpPr>
            <a:spLocks xmlns:a="http://schemas.openxmlformats.org/drawingml/2006/main" noGrp="1"/>
          </p:cNvSpPr>
          <p:nvPr/>
        </p:nvSpPr>
        <p:spPr>
          <a:xfrm xmlns:a="http://schemas.openxmlformats.org/drawingml/2006/main">
            <a:off x="714375" y="4810125"/>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buNone/>
              <a:defRPr sz="1800" b="1" i="0">
                <a:solidFill>
                  <a:srgbClr val="9B83EE"/>
                </a:solidFill>
                <a:latin typeface="Arial"/>
                <a:ea typeface="Arial"/>
                <a:cs typeface="Arial"/>
              </a:defRPr>
            </a:pPr>
            <a:r>
              <a:rPr sz="1800" b="1" i="0">
                <a:solidFill>
                  <a:srgbClr val="9B83EE"/>
                </a:solidFill>
                <a:latin typeface="Arial"/>
                <a:ea typeface="Arial"/>
                <a:cs typeface="Arial"/>
              </a:rPr>
              <a:t>Why did Review 1 look better for </a:t>
            </a:r>
            <a:r>
              <a:rPr sz="1800" b="1" i="0">
                <a:solidFill>
                  <a:srgbClr val="9B83EE"/>
                </a:solidFill>
                <a:latin typeface="Arial"/>
                <a:ea typeface="Arial"/>
                <a:cs typeface="Arial"/>
              </a:rPr>
              <a:t>E1</a:t>
            </a:r>
            <a:r>
              <a:rPr sz="1800" b="1" i="0">
                <a:solidFill>
                  <a:srgbClr val="9B83EE"/>
                </a:solidFill>
                <a:latin typeface="Arial"/>
                <a:ea typeface="Arial"/>
                <a:cs typeface="Arial"/>
              </a:rPr>
              <a:t>?</a:t>
            </a:r>
          </a:p>
        </p:txBody>
      </p:sp>
      <p:sp>
        <p:nvSpPr>
          <p:cNvPr id="11" name="">
            <a:extLst xmlns:a="http://schemas.openxmlformats.org/drawingml/2006/main">
              <a:ext uri="{FF2B5EF4-FFF2-40B4-BE49-F238E27FC236}">
                <a16:creationId xmlns:a16="http://schemas.microsoft.com/office/drawing/2014/main" id="{C4E6BE5D-C740-403B-864A-E1462B239F20}"/>
              </a:ext>
            </a:extLst>
          </p:cNvPr>
          <p:cNvSpPr>
            <a:spLocks xmlns:a="http://schemas.openxmlformats.org/drawingml/2006/main" noGrp="1"/>
          </p:cNvSpPr>
          <p:nvPr/>
        </p:nvSpPr>
        <p:spPr>
          <a:xfrm xmlns:a="http://schemas.openxmlformats.org/drawingml/2006/main">
            <a:off x="714375" y="5191125"/>
            <a:ext cx="4762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00" b="0" i="0">
                <a:solidFill>
                  <a:srgbClr val="F7FAFC"/>
                </a:solidFill>
                <a:latin typeface="Arial"/>
                <a:ea typeface="Arial"/>
                <a:cs typeface="Arial"/>
              </a:defRPr>
            </a:pPr>
            <a:r>
              <a:rPr sz="1500" b="0" i="0">
                <a:solidFill>
                  <a:srgbClr val="F7FAFC"/>
                </a:solidFill>
                <a:latin typeface="Arial"/>
                <a:ea typeface="Arial"/>
                <a:cs typeface="Arial"/>
              </a:rPr>
              <a:t>Review 1 used a shorter pilot. Full-pass Review 2 evidence exposed visual-weight drift that the early run could not reveal.</a:t>
            </a:r>
          </a:p>
        </p:txBody>
      </p:sp>
      <p:sp>
        <p:nvSpPr>
          <p:cNvPr id="12" name="">
            <a:extLst xmlns:a="http://schemas.openxmlformats.org/drawingml/2006/main">
              <a:ext uri="{FF2B5EF4-FFF2-40B4-BE49-F238E27FC236}">
                <a16:creationId xmlns:a16="http://schemas.microsoft.com/office/drawing/2014/main" id="{66C5D4F9-43B6-4AE0-B64C-27A9BEABAF91}"/>
              </a:ext>
            </a:extLst>
          </p:cNvPr>
          <p:cNvSpPr>
            <a:spLocks xmlns:a="http://schemas.openxmlformats.org/drawingml/2006/main" noGrp="1"/>
          </p:cNvSpPr>
          <p:nvPr/>
        </p:nvSpPr>
        <p:spPr>
          <a:xfrm xmlns:a="http://schemas.openxmlformats.org/drawingml/2006/main">
            <a:off x="5905500" y="1619250"/>
            <a:ext cx="19050" cy="4333875"/>
          </a:xfrm>
          <a:prstGeom xmlns:a="http://schemas.openxmlformats.org/drawingml/2006/main" prst="rect">
            <a:avLst/>
          </a:prstGeom>
          <a:solidFill xmlns:a="http://schemas.openxmlformats.org/drawingml/2006/main">
            <a:srgbClr val="26415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D2AD1B7-1567-432A-8967-E6B41E1DDCAD}"/>
              </a:ext>
            </a:extLst>
          </p:cNvPr>
          <p:cNvSpPr>
            <a:spLocks xmlns:a="http://schemas.openxmlformats.org/drawingml/2006/main" noGrp="1"/>
          </p:cNvSpPr>
          <p:nvPr/>
        </p:nvSpPr>
        <p:spPr>
          <a:xfrm xmlns:a="http://schemas.openxmlformats.org/drawingml/2006/main">
            <a:off x="6429375" y="1619250"/>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buNone/>
              <a:defRPr sz="1800" b="1" i="0">
                <a:solidFill>
                  <a:srgbClr val="F6A20A"/>
                </a:solidFill>
                <a:latin typeface="Arial"/>
                <a:ea typeface="Arial"/>
                <a:cs typeface="Arial"/>
              </a:defRPr>
            </a:pPr>
            <a:r>
              <a:rPr sz="1800" b="1" i="0">
                <a:solidFill>
                  <a:srgbClr val="F6A20A"/>
                </a:solidFill>
                <a:latin typeface="Arial"/>
                <a:ea typeface="Arial"/>
                <a:cs typeface="Arial"/>
              </a:rPr>
              <a:t>Did you use the final test?</a:t>
            </a:r>
          </a:p>
        </p:txBody>
      </p:sp>
      <p:sp>
        <p:nvSpPr>
          <p:cNvPr id="14" name="">
            <a:extLst xmlns:a="http://schemas.openxmlformats.org/drawingml/2006/main">
              <a:ext uri="{FF2B5EF4-FFF2-40B4-BE49-F238E27FC236}">
                <a16:creationId xmlns:a16="http://schemas.microsoft.com/office/drawing/2014/main" id="{272D05B0-8A1B-4CE1-AD67-F0360ED7B393}"/>
              </a:ext>
            </a:extLst>
          </p:cNvPr>
          <p:cNvSpPr>
            <a:spLocks xmlns:a="http://schemas.openxmlformats.org/drawingml/2006/main" noGrp="1"/>
          </p:cNvSpPr>
          <p:nvPr/>
        </p:nvSpPr>
        <p:spPr>
          <a:xfrm xmlns:a="http://schemas.openxmlformats.org/drawingml/2006/main">
            <a:off x="6429375" y="2000250"/>
            <a:ext cx="4762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00" b="0" i="0">
                <a:solidFill>
                  <a:srgbClr val="F7FAFC"/>
                </a:solidFill>
                <a:latin typeface="Arial"/>
                <a:ea typeface="Arial"/>
                <a:cs typeface="Arial"/>
              </a:defRPr>
            </a:pPr>
            <a:r>
              <a:rPr sz="1500" b="0" i="0">
                <a:solidFill>
                  <a:srgbClr val="F7FAFC"/>
                </a:solidFill>
                <a:latin typeface="Arial"/>
                <a:ea typeface="Arial"/>
                <a:cs typeface="Arial"/>
              </a:rPr>
              <a:t>No. All selection used the development flight. The 8,566-frame final test remains sealed.</a:t>
            </a:r>
          </a:p>
        </p:txBody>
      </p:sp>
      <p:sp>
        <p:nvSpPr>
          <p:cNvPr id="15" name="">
            <a:extLst xmlns:a="http://schemas.openxmlformats.org/drawingml/2006/main">
              <a:ext uri="{FF2B5EF4-FFF2-40B4-BE49-F238E27FC236}">
                <a16:creationId xmlns:a16="http://schemas.microsoft.com/office/drawing/2014/main" id="{06055D5D-FD9F-45DE-B829-5AD01DE8C061}"/>
              </a:ext>
            </a:extLst>
          </p:cNvPr>
          <p:cNvSpPr>
            <a:spLocks xmlns:a="http://schemas.openxmlformats.org/drawingml/2006/main" noGrp="1"/>
          </p:cNvSpPr>
          <p:nvPr/>
        </p:nvSpPr>
        <p:spPr>
          <a:xfrm xmlns:a="http://schemas.openxmlformats.org/drawingml/2006/main">
            <a:off x="6429375" y="3286125"/>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buNone/>
              <a:defRPr sz="1800" b="1" i="0">
                <a:solidFill>
                  <a:srgbClr val="2CC7DF"/>
                </a:solidFill>
                <a:latin typeface="Arial"/>
                <a:ea typeface="Arial"/>
                <a:cs typeface="Arial"/>
              </a:defRPr>
            </a:pPr>
            <a:r>
              <a:rPr sz="1800" b="1" i="0">
                <a:solidFill>
                  <a:srgbClr val="2CC7DF"/>
                </a:solidFill>
                <a:latin typeface="Arial"/>
                <a:ea typeface="Arial"/>
                <a:cs typeface="Arial"/>
              </a:rPr>
              <a:t>Is the demo live inference?</a:t>
            </a:r>
          </a:p>
        </p:txBody>
      </p:sp>
      <p:sp>
        <p:nvSpPr>
          <p:cNvPr id="16" name="">
            <a:extLst xmlns:a="http://schemas.openxmlformats.org/drawingml/2006/main">
              <a:ext uri="{FF2B5EF4-FFF2-40B4-BE49-F238E27FC236}">
                <a16:creationId xmlns:a16="http://schemas.microsoft.com/office/drawing/2014/main" id="{35C8E407-A97A-4B21-A4C5-C5D9DAE145FC}"/>
              </a:ext>
            </a:extLst>
          </p:cNvPr>
          <p:cNvSpPr>
            <a:spLocks xmlns:a="http://schemas.openxmlformats.org/drawingml/2006/main" noGrp="1"/>
          </p:cNvSpPr>
          <p:nvPr/>
        </p:nvSpPr>
        <p:spPr>
          <a:xfrm xmlns:a="http://schemas.openxmlformats.org/drawingml/2006/main">
            <a:off x="6429375" y="3667125"/>
            <a:ext cx="4762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00" b="0" i="0">
                <a:solidFill>
                  <a:srgbClr val="F7FAFC"/>
                </a:solidFill>
                <a:latin typeface="Arial"/>
                <a:ea typeface="Arial"/>
                <a:cs typeface="Arial"/>
              </a:defRPr>
            </a:pPr>
            <a:r>
              <a:rPr sz="1500" b="0" i="0">
                <a:solidFill>
                  <a:srgbClr val="F7FAFC"/>
                </a:solidFill>
                <a:latin typeface="Arial"/>
                <a:ea typeface="Arial"/>
                <a:cs typeface="Arial"/>
              </a:rPr>
              <a:t>The judge demo is a cached replay of real AU-AIR frames and stored GPU-computed predictions. The UI labels that provenance clearly.</a:t>
            </a:r>
          </a:p>
        </p:txBody>
      </p:sp>
      <p:sp>
        <p:nvSpPr>
          <p:cNvPr id="17" name="">
            <a:extLst xmlns:a="http://schemas.openxmlformats.org/drawingml/2006/main">
              <a:ext uri="{FF2B5EF4-FFF2-40B4-BE49-F238E27FC236}">
                <a16:creationId xmlns:a16="http://schemas.microsoft.com/office/drawing/2014/main" id="{B7C38246-7A83-4E8B-B585-2DA23D7A36F0}"/>
              </a:ext>
            </a:extLst>
          </p:cNvPr>
          <p:cNvSpPr>
            <a:spLocks xmlns:a="http://schemas.openxmlformats.org/drawingml/2006/main" noGrp="1"/>
          </p:cNvSpPr>
          <p:nvPr/>
        </p:nvSpPr>
        <p:spPr>
          <a:xfrm xmlns:a="http://schemas.openxmlformats.org/drawingml/2006/main">
            <a:off x="6429375" y="4810125"/>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buNone/>
              <a:defRPr sz="1800" b="1" i="0">
                <a:solidFill>
                  <a:srgbClr val="38D39F"/>
                </a:solidFill>
                <a:latin typeface="Arial"/>
                <a:ea typeface="Arial"/>
                <a:cs typeface="Arial"/>
              </a:defRPr>
            </a:pPr>
            <a:r>
              <a:rPr sz="1800" b="1" i="0">
                <a:solidFill>
                  <a:srgbClr val="38D39F"/>
                </a:solidFill>
                <a:latin typeface="Arial"/>
                <a:ea typeface="Arial"/>
                <a:cs typeface="Arial"/>
              </a:rPr>
              <a:t>Is TensorRT complete?</a:t>
            </a:r>
          </a:p>
        </p:txBody>
      </p:sp>
      <p:sp>
        <p:nvSpPr>
          <p:cNvPr id="18" name="">
            <a:extLst xmlns:a="http://schemas.openxmlformats.org/drawingml/2006/main">
              <a:ext uri="{FF2B5EF4-FFF2-40B4-BE49-F238E27FC236}">
                <a16:creationId xmlns:a16="http://schemas.microsoft.com/office/drawing/2014/main" id="{4AFCA186-9C94-4957-9F1B-95F59558FBE1}"/>
              </a:ext>
            </a:extLst>
          </p:cNvPr>
          <p:cNvSpPr>
            <a:spLocks xmlns:a="http://schemas.openxmlformats.org/drawingml/2006/main" noGrp="1"/>
          </p:cNvSpPr>
          <p:nvPr/>
        </p:nvSpPr>
        <p:spPr>
          <a:xfrm xmlns:a="http://schemas.openxmlformats.org/drawingml/2006/main">
            <a:off x="6429375" y="5191125"/>
            <a:ext cx="4762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500" b="0" i="0">
                <a:solidFill>
                  <a:srgbClr val="F7FAFC"/>
                </a:solidFill>
                <a:latin typeface="Arial"/>
                <a:ea typeface="Arial"/>
                <a:cs typeface="Arial"/>
              </a:defRPr>
            </a:pPr>
            <a:r>
              <a:rPr sz="1500" b="0" i="0">
                <a:solidFill>
                  <a:srgbClr val="F7FAFC"/>
                </a:solidFill>
                <a:latin typeface="Arial"/>
                <a:ea typeface="Arial"/>
                <a:cs typeface="Arial"/>
              </a:rPr>
              <a:t>The scripts are complete. The engine will be built and benchmarked only on the target NVIDIA edge device.</a:t>
            </a:r>
          </a:p>
        </p:txBody>
      </p:sp>
    </p:spTree>
    <p:extLst>
      <p:ext uri="{BB962C8B-B14F-4D97-AF65-F5344CB8AC3E}">
        <p14:creationId xmlns:p14="http://schemas.microsoft.com/office/powerpoint/2010/main" val="176612285"/>
      </p:ext>
    </p:extLst>
  </p:cSld>
</p:sld>
</file>

<file path=ppt/slides/slide12.xml><?xml version="1.0" encoding="utf-8"?>
<p:sld xmlns:p="http://schemas.openxmlformats.org/presentationml/2006/main">
  <p:cSld>
    <p:bg>
      <p:bgPr>
        <a:solidFill xmlns:a="http://schemas.openxmlformats.org/drawingml/2006/main">
          <a:srgbClr val="07111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6FC9468-3730-4CF6-B71A-619108B79BCB}"/>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22D3EE"/>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204328-0241-4715-8937-4476F132039B}"/>
              </a:ext>
            </a:extLst>
          </p:cNvPr>
          <p:cNvSpPr>
            <a:spLocks xmlns:a="http://schemas.openxmlformats.org/drawingml/2006/main" noGrp="1"/>
          </p:cNvSpPr>
          <p:nvPr/>
        </p:nvSpPr>
        <p:spPr>
          <a:xfrm xmlns:a="http://schemas.openxmlformats.org/drawingml/2006/main">
            <a:off x="628650" y="3810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F8FAFC"/>
                </a:solidFill>
                <a:latin typeface="Arial"/>
                <a:ea typeface="Arial"/>
                <a:cs typeface="Arial"/>
              </a:defRPr>
            </a:pPr>
            <a:r>
              <a:rPr sz="2400" b="1">
                <a:solidFill>
                  <a:srgbClr val="F8FAFC"/>
                </a:solidFill>
                <a:latin typeface="Arial"/>
                <a:ea typeface="Arial"/>
                <a:cs typeface="Arial"/>
              </a:rPr>
              <a:t>Additional E2 result</a:t>
            </a:r>
          </a:p>
        </p:txBody>
      </p:sp>
      <p:sp>
        <p:nvSpPr>
          <p:cNvPr id="3" name="">
            <a:extLst xmlns:a="http://schemas.openxmlformats.org/drawingml/2006/main">
              <a:ext uri="{FF2B5EF4-FFF2-40B4-BE49-F238E27FC236}">
                <a16:creationId xmlns:a16="http://schemas.microsoft.com/office/drawing/2014/main" id="{C16323C5-DFCE-4AF7-89C8-E0EB3E683BF1}"/>
              </a:ext>
            </a:extLst>
          </p:cNvPr>
          <p:cNvSpPr>
            <a:spLocks xmlns:a="http://schemas.openxmlformats.org/drawingml/2006/main" noGrp="1"/>
          </p:cNvSpPr>
          <p:nvPr/>
        </p:nvSpPr>
        <p:spPr>
          <a:xfrm xmlns:a="http://schemas.openxmlformats.org/drawingml/2006/main">
            <a:off x="647700" y="100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a:solidFill>
                  <a:srgbClr val="A8B6C8"/>
                </a:solidFill>
                <a:latin typeface="Arial"/>
                <a:ea typeface="Arial"/>
                <a:cs typeface="Arial"/>
              </a:defRPr>
            </a:pPr>
            <a:r>
              <a:rPr sz="1500">
                <a:solidFill>
                  <a:srgbClr val="A8B6C8"/>
                </a:solidFill>
                <a:latin typeface="Arial"/>
                <a:ea typeface="Arial"/>
                <a:cs typeface="Arial"/>
              </a:rPr>
              <a:t>Google ImageNet backbone metrics</a:t>
            </a:r>
          </a:p>
        </p:txBody>
      </p:sp>
      <p:sp>
        <p:nvSpPr>
          <p:cNvPr id="4" name="">
            <a:extLst xmlns:a="http://schemas.openxmlformats.org/drawingml/2006/main">
              <a:ext uri="{FF2B5EF4-FFF2-40B4-BE49-F238E27FC236}">
                <a16:creationId xmlns:a16="http://schemas.microsoft.com/office/drawing/2014/main" id="{67E27FA8-5F3B-401A-809F-D2C5F48B9B5A}"/>
              </a:ext>
            </a:extLst>
          </p:cNvPr>
          <p:cNvSpPr>
            <a:spLocks xmlns:a="http://schemas.openxmlformats.org/drawingml/2006/main" noGrp="1"/>
          </p:cNvSpPr>
          <p:nvPr/>
        </p:nvSpPr>
        <p:spPr>
          <a:xfrm xmlns:a="http://schemas.openxmlformats.org/drawingml/2006/main">
            <a:off x="628650" y="647700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a:solidFill>
                  <a:srgbClr val="A8B6C8"/>
                </a:solidFill>
                <a:latin typeface="Arial"/>
                <a:ea typeface="Arial"/>
                <a:cs typeface="Arial"/>
              </a:defRPr>
            </a:pPr>
            <a:r>
              <a:rPr sz="900">
                <a:solidFill>
                  <a:srgbClr val="A8B6C8"/>
                </a:solidFill>
                <a:latin typeface="Arial"/>
                <a:ea typeface="Arial"/>
                <a:cs typeface="Arial"/>
              </a:rPr>
              <a:t>Separate user-provided result · not merged into the committed full-pass evidence</a:t>
            </a:r>
          </a:p>
        </p:txBody>
      </p:sp>
      <p:sp>
        <p:nvSpPr>
          <p:cNvPr id="5" name="">
            <a:extLst xmlns:a="http://schemas.openxmlformats.org/drawingml/2006/main">
              <a:ext uri="{FF2B5EF4-FFF2-40B4-BE49-F238E27FC236}">
                <a16:creationId xmlns:a16="http://schemas.microsoft.com/office/drawing/2014/main" id="{3C274026-F3D9-4942-B899-49E8405638A9}"/>
              </a:ext>
            </a:extLst>
          </p:cNvPr>
          <p:cNvSpPr>
            <a:spLocks xmlns:a="http://schemas.openxmlformats.org/drawingml/2006/main" noGrp="1"/>
          </p:cNvSpPr>
          <p:nvPr/>
        </p:nvSpPr>
        <p:spPr>
          <a:xfrm xmlns:a="http://schemas.openxmlformats.org/drawingml/2006/main">
            <a:off x="11144250" y="64770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a:solidFill>
                  <a:srgbClr val="A8B6C8"/>
                </a:solidFill>
                <a:latin typeface="Arial"/>
                <a:ea typeface="Arial"/>
                <a:cs typeface="Arial"/>
              </a:defRPr>
            </a:pPr>
            <a:r>
              <a:rPr sz="900">
                <a:solidFill>
                  <a:srgbClr val="A8B6C8"/>
                </a:solidFill>
                <a:latin typeface="Arial"/>
                <a:ea typeface="Arial"/>
                <a:cs typeface="Arial"/>
              </a:rPr>
              <a:t>12</a:t>
            </a:r>
          </a:p>
        </p:txBody>
      </p:sp>
      <p:graphicFrame>
        <p:nvGraphicFramePr>
          <p:cNvPr id="12" name="Chart"/>
          <p:cNvGraphicFramePr/>
          <p:nvPr/>
        </p:nvGraphicFramePr>
        <p:xfrm>
          <a:off xmlns:a="http://schemas.openxmlformats.org/drawingml/2006/main" x="1000125" y="1809750"/>
          <a:ext xmlns:a="http://schemas.openxmlformats.org/drawingml/2006/main" cx="10191750" cy="3762375"/>
        </p:xfrm>
        <a:graphic xmlns:a="http://schemas.openxmlformats.org/drawingml/2006/main">
          <a:graphicData uri="http://schemas.openxmlformats.org/drawingml/2006/chart">
            <c:chart xmlns:r="http://schemas.openxmlformats.org/officeDocument/2006/relationships" xmlns:c="http://schemas.openxmlformats.org/drawingml/2006/chart" r:id="R1ad355476b524038"/>
          </a:graphicData>
        </a:graphic>
      </p:graphicFrame>
    </p:spTree>
    <p:extLst>
      <p:ext uri="{BB962C8B-B14F-4D97-AF65-F5344CB8AC3E}">
        <p14:creationId xmlns:p14="http://schemas.microsoft.com/office/powerpoint/2010/main" val="3800008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2026-09-18T20:48:33.8770000Z</dcterms:created>
  <dcterms:modified xsi:type="dcterms:W3CDTF">2026-09-18T20:48:33.8770000Z</dcterms:modified>
</coreProperties>
</file>
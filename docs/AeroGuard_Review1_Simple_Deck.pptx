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83f5724f0b402c" /><Relationship Type="http://schemas.openxmlformats.org/officeDocument/2006/relationships/extended-properties" Target="/docProps/app.xml" Id="Rabc6680789fe4459" /><Relationship Type="http://schemas.openxmlformats.org/officeDocument/2006/relationships/officeDocument" Target="/ppt/presentation.xml" Id="R68a9dd6b86614862" /></Relationships>
</file>

<file path=ppt/presentation.xml><?xml version="1.0" encoding="utf-8"?>
<p:presentation xmlns:p="http://schemas.openxmlformats.org/presentationml/2006/main">
  <p:sldMasterIdLst>
    <p:sldMasterId xmlns:r="http://schemas.openxmlformats.org/officeDocument/2006/relationships" id="2147483648" r:id="R4b54d5ce8c794718"/>
  </p:sldMasterIdLst>
  <p:notesMasterIdLst>
    <p:notesMasterId xmlns:r="http://schemas.openxmlformats.org/officeDocument/2006/relationships" r:id="R15a98743dd944b73"/>
  </p:notesMasterIdLst>
  <p:sldIdLst>
    <p:sldId xmlns:r="http://schemas.openxmlformats.org/officeDocument/2006/relationships" id="256" r:id="R039174f5cc3b4adf"/>
    <p:sldId xmlns:r="http://schemas.openxmlformats.org/officeDocument/2006/relationships" id="257" r:id="R9bd48ca6e47b4b10"/>
    <p:sldId xmlns:r="http://schemas.openxmlformats.org/officeDocument/2006/relationships" id="258" r:id="R22d09a7df2cd4f01"/>
    <p:sldId xmlns:r="http://schemas.openxmlformats.org/officeDocument/2006/relationships" id="259" r:id="R4f0262a6f22c4b0f"/>
    <p:sldId xmlns:r="http://schemas.openxmlformats.org/officeDocument/2006/relationships" id="260" r:id="R8096ba6d86c846ab"/>
    <p:sldId xmlns:r="http://schemas.openxmlformats.org/officeDocument/2006/relationships" id="261" r:id="R342f196cb3374b6d"/>
    <p:sldId xmlns:r="http://schemas.openxmlformats.org/officeDocument/2006/relationships" id="262" r:id="R9f2c89cec12a43c0"/>
    <p:sldId xmlns:r="http://schemas.openxmlformats.org/officeDocument/2006/relationships" id="263" r:id="Ra4950aaf13474ca3"/>
    <p:sldId xmlns:r="http://schemas.openxmlformats.org/officeDocument/2006/relationships" id="264" r:id="R67598579175c40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ffbe13cd3842c9" /><Relationship Type="http://schemas.openxmlformats.org/officeDocument/2006/relationships/slideMaster" Target="/ppt/slideMasters/slideMaster1.xml" Id="R4b54d5ce8c794718" /><Relationship Type="http://schemas.openxmlformats.org/officeDocument/2006/relationships/notesMaster" Target="/ppt/notesMasters/notesMaster1.xml" Id="R15a98743dd944b73" /><Relationship Type="http://schemas.openxmlformats.org/officeDocument/2006/relationships/presProps" Target="/ppt/presProps.xml" Id="R3e5a4aa2d86c47f8" /><Relationship Type="http://schemas.openxmlformats.org/officeDocument/2006/relationships/tableStyles" Target="/ppt/tableStyles.xml" Id="R285cb40a151b437e" /><Relationship Type="http://schemas.openxmlformats.org/officeDocument/2006/relationships/slide" Target="/ppt/slides/slide1.xml" Id="R039174f5cc3b4adf" /><Relationship Type="http://schemas.openxmlformats.org/officeDocument/2006/relationships/slide" Target="/ppt/slides/slide2.xml" Id="R9bd48ca6e47b4b10" /><Relationship Type="http://schemas.openxmlformats.org/officeDocument/2006/relationships/slide" Target="/ppt/slides/slide3.xml" Id="R22d09a7df2cd4f01" /><Relationship Type="http://schemas.openxmlformats.org/officeDocument/2006/relationships/slide" Target="/ppt/slides/slide4.xml" Id="R4f0262a6f22c4b0f" /><Relationship Type="http://schemas.openxmlformats.org/officeDocument/2006/relationships/slide" Target="/ppt/slides/slide5.xml" Id="R8096ba6d86c846ab" /><Relationship Type="http://schemas.openxmlformats.org/officeDocument/2006/relationships/slide" Target="/ppt/slides/slide6.xml" Id="R342f196cb3374b6d" /><Relationship Type="http://schemas.openxmlformats.org/officeDocument/2006/relationships/slide" Target="/ppt/slides/slide7.xml" Id="R9f2c89cec12a43c0" /><Relationship Type="http://schemas.openxmlformats.org/officeDocument/2006/relationships/slide" Target="/ppt/slides/slide8.xml" Id="Ra4950aaf13474ca3" /><Relationship Type="http://schemas.openxmlformats.org/officeDocument/2006/relationships/slide" Target="/ppt/slides/slide9.xml" Id="R67598579175c40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65655ae7234e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085e56cf234cad" /><Relationship Type="http://schemas.openxmlformats.org/officeDocument/2006/relationships/notesMaster" Target="/ppt/notesMasters/notesMaster1.xml" Id="R47e23441585842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3e5baeb57c4644" /><Relationship Type="http://schemas.openxmlformats.org/officeDocument/2006/relationships/notesMaster" Target="/ppt/notesMasters/notesMaster1.xml" Id="R0ef05c41d0f142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022f091ab44940" /><Relationship Type="http://schemas.openxmlformats.org/officeDocument/2006/relationships/notesMaster" Target="/ppt/notesMasters/notesMaster1.xml" Id="R62d71056ccf14c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fda1c65aa84706" /><Relationship Type="http://schemas.openxmlformats.org/officeDocument/2006/relationships/notesMaster" Target="/ppt/notesMasters/notesMaster1.xml" Id="R97a695387c1e4f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d0ec70768847e9" /><Relationship Type="http://schemas.openxmlformats.org/officeDocument/2006/relationships/notesMaster" Target="/ppt/notesMasters/notesMaster1.xml" Id="R3c33511dc51b4b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cc6345e8fd44a3" /><Relationship Type="http://schemas.openxmlformats.org/officeDocument/2006/relationships/notesMaster" Target="/ppt/notesMasters/notesMaster1.xml" Id="R0ad2f67d328a42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02bb2cb5f04e0d" /><Relationship Type="http://schemas.openxmlformats.org/officeDocument/2006/relationships/notesMaster" Target="/ppt/notesMasters/notesMaster1.xml" Id="Re0db2f4d00074b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b522a9029e486d" /><Relationship Type="http://schemas.openxmlformats.org/officeDocument/2006/relationships/notesMaster" Target="/ppt/notesMasters/notesMaster1.xml" Id="R8cab1120d56c4e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acd64899574641" /><Relationship Type="http://schemas.openxmlformats.org/officeDocument/2006/relationships/notesMaster" Target="/ppt/notesMasters/notesMaster1.xml" Id="R49751c4ba7df4d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AeroGuard tests one simple question—does paired flight state help the same aerial detector? This is a Review 1 setup and architecture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README and docs/REVIEW1_OVERVIEW.md. Explain that AeroGuard is for supervised offline review, not autonomous flight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docs/DATA_CARD.md; manifests/build_summary.json; manifests/protocol.json; AU-AIR paper https://arxiv.org/abs/2001.11737. Project validation found 32,823 frames, 131,977 valid boxes after rejecting 54 invalid boxes, and the split 18,523 / 5,734 / 8,566.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AU-AIR sample image source: https://raw.githubusercontent.com/bozcani/bozcani.github.io/master/assets/images/intro.png ; dataset page: https://github.com/bozcani/bozcani.github.io/blob/master/auairdataset.html. The red/blue boxes and metadata are part of the official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configs and docs/MODEL_CARD.md. E2 uses exactly eight flight values: altitude, velocity x/y/z, roll, pitch, sin(yaw), cos(yaw). GPS, timestamp, filename and platform identity are excluded from the model input to reduce shortcut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source: docs/REVIEW1_ARCHITECTURE.md and the implemented TorchVision FCOS adapter. Both paths share an ImageNet-initialized ResNet-50 FPN and FCOS head. E1 bypasses FiLM. E2 encodes eight flight values with an 8→64→64 MLP and applies gated FiLM at five FPN levels. Missing or invalid state sets the gate to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docs/REVIEW1_SUBMISSION.md and frozen development evaluation reports. ImageNet E1: AP50 0.0120, recall 0.3333, 5,624 / 16,873 objects. ImageNet E2: AP50 0.0692, recall 0.4932, 8,322 / 16,873 objects. These are non-final development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configs/development_training.yaml, manifests/protocol.json and committed training reports. The configuration records 5,000 optimizer updates per arm with batch size 1. There are 18,523 available training frames and 32,823 total frames. We will scale training length and data coverage after Review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docs/REVIEW1_OVERVIEW.md and docs/REVIEW1_SUBMISSION.md. Do not claim a production database or autonomous flight control. Current evidence storage is local JSON/JSONL plus checkpoints.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195762aadc41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9b5a45f64a4473" /><Relationship Type="http://schemas.openxmlformats.org/officeDocument/2006/relationships/slideLayout" Target="/ppt/slideLayouts/slideLayout1.xml" Id="R966f096ed9ef46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6f096ed9ef46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10c478e6db4a97" /><Relationship Type="http://schemas.openxmlformats.org/officeDocument/2006/relationships/notesSlide" Target="/ppt/notesSlides/notesSlide1.xml" Id="R5c89ac3a79b744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e313c70b36479b" /><Relationship Type="http://schemas.openxmlformats.org/officeDocument/2006/relationships/notesSlide" Target="/ppt/notesSlides/notesSlide2.xml" Id="R89361187c59142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9ae71c6385c4ba0" /><Relationship Type="http://schemas.openxmlformats.org/officeDocument/2006/relationships/notesSlide" Target="/ppt/notesSlides/notesSlide3.xml" Id="R9d4ec6aa986148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05a0fa5575847b9" /><Relationship Type="http://schemas.openxmlformats.org/officeDocument/2006/relationships/image" Target="/ppt/media/image.png" Id="R0d99df4a44104cb8" /><Relationship Type="http://schemas.openxmlformats.org/officeDocument/2006/relationships/notesSlide" Target="/ppt/notesSlides/notesSlide4.xml" Id="R63f0e055a30641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3f7810686148c7" /><Relationship Type="http://schemas.openxmlformats.org/officeDocument/2006/relationships/notesSlide" Target="/ppt/notesSlides/notesSlide5.xml" Id="Rc146dc6c7e804e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0c63a1c78204bd1" /><Relationship Type="http://schemas.openxmlformats.org/officeDocument/2006/relationships/image" Target="/ppt/media/image2.png" Id="R2b56ec3664aa4034" /><Relationship Type="http://schemas.openxmlformats.org/officeDocument/2006/relationships/notesSlide" Target="/ppt/notesSlides/notesSlide6.xml" Id="R101d446458304f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187ebc13dba4c33" /><Relationship Type="http://schemas.openxmlformats.org/officeDocument/2006/relationships/notesSlide" Target="/ppt/notesSlides/notesSlide7.xml" Id="Rd9941dd3519e49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df7f89d5cd44242" /><Relationship Type="http://schemas.openxmlformats.org/officeDocument/2006/relationships/notesSlide" Target="/ppt/notesSlides/notesSlide8.xml" Id="R1a116cb8486b46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3976399376a4e39" /><Relationship Type="http://schemas.openxmlformats.org/officeDocument/2006/relationships/notesSlide" Target="/ppt/notesSlides/notesSlide9.xml" Id="Rfdcac7add9fe45b3" /></Relationships>
</file>

<file path=ppt/slides/slide1.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AAD616C-1152-4E81-8EF9-55C7AB87AC34}"/>
              </a:ext>
            </a:extLst>
          </p:cNvPr>
          <p:cNvSpPr>
            <a:spLocks xmlns:a="http://schemas.openxmlformats.org/drawingml/2006/main" noGrp="1"/>
          </p:cNvSpPr>
          <p:nvPr/>
        </p:nvSpPr>
        <p:spPr>
          <a:xfrm xmlns:a="http://schemas.openxmlformats.org/drawingml/2006/main">
            <a:off x="0" y="0"/>
            <a:ext cx="247650" cy="6858000"/>
          </a:xfrm>
          <a:prstGeom xmlns:a="http://schemas.openxmlformats.org/drawingml/2006/main" prst="rect">
            <a:avLst/>
          </a:prstGeom>
          <a:solidFill xmlns:a="http://schemas.openxmlformats.org/drawingml/2006/main">
            <a:srgbClr val="2CCCE4"/>
          </a:solidFill>
          <a:ln xmlns:a="http://schemas.openxmlformats.org/drawingml/2006/main" w="0">
            <a:solidFill>
              <a:srgbClr val="2CCCE4"/>
            </a:solidFill>
          </a:ln>
        </p:spPr>
      </p:sp>
      <p:sp>
        <p:nvSpPr>
          <p:cNvPr id="2" name="">
            <a:extLst xmlns:a="http://schemas.openxmlformats.org/drawingml/2006/main">
              <a:ext uri="{FF2B5EF4-FFF2-40B4-BE49-F238E27FC236}">
                <a16:creationId xmlns:a16="http://schemas.microsoft.com/office/drawing/2014/main" id="{37650C5C-29E9-4E90-9E24-F9EA5FD39341}"/>
              </a:ext>
            </a:extLst>
          </p:cNvPr>
          <p:cNvSpPr>
            <a:spLocks xmlns:a="http://schemas.openxmlformats.org/drawingml/2006/main" noGrp="1"/>
          </p:cNvSpPr>
          <p:nvPr/>
        </p:nvSpPr>
        <p:spPr>
          <a:xfrm xmlns:a="http://schemas.openxmlformats.org/drawingml/2006/main">
            <a:off x="247650" y="0"/>
            <a:ext cx="66675" cy="6858000"/>
          </a:xfrm>
          <a:prstGeom xmlns:a="http://schemas.openxmlformats.org/drawingml/2006/main" prst="rect">
            <a:avLst/>
          </a:prstGeom>
          <a:solidFill xmlns:a="http://schemas.openxmlformats.org/drawingml/2006/main">
            <a:srgbClr val="FFB84D"/>
          </a:solidFill>
          <a:ln xmlns:a="http://schemas.openxmlformats.org/drawingml/2006/main" w="0">
            <a:solidFill>
              <a:srgbClr val="FFB84D"/>
            </a:solidFill>
          </a:ln>
        </p:spPr>
      </p:sp>
      <p:sp>
        <p:nvSpPr>
          <p:cNvPr id="3" name="">
            <a:extLst xmlns:a="http://schemas.openxmlformats.org/drawingml/2006/main">
              <a:ext uri="{FF2B5EF4-FFF2-40B4-BE49-F238E27FC236}">
                <a16:creationId xmlns:a16="http://schemas.microsoft.com/office/drawing/2014/main" id="{572D0247-B7EF-47AF-8028-D27BFC1207D9}"/>
              </a:ext>
            </a:extLst>
          </p:cNvPr>
          <p:cNvSpPr>
            <a:spLocks xmlns:a="http://schemas.openxmlformats.org/drawingml/2006/main" noGrp="1"/>
          </p:cNvSpPr>
          <p:nvPr/>
        </p:nvSpPr>
        <p:spPr>
          <a:xfrm xmlns:a="http://schemas.openxmlformats.org/drawingml/2006/main">
            <a:off x="742950" y="6858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1">
                <a:solidFill>
                  <a:srgbClr val="7BE4F3"/>
                </a:solidFill>
                <a:latin typeface="Arial"/>
                <a:ea typeface="Arial"/>
                <a:cs typeface="Arial"/>
              </a:defRPr>
            </a:pPr>
            <a:r>
              <a:rPr sz="1275" b="1">
                <a:solidFill>
                  <a:srgbClr val="7BE4F3"/>
                </a:solidFill>
                <a:latin typeface="Arial"/>
                <a:ea typeface="Arial"/>
                <a:cs typeface="Arial"/>
              </a:rPr>
              <a:t>REVIEW 1  ·  SETUP &amp; ARCHITECTURE</a:t>
            </a:r>
          </a:p>
        </p:txBody>
      </p:sp>
      <p:sp>
        <p:nvSpPr>
          <p:cNvPr id="4" name="">
            <a:extLst xmlns:a="http://schemas.openxmlformats.org/drawingml/2006/main">
              <a:ext uri="{FF2B5EF4-FFF2-40B4-BE49-F238E27FC236}">
                <a16:creationId xmlns:a16="http://schemas.microsoft.com/office/drawing/2014/main" id="{22C7FE60-C8DE-4690-88DF-6AA4123A9BB3}"/>
              </a:ext>
            </a:extLst>
          </p:cNvPr>
          <p:cNvSpPr>
            <a:spLocks xmlns:a="http://schemas.openxmlformats.org/drawingml/2006/main" noGrp="1"/>
          </p:cNvSpPr>
          <p:nvPr/>
        </p:nvSpPr>
        <p:spPr>
          <a:xfrm xmlns:a="http://schemas.openxmlformats.org/drawingml/2006/main">
            <a:off x="742950" y="1352550"/>
            <a:ext cx="8286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5400" b="1">
                <a:solidFill>
                  <a:srgbClr val="F7FBFF"/>
                </a:solidFill>
                <a:latin typeface="Arial"/>
                <a:ea typeface="Arial"/>
                <a:cs typeface="Arial"/>
              </a:defRPr>
            </a:pPr>
            <a:r>
              <a:rPr sz="5400" b="1">
                <a:solidFill>
                  <a:srgbClr val="F7FBFF"/>
                </a:solidFill>
                <a:latin typeface="Arial"/>
                <a:ea typeface="Arial"/>
                <a:cs typeface="Arial"/>
              </a:rPr>
              <a:t>AeroGuard</a:t>
            </a:r>
          </a:p>
        </p:txBody>
      </p:sp>
      <p:sp>
        <p:nvSpPr>
          <p:cNvPr id="5" name="">
            <a:extLst xmlns:a="http://schemas.openxmlformats.org/drawingml/2006/main">
              <a:ext uri="{FF2B5EF4-FFF2-40B4-BE49-F238E27FC236}">
                <a16:creationId xmlns:a16="http://schemas.microsoft.com/office/drawing/2014/main" id="{6632D9CC-DDAF-4A3D-97A4-7BD3BD099528}"/>
              </a:ext>
            </a:extLst>
          </p:cNvPr>
          <p:cNvSpPr>
            <a:spLocks xmlns:a="http://schemas.openxmlformats.org/drawingml/2006/main" noGrp="1"/>
          </p:cNvSpPr>
          <p:nvPr/>
        </p:nvSpPr>
        <p:spPr>
          <a:xfrm xmlns:a="http://schemas.openxmlformats.org/drawingml/2006/main">
            <a:off x="781050" y="2419350"/>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75" b="0">
                <a:solidFill>
                  <a:srgbClr val="A9B9C8"/>
                </a:solidFill>
                <a:latin typeface="Arial"/>
                <a:ea typeface="Arial"/>
                <a:cs typeface="Arial"/>
              </a:defRPr>
            </a:pPr>
            <a:r>
              <a:rPr sz="2175" b="0">
                <a:solidFill>
                  <a:srgbClr val="A9B9C8"/>
                </a:solidFill>
                <a:latin typeface="Arial"/>
                <a:ea typeface="Arial"/>
                <a:cs typeface="Arial"/>
              </a:rPr>
              <a:t>Flight-aware object detection for aerial road scenes</a:t>
            </a:r>
          </a:p>
        </p:txBody>
      </p:sp>
      <p:sp>
        <p:nvSpPr>
          <p:cNvPr id="6" name="">
            <a:extLst xmlns:a="http://schemas.openxmlformats.org/drawingml/2006/main">
              <a:ext uri="{FF2B5EF4-FFF2-40B4-BE49-F238E27FC236}">
                <a16:creationId xmlns:a16="http://schemas.microsoft.com/office/drawing/2014/main" id="{D15C4A69-FA95-49B5-A9C1-0E132DC1585D}"/>
              </a:ext>
            </a:extLst>
          </p:cNvPr>
          <p:cNvSpPr>
            <a:spLocks xmlns:a="http://schemas.openxmlformats.org/drawingml/2006/main" noGrp="1"/>
          </p:cNvSpPr>
          <p:nvPr/>
        </p:nvSpPr>
        <p:spPr>
          <a:xfrm xmlns:a="http://schemas.openxmlformats.org/drawingml/2006/main">
            <a:off x="781050" y="3276600"/>
            <a:ext cx="5810250" cy="28575"/>
          </a:xfrm>
          <a:prstGeom xmlns:a="http://schemas.openxmlformats.org/drawingml/2006/main" prst="rect">
            <a:avLst/>
          </a:prstGeom>
          <a:solidFill xmlns:a="http://schemas.openxmlformats.org/drawingml/2006/main">
            <a:srgbClr val="23435C"/>
          </a:solidFill>
          <a:ln xmlns:a="http://schemas.openxmlformats.org/drawingml/2006/main" w="0">
            <a:solidFill>
              <a:srgbClr val="23435C"/>
            </a:solidFill>
          </a:ln>
        </p:spPr>
      </p:sp>
      <p:sp>
        <p:nvSpPr>
          <p:cNvPr id="7" name="">
            <a:extLst xmlns:a="http://schemas.openxmlformats.org/drawingml/2006/main">
              <a:ext uri="{FF2B5EF4-FFF2-40B4-BE49-F238E27FC236}">
                <a16:creationId xmlns:a16="http://schemas.microsoft.com/office/drawing/2014/main" id="{F347DB98-89F7-47BF-A0D4-9C65E2F7A1E5}"/>
              </a:ext>
            </a:extLst>
          </p:cNvPr>
          <p:cNvSpPr>
            <a:spLocks xmlns:a="http://schemas.openxmlformats.org/drawingml/2006/main" noGrp="1"/>
          </p:cNvSpPr>
          <p:nvPr/>
        </p:nvSpPr>
        <p:spPr>
          <a:xfrm xmlns:a="http://schemas.openxmlformats.org/drawingml/2006/main">
            <a:off x="781050" y="3619500"/>
            <a:ext cx="8858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325" b="1">
                <a:solidFill>
                  <a:srgbClr val="F7FBFF"/>
                </a:solidFill>
                <a:latin typeface="Arial"/>
                <a:ea typeface="Arial"/>
                <a:cs typeface="Arial"/>
              </a:defRPr>
            </a:pPr>
            <a:r>
              <a:rPr sz="2325" b="1">
                <a:solidFill>
                  <a:srgbClr val="F7FBFF"/>
                </a:solidFill>
                <a:latin typeface="Arial"/>
                <a:ea typeface="Arial"/>
                <a:cs typeface="Arial"/>
              </a:rPr>
              <a:t>Can the drone’s own height, motion and orientation help the detector find more small objects?</a:t>
            </a:r>
          </a:p>
        </p:txBody>
      </p:sp>
      <p:sp>
        <p:nvSpPr>
          <p:cNvPr id="8" name="">
            <a:extLst xmlns:a="http://schemas.openxmlformats.org/drawingml/2006/main">
              <a:ext uri="{FF2B5EF4-FFF2-40B4-BE49-F238E27FC236}">
                <a16:creationId xmlns:a16="http://schemas.microsoft.com/office/drawing/2014/main" id="{E8C24C78-9A10-4969-BE57-A786B948DB13}"/>
              </a:ext>
            </a:extLst>
          </p:cNvPr>
          <p:cNvSpPr>
            <a:spLocks xmlns:a="http://schemas.openxmlformats.org/drawingml/2006/main" noGrp="1"/>
          </p:cNvSpPr>
          <p:nvPr/>
        </p:nvSpPr>
        <p:spPr>
          <a:xfrm xmlns:a="http://schemas.openxmlformats.org/drawingml/2006/main">
            <a:off x="781050" y="5534025"/>
            <a:ext cx="2333625" cy="485775"/>
          </a:xfrm>
          <a:prstGeom xmlns:a="http://schemas.openxmlformats.org/drawingml/2006/main" prst="roundRect">
            <a:avLst>
              <a:gd name="adj" fmla="val 23529"/>
            </a:avLst>
          </a:prstGeom>
          <a:solidFill xmlns:a="http://schemas.openxmlformats.org/drawingml/2006/main">
            <a:srgbClr val="0B2034"/>
          </a:solidFill>
          <a:ln xmlns:a="http://schemas.openxmlformats.org/drawingml/2006/main" w="9525">
            <a:solidFill>
              <a:srgbClr val="23435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lnSpc>
                <a:spcPct val="100000"/>
              </a:lnSpc>
              <a:buNone/>
              <a:defRPr sz="1275" b="1">
                <a:solidFill>
                  <a:srgbClr val="FFB84D"/>
                </a:solidFill>
                <a:latin typeface="Arial"/>
                <a:ea typeface="Arial"/>
                <a:cs typeface="Arial"/>
              </a:defRPr>
            </a:pPr>
            <a:r>
              <a:rPr sz="1275" b="1">
                <a:solidFill>
                  <a:srgbClr val="FFB84D"/>
                </a:solidFill>
                <a:latin typeface="Arial"/>
                <a:ea typeface="Arial"/>
                <a:cs typeface="Arial"/>
              </a:rPr>
              <a:t>TEAM CODE CORTEX</a:t>
            </a:r>
          </a:p>
        </p:txBody>
      </p:sp>
      <p:sp>
        <p:nvSpPr>
          <p:cNvPr id="9" name="">
            <a:extLst xmlns:a="http://schemas.openxmlformats.org/drawingml/2006/main">
              <a:ext uri="{FF2B5EF4-FFF2-40B4-BE49-F238E27FC236}">
                <a16:creationId xmlns:a16="http://schemas.microsoft.com/office/drawing/2014/main" id="{3E7EDCC1-F870-4BC5-B500-BA9ABEEE8D25}"/>
              </a:ext>
            </a:extLst>
          </p:cNvPr>
          <p:cNvSpPr>
            <a:spLocks xmlns:a="http://schemas.openxmlformats.org/drawingml/2006/main" noGrp="1"/>
          </p:cNvSpPr>
          <p:nvPr/>
        </p:nvSpPr>
        <p:spPr>
          <a:xfrm xmlns:a="http://schemas.openxmlformats.org/drawingml/2006/main">
            <a:off x="3371850" y="566737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A9B9C8"/>
                </a:solidFill>
                <a:latin typeface="Arial"/>
                <a:ea typeface="Arial"/>
                <a:cs typeface="Arial"/>
              </a:defRPr>
            </a:pPr>
            <a:r>
              <a:rPr sz="1275" b="0">
                <a:solidFill>
                  <a:srgbClr val="A9B9C8"/>
                </a:solidFill>
                <a:latin typeface="Arial"/>
                <a:ea typeface="Arial"/>
                <a:cs typeface="Arial"/>
              </a:rPr>
              <a:t>AU-AIR dataset  ·  supervised offline review</a:t>
            </a:r>
          </a:p>
        </p:txBody>
      </p:sp>
    </p:spTree>
    <p:extLst>
      <p:ext uri="{BB962C8B-B14F-4D97-AF65-F5344CB8AC3E}">
        <p14:creationId xmlns:p14="http://schemas.microsoft.com/office/powerpoint/2010/main" val="7537343"/>
      </p:ext>
    </p:extLst>
  </p:cSld>
</p:sld>
</file>

<file path=ppt/slides/slide2.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ED570F3-B5EB-4A86-8943-E3E9144E82AF}"/>
              </a:ext>
            </a:extLst>
          </p:cNvPr>
          <p:cNvSpPr>
            <a:spLocks xmlns:a="http://schemas.openxmlformats.org/drawingml/2006/main" noGrp="1"/>
          </p:cNvSpPr>
          <p:nvPr/>
        </p:nvSpPr>
        <p:spPr>
          <a:xfrm xmlns:a="http://schemas.openxmlformats.org/drawingml/2006/main">
            <a:off x="10706100" y="2952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75899D"/>
                </a:solidFill>
                <a:latin typeface="Arial"/>
                <a:ea typeface="Arial"/>
                <a:cs typeface="Arial"/>
              </a:defRPr>
            </a:pPr>
            <a:r>
              <a:rPr sz="1050" b="1">
                <a:solidFill>
                  <a:srgbClr val="75899D"/>
                </a:solidFill>
                <a:latin typeface="Arial"/>
                <a:ea typeface="Arial"/>
                <a:cs typeface="Arial"/>
              </a:rPr>
              <a:t>02 / 09</a:t>
            </a:r>
          </a:p>
        </p:txBody>
      </p:sp>
      <p:sp>
        <p:nvSpPr>
          <p:cNvPr id="2" name="">
            <a:extLst xmlns:a="http://schemas.openxmlformats.org/drawingml/2006/main">
              <a:ext uri="{FF2B5EF4-FFF2-40B4-BE49-F238E27FC236}">
                <a16:creationId xmlns:a16="http://schemas.microsoft.com/office/drawing/2014/main" id="{3B5E27E9-70FD-4B2F-B0A4-C2F1A69E9D2C}"/>
              </a:ext>
            </a:extLst>
          </p:cNvPr>
          <p:cNvSpPr>
            <a:spLocks xmlns:a="http://schemas.openxmlformats.org/drawingml/2006/main" noGrp="1"/>
          </p:cNvSpPr>
          <p:nvPr/>
        </p:nvSpPr>
        <p:spPr>
          <a:xfrm xmlns:a="http://schemas.openxmlformats.org/drawingml/2006/main">
            <a:off x="533400" y="485775"/>
            <a:ext cx="76200" cy="457200"/>
          </a:xfrm>
          <a:prstGeom xmlns:a="http://schemas.openxmlformats.org/drawingml/2006/main" prst="rect">
            <a:avLst/>
          </a:prstGeom>
          <a:solidFill xmlns:a="http://schemas.openxmlformats.org/drawingml/2006/main">
            <a:srgbClr val="2CCCE4"/>
          </a:solidFill>
          <a:ln xmlns:a="http://schemas.openxmlformats.org/drawingml/2006/main" w="0">
            <a:solidFill>
              <a:srgbClr val="2CCCE4"/>
            </a:solidFill>
          </a:ln>
        </p:spPr>
      </p:sp>
      <p:sp>
        <p:nvSpPr>
          <p:cNvPr id="3" name="">
            <a:extLst xmlns:a="http://schemas.openxmlformats.org/drawingml/2006/main">
              <a:ext uri="{FF2B5EF4-FFF2-40B4-BE49-F238E27FC236}">
                <a16:creationId xmlns:a16="http://schemas.microsoft.com/office/drawing/2014/main" id="{EDF54742-1336-45E0-85D9-EDA3B4934851}"/>
              </a:ext>
            </a:extLst>
          </p:cNvPr>
          <p:cNvSpPr>
            <a:spLocks xmlns:a="http://schemas.openxmlformats.org/drawingml/2006/main" noGrp="1"/>
          </p:cNvSpPr>
          <p:nvPr/>
        </p:nvSpPr>
        <p:spPr>
          <a:xfrm xmlns:a="http://schemas.openxmlformats.org/drawingml/2006/main">
            <a:off x="800100" y="41910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850" b="1">
                <a:solidFill>
                  <a:srgbClr val="F7FBFF"/>
                </a:solidFill>
                <a:latin typeface="Arial"/>
                <a:ea typeface="Arial"/>
                <a:cs typeface="Arial"/>
              </a:defRPr>
            </a:pPr>
            <a:r>
              <a:rPr sz="2850" b="1">
                <a:solidFill>
                  <a:srgbClr val="F7FBFF"/>
                </a:solidFill>
                <a:latin typeface="Arial"/>
                <a:ea typeface="Arial"/>
                <a:cs typeface="Arial"/>
              </a:rPr>
              <a:t>The problem</a:t>
            </a:r>
          </a:p>
        </p:txBody>
      </p:sp>
      <p:sp>
        <p:nvSpPr>
          <p:cNvPr id="4" name="">
            <a:extLst xmlns:a="http://schemas.openxmlformats.org/drawingml/2006/main">
              <a:ext uri="{FF2B5EF4-FFF2-40B4-BE49-F238E27FC236}">
                <a16:creationId xmlns:a16="http://schemas.microsoft.com/office/drawing/2014/main" id="{8F462B53-FC88-4272-97C2-2BE5F2B8B3C5}"/>
              </a:ext>
            </a:extLst>
          </p:cNvPr>
          <p:cNvSpPr>
            <a:spLocks xmlns:a="http://schemas.openxmlformats.org/drawingml/2006/main" noGrp="1"/>
          </p:cNvSpPr>
          <p:nvPr/>
        </p:nvSpPr>
        <p:spPr>
          <a:xfrm xmlns:a="http://schemas.openxmlformats.org/drawingml/2006/main">
            <a:off x="800100" y="97155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A9B9C8"/>
                </a:solidFill>
                <a:latin typeface="Arial"/>
                <a:ea typeface="Arial"/>
                <a:cs typeface="Arial"/>
              </a:defRPr>
            </a:pPr>
            <a:r>
              <a:rPr sz="1350" b="0">
                <a:solidFill>
                  <a:srgbClr val="A9B9C8"/>
                </a:solidFill>
                <a:latin typeface="Arial"/>
                <a:ea typeface="Arial"/>
                <a:cs typeface="Arial"/>
              </a:rPr>
              <a:t>Small aerial objects are easy to miss, and the camera view changes as the drone moves.</a:t>
            </a:r>
          </a:p>
        </p:txBody>
      </p:sp>
      <p:sp>
        <p:nvSpPr>
          <p:cNvPr id="5" name="">
            <a:extLst xmlns:a="http://schemas.openxmlformats.org/drawingml/2006/main">
              <a:ext uri="{FF2B5EF4-FFF2-40B4-BE49-F238E27FC236}">
                <a16:creationId xmlns:a16="http://schemas.microsoft.com/office/drawing/2014/main" id="{D8DF3BA4-F8F3-4549-AFAB-1A802735F08A}"/>
              </a:ext>
            </a:extLst>
          </p:cNvPr>
          <p:cNvSpPr>
            <a:spLocks xmlns:a="http://schemas.openxmlformats.org/drawingml/2006/main" noGrp="1"/>
          </p:cNvSpPr>
          <p:nvPr/>
        </p:nvSpPr>
        <p:spPr>
          <a:xfrm xmlns:a="http://schemas.openxmlformats.org/drawingml/2006/main">
            <a:off x="10706100" y="2952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75899D"/>
                </a:solidFill>
                <a:latin typeface="Arial"/>
                <a:ea typeface="Arial"/>
                <a:cs typeface="Arial"/>
              </a:defRPr>
            </a:pPr>
            <a:r>
              <a:rPr sz="1050" b="1">
                <a:solidFill>
                  <a:srgbClr val="75899D"/>
                </a:solidFill>
                <a:latin typeface="Arial"/>
                <a:ea typeface="Arial"/>
                <a:cs typeface="Arial"/>
              </a:rPr>
              <a:t>02 / 09</a:t>
            </a:r>
          </a:p>
        </p:txBody>
      </p:sp>
      <p:sp>
        <p:nvSpPr>
          <p:cNvPr id="6" name="">
            <a:extLst xmlns:a="http://schemas.openxmlformats.org/drawingml/2006/main">
              <a:ext uri="{FF2B5EF4-FFF2-40B4-BE49-F238E27FC236}">
                <a16:creationId xmlns:a16="http://schemas.microsoft.com/office/drawing/2014/main" id="{1723520B-E2FD-4C7B-A42B-0AF11C7E5201}"/>
              </a:ext>
            </a:extLst>
          </p:cNvPr>
          <p:cNvSpPr>
            <a:spLocks xmlns:a="http://schemas.openxmlformats.org/drawingml/2006/main" noGrp="1"/>
          </p:cNvSpPr>
          <p:nvPr/>
        </p:nvSpPr>
        <p:spPr>
          <a:xfrm xmlns:a="http://schemas.openxmlformats.org/drawingml/2006/main">
            <a:off x="723900" y="1724025"/>
            <a:ext cx="5143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1">
                <a:solidFill>
                  <a:srgbClr val="F7FBFF"/>
                </a:solidFill>
                <a:latin typeface="Arial"/>
                <a:ea typeface="Arial"/>
                <a:cs typeface="Arial"/>
              </a:defRPr>
            </a:pPr>
            <a:r>
              <a:rPr sz="2325" b="1">
                <a:solidFill>
                  <a:srgbClr val="F7FBFF"/>
                </a:solidFill>
                <a:latin typeface="Arial"/>
                <a:ea typeface="Arial"/>
                <a:cs typeface="Arial"/>
              </a:rPr>
              <a:t>A detector usually sees only pixels.</a:t>
            </a:r>
          </a:p>
        </p:txBody>
      </p:sp>
      <p:sp>
        <p:nvSpPr>
          <p:cNvPr id="7" name="">
            <a:extLst xmlns:a="http://schemas.openxmlformats.org/drawingml/2006/main">
              <a:ext uri="{FF2B5EF4-FFF2-40B4-BE49-F238E27FC236}">
                <a16:creationId xmlns:a16="http://schemas.microsoft.com/office/drawing/2014/main" id="{14F63B6A-2A75-4EC0-BC0A-22536B352728}"/>
              </a:ext>
            </a:extLst>
          </p:cNvPr>
          <p:cNvSpPr>
            <a:spLocks xmlns:a="http://schemas.openxmlformats.org/drawingml/2006/main" noGrp="1"/>
          </p:cNvSpPr>
          <p:nvPr/>
        </p:nvSpPr>
        <p:spPr>
          <a:xfrm xmlns:a="http://schemas.openxmlformats.org/drawingml/2006/main">
            <a:off x="723900" y="2724150"/>
            <a:ext cx="4953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A9B9C8"/>
                </a:solidFill>
                <a:latin typeface="Arial"/>
                <a:ea typeface="Arial"/>
                <a:cs typeface="Arial"/>
              </a:defRPr>
            </a:pPr>
            <a:r>
              <a:rPr sz="1650" b="0">
                <a:solidFill>
                  <a:srgbClr val="A9B9C8"/>
                </a:solidFill>
                <a:latin typeface="Arial"/>
                <a:ea typeface="Arial"/>
                <a:cs typeface="Arial"/>
              </a:rPr>
              <a:t>From the air, a person or vehicle may occupy only a tiny part of the frame. The same object can look different when height, speed or camera angle changes.</a:t>
            </a:r>
          </a:p>
        </p:txBody>
      </p:sp>
      <p:sp>
        <p:nvSpPr>
          <p:cNvPr id="8" name="">
            <a:extLst xmlns:a="http://schemas.openxmlformats.org/drawingml/2006/main">
              <a:ext uri="{FF2B5EF4-FFF2-40B4-BE49-F238E27FC236}">
                <a16:creationId xmlns:a16="http://schemas.microsoft.com/office/drawing/2014/main" id="{44C8CA90-C79F-4167-B90D-CAA9D9B642DC}"/>
              </a:ext>
            </a:extLst>
          </p:cNvPr>
          <p:cNvSpPr>
            <a:spLocks xmlns:a="http://schemas.openxmlformats.org/drawingml/2006/main" noGrp="1"/>
          </p:cNvSpPr>
          <p:nvPr/>
        </p:nvSpPr>
        <p:spPr>
          <a:xfrm xmlns:a="http://schemas.openxmlformats.org/drawingml/2006/main">
            <a:off x="6238875" y="1695450"/>
            <a:ext cx="5191125" cy="3209925"/>
          </a:xfrm>
          <a:prstGeom xmlns:a="http://schemas.openxmlformats.org/drawingml/2006/main" prst="roundRect">
            <a:avLst>
              <a:gd name="adj" fmla="val 4748"/>
            </a:avLst>
          </a:prstGeom>
          <a:solidFill xmlns:a="http://schemas.openxmlformats.org/drawingml/2006/main">
            <a:srgbClr val="0B2034"/>
          </a:solidFill>
          <a:ln xmlns:a="http://schemas.openxmlformats.org/drawingml/2006/main" w="19050">
            <a:solidFill>
              <a:srgbClr val="23435C"/>
            </a:solidFill>
          </a:ln>
        </p:spPr>
      </p:sp>
      <p:sp>
        <p:nvSpPr>
          <p:cNvPr id="9" name="">
            <a:extLst xmlns:a="http://schemas.openxmlformats.org/drawingml/2006/main">
              <a:ext uri="{FF2B5EF4-FFF2-40B4-BE49-F238E27FC236}">
                <a16:creationId xmlns:a16="http://schemas.microsoft.com/office/drawing/2014/main" id="{A62E5339-45A8-4FAD-B4E3-C429684479E3}"/>
              </a:ext>
            </a:extLst>
          </p:cNvPr>
          <p:cNvSpPr>
            <a:spLocks xmlns:a="http://schemas.openxmlformats.org/drawingml/2006/main" noGrp="1"/>
          </p:cNvSpPr>
          <p:nvPr/>
        </p:nvSpPr>
        <p:spPr>
          <a:xfrm xmlns:a="http://schemas.openxmlformats.org/drawingml/2006/main">
            <a:off x="6638925" y="205740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FFB84D"/>
                </a:solidFill>
                <a:latin typeface="Arial"/>
                <a:ea typeface="Arial"/>
                <a:cs typeface="Arial"/>
              </a:defRPr>
            </a:pPr>
            <a:r>
              <a:rPr sz="2100" b="1">
                <a:solidFill>
                  <a:srgbClr val="FFB84D"/>
                </a:solidFill>
                <a:latin typeface="Arial"/>
                <a:ea typeface="Arial"/>
                <a:cs typeface="Arial"/>
              </a:rPr>
              <a:t>AeroGuard’s idea</a:t>
            </a:r>
          </a:p>
        </p:txBody>
      </p:sp>
      <p:sp>
        <p:nvSpPr>
          <p:cNvPr id="10" name="">
            <a:extLst xmlns:a="http://schemas.openxmlformats.org/drawingml/2006/main">
              <a:ext uri="{FF2B5EF4-FFF2-40B4-BE49-F238E27FC236}">
                <a16:creationId xmlns:a16="http://schemas.microsoft.com/office/drawing/2014/main" id="{9878B8AD-A003-4964-A7A3-68C6F9962338}"/>
              </a:ext>
            </a:extLst>
          </p:cNvPr>
          <p:cNvSpPr>
            <a:spLocks xmlns:a="http://schemas.openxmlformats.org/drawingml/2006/main" noGrp="1"/>
          </p:cNvSpPr>
          <p:nvPr/>
        </p:nvSpPr>
        <p:spPr>
          <a:xfrm xmlns:a="http://schemas.openxmlformats.org/drawingml/2006/main">
            <a:off x="6638925" y="2628900"/>
            <a:ext cx="4191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F7FBFF"/>
                </a:solidFill>
                <a:latin typeface="Arial"/>
                <a:ea typeface="Arial"/>
                <a:cs typeface="Arial"/>
              </a:defRPr>
            </a:pPr>
            <a:r>
              <a:rPr sz="1800" b="1">
                <a:solidFill>
                  <a:srgbClr val="F7FBFF"/>
                </a:solidFill>
                <a:latin typeface="Arial"/>
                <a:ea typeface="Arial"/>
                <a:cs typeface="Arial"/>
              </a:rPr>
              <a:t>Keep the same object detector, then give one version eight flight values that describe how the drone is moving.</a:t>
            </a:r>
          </a:p>
        </p:txBody>
      </p:sp>
      <p:sp>
        <p:nvSpPr>
          <p:cNvPr id="11" name="">
            <a:extLst xmlns:a="http://schemas.openxmlformats.org/drawingml/2006/main">
              <a:ext uri="{FF2B5EF4-FFF2-40B4-BE49-F238E27FC236}">
                <a16:creationId xmlns:a16="http://schemas.microsoft.com/office/drawing/2014/main" id="{8D5ACB8B-8D5C-47EC-B412-D26EBF9D522D}"/>
              </a:ext>
            </a:extLst>
          </p:cNvPr>
          <p:cNvSpPr>
            <a:spLocks xmlns:a="http://schemas.openxmlformats.org/drawingml/2006/main" noGrp="1"/>
          </p:cNvSpPr>
          <p:nvPr/>
        </p:nvSpPr>
        <p:spPr>
          <a:xfrm xmlns:a="http://schemas.openxmlformats.org/drawingml/2006/main">
            <a:off x="6638925" y="3905250"/>
            <a:ext cx="4143375" cy="19050"/>
          </a:xfrm>
          <a:prstGeom xmlns:a="http://schemas.openxmlformats.org/drawingml/2006/main" prst="rect">
            <a:avLst/>
          </a:prstGeom>
          <a:solidFill xmlns:a="http://schemas.openxmlformats.org/drawingml/2006/main">
            <a:srgbClr val="23435C"/>
          </a:solidFill>
          <a:ln xmlns:a="http://schemas.openxmlformats.org/drawingml/2006/main" w="0">
            <a:solidFill>
              <a:srgbClr val="23435C"/>
            </a:solidFill>
          </a:ln>
        </p:spPr>
      </p:sp>
      <p:sp>
        <p:nvSpPr>
          <p:cNvPr id="12" name="">
            <a:extLst xmlns:a="http://schemas.openxmlformats.org/drawingml/2006/main">
              <a:ext uri="{FF2B5EF4-FFF2-40B4-BE49-F238E27FC236}">
                <a16:creationId xmlns:a16="http://schemas.microsoft.com/office/drawing/2014/main" id="{EABDE6E7-AC2F-4E7E-9994-6822EC2CD529}"/>
              </a:ext>
            </a:extLst>
          </p:cNvPr>
          <p:cNvSpPr>
            <a:spLocks xmlns:a="http://schemas.openxmlformats.org/drawingml/2006/main" noGrp="1"/>
          </p:cNvSpPr>
          <p:nvPr/>
        </p:nvSpPr>
        <p:spPr>
          <a:xfrm xmlns:a="http://schemas.openxmlformats.org/drawingml/2006/main">
            <a:off x="6638925" y="4162425"/>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A9B9C8"/>
                </a:solidFill>
                <a:latin typeface="Arial"/>
                <a:ea typeface="Arial"/>
                <a:cs typeface="Arial"/>
              </a:defRPr>
            </a:pPr>
            <a:r>
              <a:rPr sz="1500" b="1">
                <a:solidFill>
                  <a:srgbClr val="A9B9C8"/>
                </a:solidFill>
                <a:latin typeface="Arial"/>
                <a:ea typeface="Arial"/>
                <a:cs typeface="Arial"/>
              </a:rPr>
              <a:t>E1  image only</a:t>
            </a:r>
          </a:p>
        </p:txBody>
      </p:sp>
      <p:sp>
        <p:nvSpPr>
          <p:cNvPr id="13" name="">
            <a:extLst xmlns:a="http://schemas.openxmlformats.org/drawingml/2006/main">
              <a:ext uri="{FF2B5EF4-FFF2-40B4-BE49-F238E27FC236}">
                <a16:creationId xmlns:a16="http://schemas.microsoft.com/office/drawing/2014/main" id="{BFEE3305-8AFA-4CEC-BB44-4F553584CD03}"/>
              </a:ext>
            </a:extLst>
          </p:cNvPr>
          <p:cNvSpPr>
            <a:spLocks xmlns:a="http://schemas.openxmlformats.org/drawingml/2006/main" noGrp="1"/>
          </p:cNvSpPr>
          <p:nvPr/>
        </p:nvSpPr>
        <p:spPr>
          <a:xfrm xmlns:a="http://schemas.openxmlformats.org/drawingml/2006/main">
            <a:off x="8743950" y="416242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7BE4F3"/>
                </a:solidFill>
                <a:latin typeface="Arial"/>
                <a:ea typeface="Arial"/>
                <a:cs typeface="Arial"/>
              </a:defRPr>
            </a:pPr>
            <a:r>
              <a:rPr sz="1500" b="1">
                <a:solidFill>
                  <a:srgbClr val="7BE4F3"/>
                </a:solidFill>
                <a:latin typeface="Arial"/>
                <a:ea typeface="Arial"/>
                <a:cs typeface="Arial"/>
              </a:rPr>
              <a:t>E2  image + flight state</a:t>
            </a:r>
          </a:p>
        </p:txBody>
      </p:sp>
      <p:sp>
        <p:nvSpPr>
          <p:cNvPr id="14" name="">
            <a:extLst xmlns:a="http://schemas.openxmlformats.org/drawingml/2006/main">
              <a:ext uri="{FF2B5EF4-FFF2-40B4-BE49-F238E27FC236}">
                <a16:creationId xmlns:a16="http://schemas.microsoft.com/office/drawing/2014/main" id="{8A62F59D-F0F4-47C3-B040-284F0D36D86D}"/>
              </a:ext>
            </a:extLst>
          </p:cNvPr>
          <p:cNvSpPr>
            <a:spLocks xmlns:a="http://schemas.openxmlformats.org/drawingml/2006/main" noGrp="1"/>
          </p:cNvSpPr>
          <p:nvPr/>
        </p:nvSpPr>
        <p:spPr>
          <a:xfrm xmlns:a="http://schemas.openxmlformats.org/drawingml/2006/main">
            <a:off x="723900" y="5353050"/>
            <a:ext cx="10706100" cy="781050"/>
          </a:xfrm>
          <a:prstGeom xmlns:a="http://schemas.openxmlformats.org/drawingml/2006/main" prst="roundRect">
            <a:avLst>
              <a:gd name="adj" fmla="val 14634"/>
            </a:avLst>
          </a:prstGeom>
          <a:solidFill xmlns:a="http://schemas.openxmlformats.org/drawingml/2006/main">
            <a:srgbClr val="102A43"/>
          </a:solidFill>
          <a:ln xmlns:a="http://schemas.openxmlformats.org/drawingml/2006/main" w="19050">
            <a:solidFill>
              <a:srgbClr val="2CCCE4"/>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lnSpc>
                <a:spcPct val="100000"/>
              </a:lnSpc>
              <a:buNone/>
              <a:defRPr sz="1875" b="1">
                <a:solidFill>
                  <a:srgbClr val="F7FBFF"/>
                </a:solidFill>
                <a:latin typeface="Arial"/>
                <a:ea typeface="Arial"/>
                <a:cs typeface="Arial"/>
              </a:defRPr>
            </a:pPr>
            <a:r>
              <a:rPr sz="1875" b="1">
                <a:solidFill>
                  <a:srgbClr val="F7FBFF"/>
                </a:solidFill>
                <a:latin typeface="Arial"/>
                <a:ea typeface="Arial"/>
                <a:cs typeface="Arial"/>
              </a:rPr>
              <a:t>Goal: a fair comparison where the flight state is the only controlled difference.</a:t>
            </a:r>
          </a:p>
        </p:txBody>
      </p:sp>
    </p:spTree>
    <p:extLst>
      <p:ext uri="{BB962C8B-B14F-4D97-AF65-F5344CB8AC3E}">
        <p14:creationId xmlns:p14="http://schemas.microsoft.com/office/powerpoint/2010/main" val="1316673905"/>
      </p:ext>
    </p:extLst>
  </p:cSld>
</p:sld>
</file>

<file path=ppt/slides/slide3.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BE44835-78DD-4758-B177-CE64F9F1388C}"/>
              </a:ext>
            </a:extLst>
          </p:cNvPr>
          <p:cNvSpPr>
            <a:spLocks xmlns:a="http://schemas.openxmlformats.org/drawingml/2006/main" noGrp="1"/>
          </p:cNvSpPr>
          <p:nvPr/>
        </p:nvSpPr>
        <p:spPr>
          <a:xfrm xmlns:a="http://schemas.openxmlformats.org/drawingml/2006/main">
            <a:off x="10706100" y="2952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75899D"/>
                </a:solidFill>
                <a:latin typeface="Arial"/>
                <a:ea typeface="Arial"/>
                <a:cs typeface="Arial"/>
              </a:defRPr>
            </a:pPr>
            <a:r>
              <a:rPr sz="1050" b="1">
                <a:solidFill>
                  <a:srgbClr val="75899D"/>
                </a:solidFill>
                <a:latin typeface="Arial"/>
                <a:ea typeface="Arial"/>
                <a:cs typeface="Arial"/>
              </a:rPr>
              <a:t>03 / 09</a:t>
            </a:r>
          </a:p>
        </p:txBody>
      </p:sp>
      <p:sp>
        <p:nvSpPr>
          <p:cNvPr id="2" name="">
            <a:extLst xmlns:a="http://schemas.openxmlformats.org/drawingml/2006/main">
              <a:ext uri="{FF2B5EF4-FFF2-40B4-BE49-F238E27FC236}">
                <a16:creationId xmlns:a16="http://schemas.microsoft.com/office/drawing/2014/main" id="{E5B0E0BA-4707-40D9-824C-E648789BBE6E}"/>
              </a:ext>
            </a:extLst>
          </p:cNvPr>
          <p:cNvSpPr>
            <a:spLocks xmlns:a="http://schemas.openxmlformats.org/drawingml/2006/main" noGrp="1"/>
          </p:cNvSpPr>
          <p:nvPr/>
        </p:nvSpPr>
        <p:spPr>
          <a:xfrm xmlns:a="http://schemas.openxmlformats.org/drawingml/2006/main">
            <a:off x="533400" y="485775"/>
            <a:ext cx="76200" cy="457200"/>
          </a:xfrm>
          <a:prstGeom xmlns:a="http://schemas.openxmlformats.org/drawingml/2006/main" prst="rect">
            <a:avLst/>
          </a:prstGeom>
          <a:solidFill xmlns:a="http://schemas.openxmlformats.org/drawingml/2006/main">
            <a:srgbClr val="2CCCE4"/>
          </a:solidFill>
          <a:ln xmlns:a="http://schemas.openxmlformats.org/drawingml/2006/main" w="0">
            <a:solidFill>
              <a:srgbClr val="2CCCE4"/>
            </a:solidFill>
          </a:ln>
        </p:spPr>
      </p:sp>
      <p:sp>
        <p:nvSpPr>
          <p:cNvPr id="3" name="">
            <a:extLst xmlns:a="http://schemas.openxmlformats.org/drawingml/2006/main">
              <a:ext uri="{FF2B5EF4-FFF2-40B4-BE49-F238E27FC236}">
                <a16:creationId xmlns:a16="http://schemas.microsoft.com/office/drawing/2014/main" id="{82024EA0-961C-4B4A-8499-A1BBDBA6665F}"/>
              </a:ext>
            </a:extLst>
          </p:cNvPr>
          <p:cNvSpPr>
            <a:spLocks xmlns:a="http://schemas.openxmlformats.org/drawingml/2006/main" noGrp="1"/>
          </p:cNvSpPr>
          <p:nvPr/>
        </p:nvSpPr>
        <p:spPr>
          <a:xfrm xmlns:a="http://schemas.openxmlformats.org/drawingml/2006/main">
            <a:off x="800100" y="41910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850" b="1">
                <a:solidFill>
                  <a:srgbClr val="F7FBFF"/>
                </a:solidFill>
                <a:latin typeface="Arial"/>
                <a:ea typeface="Arial"/>
                <a:cs typeface="Arial"/>
              </a:defRPr>
            </a:pPr>
            <a:r>
              <a:rPr sz="2850" b="1">
                <a:solidFill>
                  <a:srgbClr val="F7FBFF"/>
                </a:solidFill>
                <a:latin typeface="Arial"/>
                <a:ea typeface="Arial"/>
                <a:cs typeface="Arial"/>
              </a:rPr>
              <a:t>Dataset: AU-AIR at a glance</a:t>
            </a:r>
          </a:p>
        </p:txBody>
      </p:sp>
      <p:sp>
        <p:nvSpPr>
          <p:cNvPr id="4" name="">
            <a:extLst xmlns:a="http://schemas.openxmlformats.org/drawingml/2006/main">
              <a:ext uri="{FF2B5EF4-FFF2-40B4-BE49-F238E27FC236}">
                <a16:creationId xmlns:a16="http://schemas.microsoft.com/office/drawing/2014/main" id="{23512333-6F3F-4CBC-935B-3F81928EDBDB}"/>
              </a:ext>
            </a:extLst>
          </p:cNvPr>
          <p:cNvSpPr>
            <a:spLocks xmlns:a="http://schemas.openxmlformats.org/drawingml/2006/main" noGrp="1"/>
          </p:cNvSpPr>
          <p:nvPr/>
        </p:nvSpPr>
        <p:spPr>
          <a:xfrm xmlns:a="http://schemas.openxmlformats.org/drawingml/2006/main">
            <a:off x="800100" y="97155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A9B9C8"/>
                </a:solidFill>
                <a:latin typeface="Arial"/>
                <a:ea typeface="Arial"/>
                <a:cs typeface="Arial"/>
              </a:defRPr>
            </a:pPr>
            <a:r>
              <a:rPr sz="1350" b="0">
                <a:solidFill>
                  <a:srgbClr val="A9B9C8"/>
                </a:solidFill>
                <a:latin typeface="Arial"/>
                <a:ea typeface="Arial"/>
                <a:cs typeface="Arial"/>
              </a:rPr>
              <a:t>Each frame pairs a road image with object boxes and flight information.</a:t>
            </a:r>
          </a:p>
        </p:txBody>
      </p:sp>
      <p:sp>
        <p:nvSpPr>
          <p:cNvPr id="5" name="">
            <a:extLst xmlns:a="http://schemas.openxmlformats.org/drawingml/2006/main">
              <a:ext uri="{FF2B5EF4-FFF2-40B4-BE49-F238E27FC236}">
                <a16:creationId xmlns:a16="http://schemas.microsoft.com/office/drawing/2014/main" id="{76DE67D9-6126-4CB4-B36C-180476071A06}"/>
              </a:ext>
            </a:extLst>
          </p:cNvPr>
          <p:cNvSpPr>
            <a:spLocks xmlns:a="http://schemas.openxmlformats.org/drawingml/2006/main" noGrp="1"/>
          </p:cNvSpPr>
          <p:nvPr/>
        </p:nvSpPr>
        <p:spPr>
          <a:xfrm xmlns:a="http://schemas.openxmlformats.org/drawingml/2006/main">
            <a:off x="10706100" y="2952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75899D"/>
                </a:solidFill>
                <a:latin typeface="Arial"/>
                <a:ea typeface="Arial"/>
                <a:cs typeface="Arial"/>
              </a:defRPr>
            </a:pPr>
            <a:r>
              <a:rPr sz="1050" b="1">
                <a:solidFill>
                  <a:srgbClr val="75899D"/>
                </a:solidFill>
                <a:latin typeface="Arial"/>
                <a:ea typeface="Arial"/>
                <a:cs typeface="Arial"/>
              </a:rPr>
              <a:t>03 / 09</a:t>
            </a:r>
          </a:p>
        </p:txBody>
      </p:sp>
      <p:sp>
        <p:nvSpPr>
          <p:cNvPr id="6" name="">
            <a:extLst xmlns:a="http://schemas.openxmlformats.org/drawingml/2006/main">
              <a:ext uri="{FF2B5EF4-FFF2-40B4-BE49-F238E27FC236}">
                <a16:creationId xmlns:a16="http://schemas.microsoft.com/office/drawing/2014/main" id="{E2BD755B-7454-40D7-A297-BBCA98109D85}"/>
              </a:ext>
            </a:extLst>
          </p:cNvPr>
          <p:cNvSpPr>
            <a:spLocks xmlns:a="http://schemas.openxmlformats.org/drawingml/2006/main" noGrp="1"/>
          </p:cNvSpPr>
          <p:nvPr/>
        </p:nvSpPr>
        <p:spPr>
          <a:xfrm xmlns:a="http://schemas.openxmlformats.org/drawingml/2006/main">
            <a:off x="723900" y="165735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00" b="1">
                <a:solidFill>
                  <a:srgbClr val="7BE4F3"/>
                </a:solidFill>
                <a:latin typeface="Arial"/>
                <a:ea typeface="Arial"/>
                <a:cs typeface="Arial"/>
              </a:defRPr>
            </a:pPr>
            <a:r>
              <a:rPr sz="3900" b="1">
                <a:solidFill>
                  <a:srgbClr val="7BE4F3"/>
                </a:solidFill>
                <a:latin typeface="Arial"/>
                <a:ea typeface="Arial"/>
                <a:cs typeface="Arial"/>
              </a:rPr>
              <a:t>32,823</a:t>
            </a:r>
          </a:p>
        </p:txBody>
      </p:sp>
      <p:sp>
        <p:nvSpPr>
          <p:cNvPr id="7" name="">
            <a:extLst xmlns:a="http://schemas.openxmlformats.org/drawingml/2006/main">
              <a:ext uri="{FF2B5EF4-FFF2-40B4-BE49-F238E27FC236}">
                <a16:creationId xmlns:a16="http://schemas.microsoft.com/office/drawing/2014/main" id="{3557703C-2E9B-4D8B-8DE1-4B2DFF1AEB13}"/>
              </a:ext>
            </a:extLst>
          </p:cNvPr>
          <p:cNvSpPr>
            <a:spLocks xmlns:a="http://schemas.openxmlformats.org/drawingml/2006/main" noGrp="1"/>
          </p:cNvSpPr>
          <p:nvPr/>
        </p:nvSpPr>
        <p:spPr>
          <a:xfrm xmlns:a="http://schemas.openxmlformats.org/drawingml/2006/main">
            <a:off x="742950" y="235267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A9B9C8"/>
                </a:solidFill>
                <a:latin typeface="Arial"/>
                <a:ea typeface="Arial"/>
                <a:cs typeface="Arial"/>
              </a:defRPr>
            </a:pPr>
            <a:r>
              <a:rPr sz="1500" b="0">
                <a:solidFill>
                  <a:srgbClr val="A9B9C8"/>
                </a:solidFill>
                <a:latin typeface="Arial"/>
                <a:ea typeface="Arial"/>
                <a:cs typeface="Arial"/>
              </a:rPr>
              <a:t>total RGB frames</a:t>
            </a:r>
          </a:p>
        </p:txBody>
      </p:sp>
      <p:sp>
        <p:nvSpPr>
          <p:cNvPr id="8" name="">
            <a:extLst xmlns:a="http://schemas.openxmlformats.org/drawingml/2006/main">
              <a:ext uri="{FF2B5EF4-FFF2-40B4-BE49-F238E27FC236}">
                <a16:creationId xmlns:a16="http://schemas.microsoft.com/office/drawing/2014/main" id="{9C816E69-51DF-4376-8DC5-39235965FBB2}"/>
              </a:ext>
            </a:extLst>
          </p:cNvPr>
          <p:cNvSpPr>
            <a:spLocks xmlns:a="http://schemas.openxmlformats.org/drawingml/2006/main" noGrp="1"/>
          </p:cNvSpPr>
          <p:nvPr/>
        </p:nvSpPr>
        <p:spPr>
          <a:xfrm xmlns:a="http://schemas.openxmlformats.org/drawingml/2006/main">
            <a:off x="3600450" y="165735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00" b="1">
                <a:solidFill>
                  <a:srgbClr val="FFB84D"/>
                </a:solidFill>
                <a:latin typeface="Arial"/>
                <a:ea typeface="Arial"/>
                <a:cs typeface="Arial"/>
              </a:defRPr>
            </a:pPr>
            <a:r>
              <a:rPr sz="3900" b="1">
                <a:solidFill>
                  <a:srgbClr val="FFB84D"/>
                </a:solidFill>
                <a:latin typeface="Arial"/>
                <a:ea typeface="Arial"/>
                <a:cs typeface="Arial"/>
              </a:rPr>
              <a:t>131,977</a:t>
            </a:r>
          </a:p>
        </p:txBody>
      </p:sp>
      <p:sp>
        <p:nvSpPr>
          <p:cNvPr id="9" name="">
            <a:extLst xmlns:a="http://schemas.openxmlformats.org/drawingml/2006/main">
              <a:ext uri="{FF2B5EF4-FFF2-40B4-BE49-F238E27FC236}">
                <a16:creationId xmlns:a16="http://schemas.microsoft.com/office/drawing/2014/main" id="{9CF7F46D-9F0B-4003-9AB4-F63788180F7F}"/>
              </a:ext>
            </a:extLst>
          </p:cNvPr>
          <p:cNvSpPr>
            <a:spLocks xmlns:a="http://schemas.openxmlformats.org/drawingml/2006/main" noGrp="1"/>
          </p:cNvSpPr>
          <p:nvPr/>
        </p:nvSpPr>
        <p:spPr>
          <a:xfrm xmlns:a="http://schemas.openxmlformats.org/drawingml/2006/main">
            <a:off x="3619500" y="235267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A9B9C8"/>
                </a:solidFill>
                <a:latin typeface="Arial"/>
                <a:ea typeface="Arial"/>
                <a:cs typeface="Arial"/>
              </a:defRPr>
            </a:pPr>
            <a:r>
              <a:rPr sz="1500" b="0">
                <a:solidFill>
                  <a:srgbClr val="A9B9C8"/>
                </a:solidFill>
                <a:latin typeface="Arial"/>
                <a:ea typeface="Arial"/>
                <a:cs typeface="Arial"/>
              </a:rPr>
              <a:t>valid object boxes</a:t>
            </a:r>
          </a:p>
        </p:txBody>
      </p:sp>
      <p:sp>
        <p:nvSpPr>
          <p:cNvPr id="10" name="">
            <a:extLst xmlns:a="http://schemas.openxmlformats.org/drawingml/2006/main">
              <a:ext uri="{FF2B5EF4-FFF2-40B4-BE49-F238E27FC236}">
                <a16:creationId xmlns:a16="http://schemas.microsoft.com/office/drawing/2014/main" id="{F8F78CD6-B873-41B2-92A0-25E1F26A1D8D}"/>
              </a:ext>
            </a:extLst>
          </p:cNvPr>
          <p:cNvSpPr>
            <a:spLocks xmlns:a="http://schemas.openxmlformats.org/drawingml/2006/main" noGrp="1"/>
          </p:cNvSpPr>
          <p:nvPr/>
        </p:nvSpPr>
        <p:spPr>
          <a:xfrm xmlns:a="http://schemas.openxmlformats.org/drawingml/2006/main">
            <a:off x="6772275" y="1657350"/>
            <a:ext cx="914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00" b="1">
                <a:solidFill>
                  <a:srgbClr val="5DE1A7"/>
                </a:solidFill>
                <a:latin typeface="Arial"/>
                <a:ea typeface="Arial"/>
                <a:cs typeface="Arial"/>
              </a:defRPr>
            </a:pPr>
            <a:r>
              <a:rPr sz="3900" b="1">
                <a:solidFill>
                  <a:srgbClr val="5DE1A7"/>
                </a:solidFill>
                <a:latin typeface="Arial"/>
                <a:ea typeface="Arial"/>
                <a:cs typeface="Arial"/>
              </a:rPr>
              <a:t>8</a:t>
            </a:r>
          </a:p>
        </p:txBody>
      </p:sp>
      <p:sp>
        <p:nvSpPr>
          <p:cNvPr id="11" name="">
            <a:extLst xmlns:a="http://schemas.openxmlformats.org/drawingml/2006/main">
              <a:ext uri="{FF2B5EF4-FFF2-40B4-BE49-F238E27FC236}">
                <a16:creationId xmlns:a16="http://schemas.microsoft.com/office/drawing/2014/main" id="{48440C73-2D72-4E73-9500-7593B4F68FC2}"/>
              </a:ext>
            </a:extLst>
          </p:cNvPr>
          <p:cNvSpPr>
            <a:spLocks xmlns:a="http://schemas.openxmlformats.org/drawingml/2006/main" noGrp="1"/>
          </p:cNvSpPr>
          <p:nvPr/>
        </p:nvSpPr>
        <p:spPr>
          <a:xfrm xmlns:a="http://schemas.openxmlformats.org/drawingml/2006/main">
            <a:off x="6791325" y="23526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A9B9C8"/>
                </a:solidFill>
                <a:latin typeface="Arial"/>
                <a:ea typeface="Arial"/>
                <a:cs typeface="Arial"/>
              </a:defRPr>
            </a:pPr>
            <a:r>
              <a:rPr sz="1500" b="0">
                <a:solidFill>
                  <a:srgbClr val="A9B9C8"/>
                </a:solidFill>
                <a:latin typeface="Arial"/>
                <a:ea typeface="Arial"/>
                <a:cs typeface="Arial"/>
              </a:rPr>
              <a:t>object classes</a:t>
            </a:r>
          </a:p>
        </p:txBody>
      </p:sp>
      <p:sp>
        <p:nvSpPr>
          <p:cNvPr id="12" name="">
            <a:extLst xmlns:a="http://schemas.openxmlformats.org/drawingml/2006/main">
              <a:ext uri="{FF2B5EF4-FFF2-40B4-BE49-F238E27FC236}">
                <a16:creationId xmlns:a16="http://schemas.microsoft.com/office/drawing/2014/main" id="{07AA0C47-7458-4EF9-B13C-1AC5805F986B}"/>
              </a:ext>
            </a:extLst>
          </p:cNvPr>
          <p:cNvSpPr>
            <a:spLocks xmlns:a="http://schemas.openxmlformats.org/drawingml/2006/main" noGrp="1"/>
          </p:cNvSpPr>
          <p:nvPr/>
        </p:nvSpPr>
        <p:spPr>
          <a:xfrm xmlns:a="http://schemas.openxmlformats.org/drawingml/2006/main">
            <a:off x="9067800" y="17430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75" b="1">
                <a:solidFill>
                  <a:srgbClr val="F7FBFF"/>
                </a:solidFill>
                <a:latin typeface="Arial"/>
                <a:ea typeface="Arial"/>
                <a:cs typeface="Arial"/>
              </a:defRPr>
            </a:pPr>
            <a:r>
              <a:rPr sz="2775" b="1">
                <a:solidFill>
                  <a:srgbClr val="F7FBFF"/>
                </a:solidFill>
                <a:latin typeface="Arial"/>
                <a:ea typeface="Arial"/>
                <a:cs typeface="Arial"/>
              </a:rPr>
              <a:t>1920 × 1080</a:t>
            </a:r>
          </a:p>
        </p:txBody>
      </p:sp>
      <p:sp>
        <p:nvSpPr>
          <p:cNvPr id="13" name="">
            <a:extLst xmlns:a="http://schemas.openxmlformats.org/drawingml/2006/main">
              <a:ext uri="{FF2B5EF4-FFF2-40B4-BE49-F238E27FC236}">
                <a16:creationId xmlns:a16="http://schemas.microsoft.com/office/drawing/2014/main" id="{5B2EC85D-7242-4A0C-9A7C-E5A521E7A551}"/>
              </a:ext>
            </a:extLst>
          </p:cNvPr>
          <p:cNvSpPr>
            <a:spLocks xmlns:a="http://schemas.openxmlformats.org/drawingml/2006/main" noGrp="1"/>
          </p:cNvSpPr>
          <p:nvPr/>
        </p:nvSpPr>
        <p:spPr>
          <a:xfrm xmlns:a="http://schemas.openxmlformats.org/drawingml/2006/main">
            <a:off x="9086850" y="23526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A9B9C8"/>
                </a:solidFill>
                <a:latin typeface="Arial"/>
                <a:ea typeface="Arial"/>
                <a:cs typeface="Arial"/>
              </a:defRPr>
            </a:pPr>
            <a:r>
              <a:rPr sz="1500" b="0">
                <a:solidFill>
                  <a:srgbClr val="A9B9C8"/>
                </a:solidFill>
                <a:latin typeface="Arial"/>
                <a:ea typeface="Arial"/>
                <a:cs typeface="Arial"/>
              </a:rPr>
              <a:t>image size</a:t>
            </a:r>
          </a:p>
        </p:txBody>
      </p:sp>
      <p:sp>
        <p:nvSpPr>
          <p:cNvPr id="14" name="">
            <a:extLst xmlns:a="http://schemas.openxmlformats.org/drawingml/2006/main">
              <a:ext uri="{FF2B5EF4-FFF2-40B4-BE49-F238E27FC236}">
                <a16:creationId xmlns:a16="http://schemas.microsoft.com/office/drawing/2014/main" id="{55B6DFE6-788D-46BB-9876-E7F7A862D0C3}"/>
              </a:ext>
            </a:extLst>
          </p:cNvPr>
          <p:cNvSpPr>
            <a:spLocks xmlns:a="http://schemas.openxmlformats.org/drawingml/2006/main" noGrp="1"/>
          </p:cNvSpPr>
          <p:nvPr/>
        </p:nvSpPr>
        <p:spPr>
          <a:xfrm xmlns:a="http://schemas.openxmlformats.org/drawingml/2006/main">
            <a:off x="723900" y="31146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F7FBFF"/>
                </a:solidFill>
                <a:latin typeface="Arial"/>
                <a:ea typeface="Arial"/>
                <a:cs typeface="Arial"/>
              </a:defRPr>
            </a:pPr>
            <a:r>
              <a:rPr sz="1875" b="1">
                <a:solidFill>
                  <a:srgbClr val="F7FBFF"/>
                </a:solidFill>
                <a:latin typeface="Arial"/>
                <a:ea typeface="Arial"/>
                <a:cs typeface="Arial"/>
              </a:rPr>
              <a:t>Data split</a:t>
            </a:r>
          </a:p>
        </p:txBody>
      </p:sp>
      <p:sp>
        <p:nvSpPr>
          <p:cNvPr id="15" name="">
            <a:extLst xmlns:a="http://schemas.openxmlformats.org/drawingml/2006/main">
              <a:ext uri="{FF2B5EF4-FFF2-40B4-BE49-F238E27FC236}">
                <a16:creationId xmlns:a16="http://schemas.microsoft.com/office/drawing/2014/main" id="{2F82C2F3-B15F-4845-A147-CCF02CEAF6D7}"/>
              </a:ext>
            </a:extLst>
          </p:cNvPr>
          <p:cNvSpPr>
            <a:spLocks xmlns:a="http://schemas.openxmlformats.org/drawingml/2006/main" noGrp="1"/>
          </p:cNvSpPr>
          <p:nvPr/>
        </p:nvSpPr>
        <p:spPr>
          <a:xfrm xmlns:a="http://schemas.openxmlformats.org/drawingml/2006/main">
            <a:off x="723900" y="3629025"/>
            <a:ext cx="10744200" cy="552450"/>
          </a:xfrm>
          <a:prstGeom xmlns:a="http://schemas.openxmlformats.org/drawingml/2006/main" prst="rect">
            <a:avLst/>
          </a:prstGeom>
          <a:solidFill xmlns:a="http://schemas.openxmlformats.org/drawingml/2006/main">
            <a:srgbClr val="0B2034"/>
          </a:solidFill>
          <a:ln xmlns:a="http://schemas.openxmlformats.org/drawingml/2006/main" w="0">
            <a:solidFill>
              <a:srgbClr val="0B2034"/>
            </a:solidFill>
          </a:ln>
        </p:spPr>
      </p:sp>
      <p:sp>
        <p:nvSpPr>
          <p:cNvPr id="16" name="">
            <a:extLst xmlns:a="http://schemas.openxmlformats.org/drawingml/2006/main">
              <a:ext uri="{FF2B5EF4-FFF2-40B4-BE49-F238E27FC236}">
                <a16:creationId xmlns:a16="http://schemas.microsoft.com/office/drawing/2014/main" id="{9556324C-B215-4BCF-932D-BCE1079036CD}"/>
              </a:ext>
            </a:extLst>
          </p:cNvPr>
          <p:cNvSpPr>
            <a:spLocks xmlns:a="http://schemas.openxmlformats.org/drawingml/2006/main" noGrp="1"/>
          </p:cNvSpPr>
          <p:nvPr/>
        </p:nvSpPr>
        <p:spPr>
          <a:xfrm xmlns:a="http://schemas.openxmlformats.org/drawingml/2006/main">
            <a:off x="723900" y="3629025"/>
            <a:ext cx="6057900" cy="552450"/>
          </a:xfrm>
          <a:prstGeom xmlns:a="http://schemas.openxmlformats.org/drawingml/2006/main" prst="rect">
            <a:avLst/>
          </a:prstGeom>
          <a:solidFill xmlns:a="http://schemas.openxmlformats.org/drawingml/2006/main">
            <a:srgbClr val="2CCCE4"/>
          </a:solidFill>
          <a:ln xmlns:a="http://schemas.openxmlformats.org/drawingml/2006/main" w="0">
            <a:solidFill>
              <a:srgbClr val="2CCCE4"/>
            </a:solidFill>
          </a:ln>
        </p:spPr>
      </p:sp>
      <p:sp>
        <p:nvSpPr>
          <p:cNvPr id="17" name="">
            <a:extLst xmlns:a="http://schemas.openxmlformats.org/drawingml/2006/main">
              <a:ext uri="{FF2B5EF4-FFF2-40B4-BE49-F238E27FC236}">
                <a16:creationId xmlns:a16="http://schemas.microsoft.com/office/drawing/2014/main" id="{FD505084-3E97-4E55-B1CD-4F2A4E7A4082}"/>
              </a:ext>
            </a:extLst>
          </p:cNvPr>
          <p:cNvSpPr>
            <a:spLocks xmlns:a="http://schemas.openxmlformats.org/drawingml/2006/main" noGrp="1"/>
          </p:cNvSpPr>
          <p:nvPr/>
        </p:nvSpPr>
        <p:spPr>
          <a:xfrm xmlns:a="http://schemas.openxmlformats.org/drawingml/2006/main">
            <a:off x="6781800" y="3629025"/>
            <a:ext cx="1876425" cy="552450"/>
          </a:xfrm>
          <a:prstGeom xmlns:a="http://schemas.openxmlformats.org/drawingml/2006/main" prst="rect">
            <a:avLst/>
          </a:prstGeom>
          <a:solidFill xmlns:a="http://schemas.openxmlformats.org/drawingml/2006/main">
            <a:srgbClr val="FFB84D"/>
          </a:solidFill>
          <a:ln xmlns:a="http://schemas.openxmlformats.org/drawingml/2006/main" w="0">
            <a:solidFill>
              <a:srgbClr val="FFB84D"/>
            </a:solidFill>
          </a:ln>
        </p:spPr>
      </p:sp>
      <p:sp>
        <p:nvSpPr>
          <p:cNvPr id="18" name="">
            <a:extLst xmlns:a="http://schemas.openxmlformats.org/drawingml/2006/main">
              <a:ext uri="{FF2B5EF4-FFF2-40B4-BE49-F238E27FC236}">
                <a16:creationId xmlns:a16="http://schemas.microsoft.com/office/drawing/2014/main" id="{AF8F93EF-B0BC-417A-83D5-1DC1E619FC41}"/>
              </a:ext>
            </a:extLst>
          </p:cNvPr>
          <p:cNvSpPr>
            <a:spLocks xmlns:a="http://schemas.openxmlformats.org/drawingml/2006/main" noGrp="1"/>
          </p:cNvSpPr>
          <p:nvPr/>
        </p:nvSpPr>
        <p:spPr>
          <a:xfrm xmlns:a="http://schemas.openxmlformats.org/drawingml/2006/main">
            <a:off x="8658225" y="3629025"/>
            <a:ext cx="2809875" cy="552450"/>
          </a:xfrm>
          <a:prstGeom xmlns:a="http://schemas.openxmlformats.org/drawingml/2006/main" prst="rect">
            <a:avLst/>
          </a:prstGeom>
          <a:solidFill xmlns:a="http://schemas.openxmlformats.org/drawingml/2006/main">
            <a:srgbClr val="102A43"/>
          </a:solidFill>
          <a:ln xmlns:a="http://schemas.openxmlformats.org/drawingml/2006/main" w="0">
            <a:solidFill>
              <a:srgbClr val="102A43"/>
            </a:solidFill>
          </a:ln>
        </p:spPr>
      </p:sp>
      <p:sp>
        <p:nvSpPr>
          <p:cNvPr id="19" name="">
            <a:extLst xmlns:a="http://schemas.openxmlformats.org/drawingml/2006/main">
              <a:ext uri="{FF2B5EF4-FFF2-40B4-BE49-F238E27FC236}">
                <a16:creationId xmlns:a16="http://schemas.microsoft.com/office/drawing/2014/main" id="{8E4B90E9-0965-41D2-A8F4-42F14E117D61}"/>
              </a:ext>
            </a:extLst>
          </p:cNvPr>
          <p:cNvSpPr>
            <a:spLocks xmlns:a="http://schemas.openxmlformats.org/drawingml/2006/main" noGrp="1"/>
          </p:cNvSpPr>
          <p:nvPr/>
        </p:nvSpPr>
        <p:spPr>
          <a:xfrm xmlns:a="http://schemas.openxmlformats.org/drawingml/2006/main">
            <a:off x="895350" y="37814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61321"/>
                </a:solidFill>
                <a:latin typeface="Arial"/>
                <a:ea typeface="Arial"/>
                <a:cs typeface="Arial"/>
              </a:defRPr>
            </a:pPr>
            <a:r>
              <a:rPr sz="1500" b="1">
                <a:solidFill>
                  <a:srgbClr val="061321"/>
                </a:solidFill>
                <a:latin typeface="Arial"/>
                <a:ea typeface="Arial"/>
                <a:cs typeface="Arial"/>
              </a:rPr>
              <a:t>TRAIN  18,523</a:t>
            </a:r>
          </a:p>
        </p:txBody>
      </p:sp>
      <p:sp>
        <p:nvSpPr>
          <p:cNvPr id="20" name="">
            <a:extLst xmlns:a="http://schemas.openxmlformats.org/drawingml/2006/main">
              <a:ext uri="{FF2B5EF4-FFF2-40B4-BE49-F238E27FC236}">
                <a16:creationId xmlns:a16="http://schemas.microsoft.com/office/drawing/2014/main" id="{80E9D8FA-2EDB-4392-A894-A1D1E3FCC238}"/>
              </a:ext>
            </a:extLst>
          </p:cNvPr>
          <p:cNvSpPr>
            <a:spLocks xmlns:a="http://schemas.openxmlformats.org/drawingml/2006/main" noGrp="1"/>
          </p:cNvSpPr>
          <p:nvPr/>
        </p:nvSpPr>
        <p:spPr>
          <a:xfrm xmlns:a="http://schemas.openxmlformats.org/drawingml/2006/main">
            <a:off x="6962775" y="378142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061321"/>
                </a:solidFill>
                <a:latin typeface="Arial"/>
                <a:ea typeface="Arial"/>
                <a:cs typeface="Arial"/>
              </a:defRPr>
            </a:pPr>
            <a:r>
              <a:rPr sz="1350" b="1">
                <a:solidFill>
                  <a:srgbClr val="061321"/>
                </a:solidFill>
                <a:latin typeface="Arial"/>
                <a:ea typeface="Arial"/>
                <a:cs typeface="Arial"/>
              </a:rPr>
              <a:t>DEV  5,734</a:t>
            </a:r>
          </a:p>
        </p:txBody>
      </p:sp>
      <p:sp>
        <p:nvSpPr>
          <p:cNvPr id="21" name="">
            <a:extLst xmlns:a="http://schemas.openxmlformats.org/drawingml/2006/main">
              <a:ext uri="{FF2B5EF4-FFF2-40B4-BE49-F238E27FC236}">
                <a16:creationId xmlns:a16="http://schemas.microsoft.com/office/drawing/2014/main" id="{DD921C24-779E-4FAD-9368-E6BA2AA1E1C0}"/>
              </a:ext>
            </a:extLst>
          </p:cNvPr>
          <p:cNvSpPr>
            <a:spLocks xmlns:a="http://schemas.openxmlformats.org/drawingml/2006/main" noGrp="1"/>
          </p:cNvSpPr>
          <p:nvPr/>
        </p:nvSpPr>
        <p:spPr>
          <a:xfrm xmlns:a="http://schemas.openxmlformats.org/drawingml/2006/main">
            <a:off x="8867775" y="3781425"/>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F7FBFF"/>
                </a:solidFill>
                <a:latin typeface="Arial"/>
                <a:ea typeface="Arial"/>
                <a:cs typeface="Arial"/>
              </a:defRPr>
            </a:pPr>
            <a:r>
              <a:rPr sz="1350" b="1">
                <a:solidFill>
                  <a:srgbClr val="F7FBFF"/>
                </a:solidFill>
                <a:latin typeface="Arial"/>
                <a:ea typeface="Arial"/>
                <a:cs typeface="Arial"/>
              </a:rPr>
              <a:t>SEALED TEST  8,566</a:t>
            </a:r>
          </a:p>
        </p:txBody>
      </p:sp>
      <p:sp>
        <p:nvSpPr>
          <p:cNvPr id="22" name="">
            <a:extLst xmlns:a="http://schemas.openxmlformats.org/drawingml/2006/main">
              <a:ext uri="{FF2B5EF4-FFF2-40B4-BE49-F238E27FC236}">
                <a16:creationId xmlns:a16="http://schemas.microsoft.com/office/drawing/2014/main" id="{7EF0D358-2F05-46F5-B756-7EE8E49D79F6}"/>
              </a:ext>
            </a:extLst>
          </p:cNvPr>
          <p:cNvSpPr>
            <a:spLocks xmlns:a="http://schemas.openxmlformats.org/drawingml/2006/main" noGrp="1"/>
          </p:cNvSpPr>
          <p:nvPr/>
        </p:nvSpPr>
        <p:spPr>
          <a:xfrm xmlns:a="http://schemas.openxmlformats.org/drawingml/2006/main">
            <a:off x="723900" y="47053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7FBFF"/>
                </a:solidFill>
                <a:latin typeface="Arial"/>
                <a:ea typeface="Arial"/>
                <a:cs typeface="Arial"/>
              </a:defRPr>
            </a:pPr>
            <a:r>
              <a:rPr sz="1800" b="1">
                <a:solidFill>
                  <a:srgbClr val="F7FBFF"/>
                </a:solidFill>
                <a:latin typeface="Arial"/>
                <a:ea typeface="Arial"/>
                <a:cs typeface="Arial"/>
              </a:rPr>
              <a:t>Classes</a:t>
            </a:r>
          </a:p>
        </p:txBody>
      </p:sp>
      <p:sp>
        <p:nvSpPr>
          <p:cNvPr id="23" name="">
            <a:extLst xmlns:a="http://schemas.openxmlformats.org/drawingml/2006/main">
              <a:ext uri="{FF2B5EF4-FFF2-40B4-BE49-F238E27FC236}">
                <a16:creationId xmlns:a16="http://schemas.microsoft.com/office/drawing/2014/main" id="{D6ADEB88-D8ED-401B-B694-17BC2718DAE3}"/>
              </a:ext>
            </a:extLst>
          </p:cNvPr>
          <p:cNvSpPr>
            <a:spLocks xmlns:a="http://schemas.openxmlformats.org/drawingml/2006/main" noGrp="1"/>
          </p:cNvSpPr>
          <p:nvPr/>
        </p:nvSpPr>
        <p:spPr>
          <a:xfrm xmlns:a="http://schemas.openxmlformats.org/drawingml/2006/main">
            <a:off x="723900" y="5181600"/>
            <a:ext cx="895350" cy="419100"/>
          </a:xfrm>
          <a:prstGeom xmlns:a="http://schemas.openxmlformats.org/drawingml/2006/main" prst="roundRect">
            <a:avLst>
              <a:gd name="adj" fmla="val 27273"/>
            </a:avLst>
          </a:prstGeom>
          <a:solidFill xmlns:a="http://schemas.openxmlformats.org/drawingml/2006/main">
            <a:srgbClr val="0B2034"/>
          </a:solidFill>
          <a:ln xmlns:a="http://schemas.openxmlformats.org/drawingml/2006/main" w="9525">
            <a:solidFill>
              <a:srgbClr val="23435C"/>
            </a:solidFill>
          </a:ln>
        </p:spPr>
        <p:txBody>
          <a:bodyPr xmlns:a="http://schemas.openxmlformats.org/drawingml/2006/main" wrap="square" lIns="95250" tIns="66675" rIns="95250" bIns="66675" anchor="ctr">
            <a:noAutofit/>
          </a:bodyPr>
          <a:lstStyle xmlns:a="http://schemas.openxmlformats.org/drawingml/2006/main"/>
          <a:p xmlns:a="http://schemas.openxmlformats.org/drawingml/2006/main">
            <a:pPr algn="ctr">
              <a:lnSpc>
                <a:spcPct val="100000"/>
              </a:lnSpc>
              <a:buNone/>
              <a:defRPr sz="1275" b="1">
                <a:solidFill>
                  <a:srgbClr val="F7FBFF"/>
                </a:solidFill>
                <a:latin typeface="Arial"/>
                <a:ea typeface="Arial"/>
                <a:cs typeface="Arial"/>
              </a:defRPr>
            </a:pPr>
            <a:r>
              <a:rPr sz="1275" b="1">
                <a:solidFill>
                  <a:srgbClr val="F7FBFF"/>
                </a:solidFill>
                <a:latin typeface="Arial"/>
                <a:ea typeface="Arial"/>
                <a:cs typeface="Arial"/>
              </a:rPr>
              <a:t>Human</a:t>
            </a:r>
          </a:p>
        </p:txBody>
      </p:sp>
      <p:sp>
        <p:nvSpPr>
          <p:cNvPr id="24" name="">
            <a:extLst xmlns:a="http://schemas.openxmlformats.org/drawingml/2006/main">
              <a:ext uri="{FF2B5EF4-FFF2-40B4-BE49-F238E27FC236}">
                <a16:creationId xmlns:a16="http://schemas.microsoft.com/office/drawing/2014/main" id="{CAF36C05-4E72-4963-B5FA-5EAB5747AECB}"/>
              </a:ext>
            </a:extLst>
          </p:cNvPr>
          <p:cNvSpPr>
            <a:spLocks xmlns:a="http://schemas.openxmlformats.org/drawingml/2006/main" noGrp="1"/>
          </p:cNvSpPr>
          <p:nvPr/>
        </p:nvSpPr>
        <p:spPr>
          <a:xfrm xmlns:a="http://schemas.openxmlformats.org/drawingml/2006/main">
            <a:off x="1733550" y="5181600"/>
            <a:ext cx="666750" cy="419100"/>
          </a:xfrm>
          <a:prstGeom xmlns:a="http://schemas.openxmlformats.org/drawingml/2006/main" prst="roundRect">
            <a:avLst>
              <a:gd name="adj" fmla="val 27273"/>
            </a:avLst>
          </a:prstGeom>
          <a:solidFill xmlns:a="http://schemas.openxmlformats.org/drawingml/2006/main">
            <a:srgbClr val="0B2034"/>
          </a:solidFill>
          <a:ln xmlns:a="http://schemas.openxmlformats.org/drawingml/2006/main" w="9525">
            <a:solidFill>
              <a:srgbClr val="23435C"/>
            </a:solidFill>
          </a:ln>
        </p:spPr>
        <p:txBody>
          <a:bodyPr xmlns:a="http://schemas.openxmlformats.org/drawingml/2006/main" wrap="square" lIns="95250" tIns="66675" rIns="95250" bIns="66675" anchor="ctr">
            <a:noAutofit/>
          </a:bodyPr>
          <a:lstStyle xmlns:a="http://schemas.openxmlformats.org/drawingml/2006/main"/>
          <a:p xmlns:a="http://schemas.openxmlformats.org/drawingml/2006/main">
            <a:pPr algn="ctr">
              <a:lnSpc>
                <a:spcPct val="100000"/>
              </a:lnSpc>
              <a:buNone/>
              <a:defRPr sz="1275" b="1">
                <a:solidFill>
                  <a:srgbClr val="F7FBFF"/>
                </a:solidFill>
                <a:latin typeface="Arial"/>
                <a:ea typeface="Arial"/>
                <a:cs typeface="Arial"/>
              </a:defRPr>
            </a:pPr>
            <a:r>
              <a:rPr sz="1275" b="1">
                <a:solidFill>
                  <a:srgbClr val="F7FBFF"/>
                </a:solidFill>
                <a:latin typeface="Arial"/>
                <a:ea typeface="Arial"/>
                <a:cs typeface="Arial"/>
              </a:rPr>
              <a:t>Car</a:t>
            </a:r>
          </a:p>
        </p:txBody>
      </p:sp>
      <p:sp>
        <p:nvSpPr>
          <p:cNvPr id="25" name="">
            <a:extLst xmlns:a="http://schemas.openxmlformats.org/drawingml/2006/main">
              <a:ext uri="{FF2B5EF4-FFF2-40B4-BE49-F238E27FC236}">
                <a16:creationId xmlns:a16="http://schemas.microsoft.com/office/drawing/2014/main" id="{2C4E3C66-3717-4446-9205-D32F1072914C}"/>
              </a:ext>
            </a:extLst>
          </p:cNvPr>
          <p:cNvSpPr>
            <a:spLocks xmlns:a="http://schemas.openxmlformats.org/drawingml/2006/main" noGrp="1"/>
          </p:cNvSpPr>
          <p:nvPr/>
        </p:nvSpPr>
        <p:spPr>
          <a:xfrm xmlns:a="http://schemas.openxmlformats.org/drawingml/2006/main">
            <a:off x="2514600" y="5181600"/>
            <a:ext cx="895350" cy="419100"/>
          </a:xfrm>
          <a:prstGeom xmlns:a="http://schemas.openxmlformats.org/drawingml/2006/main" prst="roundRect">
            <a:avLst>
              <a:gd name="adj" fmla="val 27273"/>
            </a:avLst>
          </a:prstGeom>
          <a:solidFill xmlns:a="http://schemas.openxmlformats.org/drawingml/2006/main">
            <a:srgbClr val="0B2034"/>
          </a:solidFill>
          <a:ln xmlns:a="http://schemas.openxmlformats.org/drawingml/2006/main" w="9525">
            <a:solidFill>
              <a:srgbClr val="23435C"/>
            </a:solidFill>
          </a:ln>
        </p:spPr>
        <p:txBody>
          <a:bodyPr xmlns:a="http://schemas.openxmlformats.org/drawingml/2006/main" wrap="square" lIns="95250" tIns="66675" rIns="95250" bIns="66675" anchor="ctr">
            <a:noAutofit/>
          </a:bodyPr>
          <a:lstStyle xmlns:a="http://schemas.openxmlformats.org/drawingml/2006/main"/>
          <a:p xmlns:a="http://schemas.openxmlformats.org/drawingml/2006/main">
            <a:pPr algn="ctr">
              <a:lnSpc>
                <a:spcPct val="100000"/>
              </a:lnSpc>
              <a:buNone/>
              <a:defRPr sz="1275" b="1">
                <a:solidFill>
                  <a:srgbClr val="F7FBFF"/>
                </a:solidFill>
                <a:latin typeface="Arial"/>
                <a:ea typeface="Arial"/>
                <a:cs typeface="Arial"/>
              </a:defRPr>
            </a:pPr>
            <a:r>
              <a:rPr sz="1275" b="1">
                <a:solidFill>
                  <a:srgbClr val="F7FBFF"/>
                </a:solidFill>
                <a:latin typeface="Arial"/>
                <a:ea typeface="Arial"/>
                <a:cs typeface="Arial"/>
              </a:rPr>
              <a:t>Truck</a:t>
            </a:r>
          </a:p>
        </p:txBody>
      </p:sp>
      <p:sp>
        <p:nvSpPr>
          <p:cNvPr id="26" name="">
            <a:extLst xmlns:a="http://schemas.openxmlformats.org/drawingml/2006/main">
              <a:ext uri="{FF2B5EF4-FFF2-40B4-BE49-F238E27FC236}">
                <a16:creationId xmlns:a16="http://schemas.microsoft.com/office/drawing/2014/main" id="{C594355B-4F0F-4E07-B1F9-FC1C5D9FB333}"/>
              </a:ext>
            </a:extLst>
          </p:cNvPr>
          <p:cNvSpPr>
            <a:spLocks xmlns:a="http://schemas.openxmlformats.org/drawingml/2006/main" noGrp="1"/>
          </p:cNvSpPr>
          <p:nvPr/>
        </p:nvSpPr>
        <p:spPr>
          <a:xfrm xmlns:a="http://schemas.openxmlformats.org/drawingml/2006/main">
            <a:off x="3524250" y="5181600"/>
            <a:ext cx="666750" cy="419100"/>
          </a:xfrm>
          <a:prstGeom xmlns:a="http://schemas.openxmlformats.org/drawingml/2006/main" prst="roundRect">
            <a:avLst>
              <a:gd name="adj" fmla="val 27273"/>
            </a:avLst>
          </a:prstGeom>
          <a:solidFill xmlns:a="http://schemas.openxmlformats.org/drawingml/2006/main">
            <a:srgbClr val="0B2034"/>
          </a:solidFill>
          <a:ln xmlns:a="http://schemas.openxmlformats.org/drawingml/2006/main" w="9525">
            <a:solidFill>
              <a:srgbClr val="23435C"/>
            </a:solidFill>
          </a:ln>
        </p:spPr>
        <p:txBody>
          <a:bodyPr xmlns:a="http://schemas.openxmlformats.org/drawingml/2006/main" wrap="square" lIns="95250" tIns="66675" rIns="95250" bIns="66675" anchor="ctr">
            <a:noAutofit/>
          </a:bodyPr>
          <a:lstStyle xmlns:a="http://schemas.openxmlformats.org/drawingml/2006/main"/>
          <a:p xmlns:a="http://schemas.openxmlformats.org/drawingml/2006/main">
            <a:pPr algn="ctr">
              <a:lnSpc>
                <a:spcPct val="100000"/>
              </a:lnSpc>
              <a:buNone/>
              <a:defRPr sz="1275" b="1">
                <a:solidFill>
                  <a:srgbClr val="F7FBFF"/>
                </a:solidFill>
                <a:latin typeface="Arial"/>
                <a:ea typeface="Arial"/>
                <a:cs typeface="Arial"/>
              </a:defRPr>
            </a:pPr>
            <a:r>
              <a:rPr sz="1275" b="1">
                <a:solidFill>
                  <a:srgbClr val="F7FBFF"/>
                </a:solidFill>
                <a:latin typeface="Arial"/>
                <a:ea typeface="Arial"/>
                <a:cs typeface="Arial"/>
              </a:rPr>
              <a:t>Van</a:t>
            </a:r>
          </a:p>
        </p:txBody>
      </p:sp>
      <p:sp>
        <p:nvSpPr>
          <p:cNvPr id="27" name="">
            <a:extLst xmlns:a="http://schemas.openxmlformats.org/drawingml/2006/main">
              <a:ext uri="{FF2B5EF4-FFF2-40B4-BE49-F238E27FC236}">
                <a16:creationId xmlns:a16="http://schemas.microsoft.com/office/drawing/2014/main" id="{4C4FCCA2-FF85-4341-B43B-BF1B35D55D72}"/>
              </a:ext>
            </a:extLst>
          </p:cNvPr>
          <p:cNvSpPr>
            <a:spLocks xmlns:a="http://schemas.openxmlformats.org/drawingml/2006/main" noGrp="1"/>
          </p:cNvSpPr>
          <p:nvPr/>
        </p:nvSpPr>
        <p:spPr>
          <a:xfrm xmlns:a="http://schemas.openxmlformats.org/drawingml/2006/main">
            <a:off x="4305300" y="5181600"/>
            <a:ext cx="1352550" cy="419100"/>
          </a:xfrm>
          <a:prstGeom xmlns:a="http://schemas.openxmlformats.org/drawingml/2006/main" prst="roundRect">
            <a:avLst>
              <a:gd name="adj" fmla="val 27273"/>
            </a:avLst>
          </a:prstGeom>
          <a:solidFill xmlns:a="http://schemas.openxmlformats.org/drawingml/2006/main">
            <a:srgbClr val="0B2034"/>
          </a:solidFill>
          <a:ln xmlns:a="http://schemas.openxmlformats.org/drawingml/2006/main" w="9525">
            <a:solidFill>
              <a:srgbClr val="23435C"/>
            </a:solidFill>
          </a:ln>
        </p:spPr>
        <p:txBody>
          <a:bodyPr xmlns:a="http://schemas.openxmlformats.org/drawingml/2006/main" wrap="square" lIns="95250" tIns="66675" rIns="95250" bIns="66675" anchor="ctr">
            <a:noAutofit/>
          </a:bodyPr>
          <a:lstStyle xmlns:a="http://schemas.openxmlformats.org/drawingml/2006/main"/>
          <a:p xmlns:a="http://schemas.openxmlformats.org/drawingml/2006/main">
            <a:pPr algn="ctr">
              <a:lnSpc>
                <a:spcPct val="100000"/>
              </a:lnSpc>
              <a:buNone/>
              <a:defRPr sz="1275" b="1">
                <a:solidFill>
                  <a:srgbClr val="F7FBFF"/>
                </a:solidFill>
                <a:latin typeface="Arial"/>
                <a:ea typeface="Arial"/>
                <a:cs typeface="Arial"/>
              </a:defRPr>
            </a:pPr>
            <a:r>
              <a:rPr sz="1275" b="1">
                <a:solidFill>
                  <a:srgbClr val="F7FBFF"/>
                </a:solidFill>
                <a:latin typeface="Arial"/>
                <a:ea typeface="Arial"/>
                <a:cs typeface="Arial"/>
              </a:rPr>
              <a:t>Motorbike</a:t>
            </a:r>
          </a:p>
        </p:txBody>
      </p:sp>
      <p:sp>
        <p:nvSpPr>
          <p:cNvPr id="28" name="">
            <a:extLst xmlns:a="http://schemas.openxmlformats.org/drawingml/2006/main">
              <a:ext uri="{FF2B5EF4-FFF2-40B4-BE49-F238E27FC236}">
                <a16:creationId xmlns:a16="http://schemas.microsoft.com/office/drawing/2014/main" id="{59B3A932-228E-4635-AF0D-AA8A36F9BAEF}"/>
              </a:ext>
            </a:extLst>
          </p:cNvPr>
          <p:cNvSpPr>
            <a:spLocks xmlns:a="http://schemas.openxmlformats.org/drawingml/2006/main" noGrp="1"/>
          </p:cNvSpPr>
          <p:nvPr/>
        </p:nvSpPr>
        <p:spPr>
          <a:xfrm xmlns:a="http://schemas.openxmlformats.org/drawingml/2006/main">
            <a:off x="5772150" y="5181600"/>
            <a:ext cx="1123950" cy="419100"/>
          </a:xfrm>
          <a:prstGeom xmlns:a="http://schemas.openxmlformats.org/drawingml/2006/main" prst="roundRect">
            <a:avLst>
              <a:gd name="adj" fmla="val 27273"/>
            </a:avLst>
          </a:prstGeom>
          <a:solidFill xmlns:a="http://schemas.openxmlformats.org/drawingml/2006/main">
            <a:srgbClr val="0B2034"/>
          </a:solidFill>
          <a:ln xmlns:a="http://schemas.openxmlformats.org/drawingml/2006/main" w="9525">
            <a:solidFill>
              <a:srgbClr val="23435C"/>
            </a:solidFill>
          </a:ln>
        </p:spPr>
        <p:txBody>
          <a:bodyPr xmlns:a="http://schemas.openxmlformats.org/drawingml/2006/main" wrap="square" lIns="95250" tIns="66675" rIns="95250" bIns="66675" anchor="ctr">
            <a:noAutofit/>
          </a:bodyPr>
          <a:lstStyle xmlns:a="http://schemas.openxmlformats.org/drawingml/2006/main"/>
          <a:p xmlns:a="http://schemas.openxmlformats.org/drawingml/2006/main">
            <a:pPr algn="ctr">
              <a:lnSpc>
                <a:spcPct val="100000"/>
              </a:lnSpc>
              <a:buNone/>
              <a:defRPr sz="1275" b="1">
                <a:solidFill>
                  <a:srgbClr val="F7FBFF"/>
                </a:solidFill>
                <a:latin typeface="Arial"/>
                <a:ea typeface="Arial"/>
                <a:cs typeface="Arial"/>
              </a:defRPr>
            </a:pPr>
            <a:r>
              <a:rPr sz="1275" b="1">
                <a:solidFill>
                  <a:srgbClr val="F7FBFF"/>
                </a:solidFill>
                <a:latin typeface="Arial"/>
                <a:ea typeface="Arial"/>
                <a:cs typeface="Arial"/>
              </a:rPr>
              <a:t>Bicycle</a:t>
            </a:r>
          </a:p>
        </p:txBody>
      </p:sp>
      <p:sp>
        <p:nvSpPr>
          <p:cNvPr id="29" name="">
            <a:extLst xmlns:a="http://schemas.openxmlformats.org/drawingml/2006/main">
              <a:ext uri="{FF2B5EF4-FFF2-40B4-BE49-F238E27FC236}">
                <a16:creationId xmlns:a16="http://schemas.microsoft.com/office/drawing/2014/main" id="{55E84D0B-7DF5-448A-BAAB-D9692B204441}"/>
              </a:ext>
            </a:extLst>
          </p:cNvPr>
          <p:cNvSpPr>
            <a:spLocks xmlns:a="http://schemas.openxmlformats.org/drawingml/2006/main" noGrp="1"/>
          </p:cNvSpPr>
          <p:nvPr/>
        </p:nvSpPr>
        <p:spPr>
          <a:xfrm xmlns:a="http://schemas.openxmlformats.org/drawingml/2006/main">
            <a:off x="7010400" y="5181600"/>
            <a:ext cx="666750" cy="419100"/>
          </a:xfrm>
          <a:prstGeom xmlns:a="http://schemas.openxmlformats.org/drawingml/2006/main" prst="roundRect">
            <a:avLst>
              <a:gd name="adj" fmla="val 27273"/>
            </a:avLst>
          </a:prstGeom>
          <a:solidFill xmlns:a="http://schemas.openxmlformats.org/drawingml/2006/main">
            <a:srgbClr val="0B2034"/>
          </a:solidFill>
          <a:ln xmlns:a="http://schemas.openxmlformats.org/drawingml/2006/main" w="9525">
            <a:solidFill>
              <a:srgbClr val="23435C"/>
            </a:solidFill>
          </a:ln>
        </p:spPr>
        <p:txBody>
          <a:bodyPr xmlns:a="http://schemas.openxmlformats.org/drawingml/2006/main" wrap="square" lIns="95250" tIns="66675" rIns="95250" bIns="66675" anchor="ctr">
            <a:noAutofit/>
          </a:bodyPr>
          <a:lstStyle xmlns:a="http://schemas.openxmlformats.org/drawingml/2006/main"/>
          <a:p xmlns:a="http://schemas.openxmlformats.org/drawingml/2006/main">
            <a:pPr algn="ctr">
              <a:lnSpc>
                <a:spcPct val="100000"/>
              </a:lnSpc>
              <a:buNone/>
              <a:defRPr sz="1275" b="1">
                <a:solidFill>
                  <a:srgbClr val="F7FBFF"/>
                </a:solidFill>
                <a:latin typeface="Arial"/>
                <a:ea typeface="Arial"/>
                <a:cs typeface="Arial"/>
              </a:defRPr>
            </a:pPr>
            <a:r>
              <a:rPr sz="1275" b="1">
                <a:solidFill>
                  <a:srgbClr val="F7FBFF"/>
                </a:solidFill>
                <a:latin typeface="Arial"/>
                <a:ea typeface="Arial"/>
                <a:cs typeface="Arial"/>
              </a:rPr>
              <a:t>Bus</a:t>
            </a:r>
          </a:p>
        </p:txBody>
      </p:sp>
      <p:sp>
        <p:nvSpPr>
          <p:cNvPr id="30" name="">
            <a:extLst xmlns:a="http://schemas.openxmlformats.org/drawingml/2006/main">
              <a:ext uri="{FF2B5EF4-FFF2-40B4-BE49-F238E27FC236}">
                <a16:creationId xmlns:a16="http://schemas.microsoft.com/office/drawing/2014/main" id="{3753C4A9-C74E-4F10-82BE-D6455117B70A}"/>
              </a:ext>
            </a:extLst>
          </p:cNvPr>
          <p:cNvSpPr>
            <a:spLocks xmlns:a="http://schemas.openxmlformats.org/drawingml/2006/main" noGrp="1"/>
          </p:cNvSpPr>
          <p:nvPr/>
        </p:nvSpPr>
        <p:spPr>
          <a:xfrm xmlns:a="http://schemas.openxmlformats.org/drawingml/2006/main">
            <a:off x="7791450" y="5181600"/>
            <a:ext cx="1123950" cy="419100"/>
          </a:xfrm>
          <a:prstGeom xmlns:a="http://schemas.openxmlformats.org/drawingml/2006/main" prst="roundRect">
            <a:avLst>
              <a:gd name="adj" fmla="val 27273"/>
            </a:avLst>
          </a:prstGeom>
          <a:solidFill xmlns:a="http://schemas.openxmlformats.org/drawingml/2006/main">
            <a:srgbClr val="0B2034"/>
          </a:solidFill>
          <a:ln xmlns:a="http://schemas.openxmlformats.org/drawingml/2006/main" w="9525">
            <a:solidFill>
              <a:srgbClr val="23435C"/>
            </a:solidFill>
          </a:ln>
        </p:spPr>
        <p:txBody>
          <a:bodyPr xmlns:a="http://schemas.openxmlformats.org/drawingml/2006/main" wrap="square" lIns="95250" tIns="66675" rIns="95250" bIns="66675" anchor="ctr">
            <a:noAutofit/>
          </a:bodyPr>
          <a:lstStyle xmlns:a="http://schemas.openxmlformats.org/drawingml/2006/main"/>
          <a:p xmlns:a="http://schemas.openxmlformats.org/drawingml/2006/main">
            <a:pPr algn="ctr">
              <a:lnSpc>
                <a:spcPct val="100000"/>
              </a:lnSpc>
              <a:buNone/>
              <a:defRPr sz="1275" b="1">
                <a:solidFill>
                  <a:srgbClr val="F7FBFF"/>
                </a:solidFill>
                <a:latin typeface="Arial"/>
                <a:ea typeface="Arial"/>
                <a:cs typeface="Arial"/>
              </a:defRPr>
            </a:pPr>
            <a:r>
              <a:rPr sz="1275" b="1">
                <a:solidFill>
                  <a:srgbClr val="F7FBFF"/>
                </a:solidFill>
                <a:latin typeface="Arial"/>
                <a:ea typeface="Arial"/>
                <a:cs typeface="Arial"/>
              </a:rPr>
              <a:t>Trailer</a:t>
            </a:r>
          </a:p>
        </p:txBody>
      </p:sp>
      <p:sp>
        <p:nvSpPr>
          <p:cNvPr id="31" name="">
            <a:extLst xmlns:a="http://schemas.openxmlformats.org/drawingml/2006/main">
              <a:ext uri="{FF2B5EF4-FFF2-40B4-BE49-F238E27FC236}">
                <a16:creationId xmlns:a16="http://schemas.microsoft.com/office/drawing/2014/main" id="{F278FA37-2D61-4FBF-8F11-125215DE60F1}"/>
              </a:ext>
            </a:extLst>
          </p:cNvPr>
          <p:cNvSpPr>
            <a:spLocks xmlns:a="http://schemas.openxmlformats.org/drawingml/2006/main" noGrp="1"/>
          </p:cNvSpPr>
          <p:nvPr/>
        </p:nvSpPr>
        <p:spPr>
          <a:xfrm xmlns:a="http://schemas.openxmlformats.org/drawingml/2006/main">
            <a:off x="723900" y="5981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A9B9C8"/>
                </a:solidFill>
                <a:latin typeface="Arial"/>
                <a:ea typeface="Arial"/>
                <a:cs typeface="Arial"/>
              </a:defRPr>
            </a:pPr>
            <a:r>
              <a:rPr sz="1350" b="0">
                <a:solidFill>
                  <a:srgbClr val="A9B9C8"/>
                </a:solidFill>
                <a:latin typeface="Arial"/>
                <a:ea typeface="Arial"/>
                <a:cs typeface="Arial"/>
              </a:rPr>
              <a:t>The final-test recordings stay sealed until the model and threshold are frozen.</a:t>
            </a:r>
          </a:p>
        </p:txBody>
      </p:sp>
    </p:spTree>
    <p:extLst>
      <p:ext uri="{BB962C8B-B14F-4D97-AF65-F5344CB8AC3E}">
        <p14:creationId xmlns:p14="http://schemas.microsoft.com/office/powerpoint/2010/main" val="1789435208"/>
      </p:ext>
    </p:extLst>
  </p:cSld>
</p:sld>
</file>

<file path=ppt/slides/slide4.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68DA144-ED89-499D-8FB7-1A6C79749192}"/>
              </a:ext>
            </a:extLst>
          </p:cNvPr>
          <p:cNvSpPr>
            <a:spLocks xmlns:a="http://schemas.openxmlformats.org/drawingml/2006/main" noGrp="1"/>
          </p:cNvSpPr>
          <p:nvPr/>
        </p:nvSpPr>
        <p:spPr>
          <a:xfrm xmlns:a="http://schemas.openxmlformats.org/drawingml/2006/main">
            <a:off x="10706100" y="2952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75899D"/>
                </a:solidFill>
                <a:latin typeface="Arial"/>
                <a:ea typeface="Arial"/>
                <a:cs typeface="Arial"/>
              </a:defRPr>
            </a:pPr>
            <a:r>
              <a:rPr sz="1050" b="1">
                <a:solidFill>
                  <a:srgbClr val="75899D"/>
                </a:solidFill>
                <a:latin typeface="Arial"/>
                <a:ea typeface="Arial"/>
                <a:cs typeface="Arial"/>
              </a:rPr>
              <a:t>04 / 09</a:t>
            </a:r>
          </a:p>
        </p:txBody>
      </p:sp>
      <p:sp>
        <p:nvSpPr>
          <p:cNvPr id="2" name="">
            <a:extLst xmlns:a="http://schemas.openxmlformats.org/drawingml/2006/main">
              <a:ext uri="{FF2B5EF4-FFF2-40B4-BE49-F238E27FC236}">
                <a16:creationId xmlns:a16="http://schemas.microsoft.com/office/drawing/2014/main" id="{1A016319-A305-41CD-9465-DDE7A3E71CC0}"/>
              </a:ext>
            </a:extLst>
          </p:cNvPr>
          <p:cNvSpPr>
            <a:spLocks xmlns:a="http://schemas.openxmlformats.org/drawingml/2006/main" noGrp="1"/>
          </p:cNvSpPr>
          <p:nvPr/>
        </p:nvSpPr>
        <p:spPr>
          <a:xfrm xmlns:a="http://schemas.openxmlformats.org/drawingml/2006/main">
            <a:off x="533400" y="485775"/>
            <a:ext cx="76200" cy="457200"/>
          </a:xfrm>
          <a:prstGeom xmlns:a="http://schemas.openxmlformats.org/drawingml/2006/main" prst="rect">
            <a:avLst/>
          </a:prstGeom>
          <a:solidFill xmlns:a="http://schemas.openxmlformats.org/drawingml/2006/main">
            <a:srgbClr val="2CCCE4"/>
          </a:solidFill>
          <a:ln xmlns:a="http://schemas.openxmlformats.org/drawingml/2006/main" w="0">
            <a:solidFill>
              <a:srgbClr val="2CCCE4"/>
            </a:solidFill>
          </a:ln>
        </p:spPr>
      </p:sp>
      <p:sp>
        <p:nvSpPr>
          <p:cNvPr id="3" name="">
            <a:extLst xmlns:a="http://schemas.openxmlformats.org/drawingml/2006/main">
              <a:ext uri="{FF2B5EF4-FFF2-40B4-BE49-F238E27FC236}">
                <a16:creationId xmlns:a16="http://schemas.microsoft.com/office/drawing/2014/main" id="{355C9809-45E5-44B6-B9C0-ED9D07973CF0}"/>
              </a:ext>
            </a:extLst>
          </p:cNvPr>
          <p:cNvSpPr>
            <a:spLocks xmlns:a="http://schemas.openxmlformats.org/drawingml/2006/main" noGrp="1"/>
          </p:cNvSpPr>
          <p:nvPr/>
        </p:nvSpPr>
        <p:spPr>
          <a:xfrm xmlns:a="http://schemas.openxmlformats.org/drawingml/2006/main">
            <a:off x="800100" y="41910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850" b="1">
                <a:solidFill>
                  <a:srgbClr val="F7FBFF"/>
                </a:solidFill>
                <a:latin typeface="Arial"/>
                <a:ea typeface="Arial"/>
                <a:cs typeface="Arial"/>
              </a:defRPr>
            </a:pPr>
            <a:r>
              <a:rPr sz="2850" b="1">
                <a:solidFill>
                  <a:srgbClr val="F7FBFF"/>
                </a:solidFill>
                <a:latin typeface="Arial"/>
                <a:ea typeface="Arial"/>
                <a:cs typeface="Arial"/>
              </a:rPr>
              <a:t>What one AU-AIR sample looks like</a:t>
            </a:r>
          </a:p>
        </p:txBody>
      </p:sp>
      <p:sp>
        <p:nvSpPr>
          <p:cNvPr id="4" name="">
            <a:extLst xmlns:a="http://schemas.openxmlformats.org/drawingml/2006/main">
              <a:ext uri="{FF2B5EF4-FFF2-40B4-BE49-F238E27FC236}">
                <a16:creationId xmlns:a16="http://schemas.microsoft.com/office/drawing/2014/main" id="{9AC0A816-A0B2-4EA4-9A38-D8136A1630E7}"/>
              </a:ext>
            </a:extLst>
          </p:cNvPr>
          <p:cNvSpPr>
            <a:spLocks xmlns:a="http://schemas.openxmlformats.org/drawingml/2006/main" noGrp="1"/>
          </p:cNvSpPr>
          <p:nvPr/>
        </p:nvSpPr>
        <p:spPr>
          <a:xfrm xmlns:a="http://schemas.openxmlformats.org/drawingml/2006/main">
            <a:off x="800100" y="97155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A9B9C8"/>
                </a:solidFill>
                <a:latin typeface="Arial"/>
                <a:ea typeface="Arial"/>
                <a:cs typeface="Arial"/>
              </a:defRPr>
            </a:pPr>
            <a:r>
              <a:rPr sz="1350" b="0">
                <a:solidFill>
                  <a:srgbClr val="A9B9C8"/>
                </a:solidFill>
                <a:latin typeface="Arial"/>
                <a:ea typeface="Arial"/>
                <a:cs typeface="Arial"/>
              </a:rPr>
              <a:t>A sample is more than an image: labels and flight measurements travel with the frame.</a:t>
            </a:r>
          </a:p>
        </p:txBody>
      </p:sp>
      <p:sp>
        <p:nvSpPr>
          <p:cNvPr id="5" name="">
            <a:extLst xmlns:a="http://schemas.openxmlformats.org/drawingml/2006/main">
              <a:ext uri="{FF2B5EF4-FFF2-40B4-BE49-F238E27FC236}">
                <a16:creationId xmlns:a16="http://schemas.microsoft.com/office/drawing/2014/main" id="{3D394141-A617-48E8-9C84-C3C79E87045C}"/>
              </a:ext>
            </a:extLst>
          </p:cNvPr>
          <p:cNvSpPr>
            <a:spLocks xmlns:a="http://schemas.openxmlformats.org/drawingml/2006/main" noGrp="1"/>
          </p:cNvSpPr>
          <p:nvPr/>
        </p:nvSpPr>
        <p:spPr>
          <a:xfrm xmlns:a="http://schemas.openxmlformats.org/drawingml/2006/main">
            <a:off x="10706100" y="2952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75899D"/>
                </a:solidFill>
                <a:latin typeface="Arial"/>
                <a:ea typeface="Arial"/>
                <a:cs typeface="Arial"/>
              </a:defRPr>
            </a:pPr>
            <a:r>
              <a:rPr sz="1050" b="1">
                <a:solidFill>
                  <a:srgbClr val="75899D"/>
                </a:solidFill>
                <a:latin typeface="Arial"/>
                <a:ea typeface="Arial"/>
                <a:cs typeface="Arial"/>
              </a:rPr>
              <a:t>04 / 09</a:t>
            </a:r>
          </a:p>
        </p:txBody>
      </p:sp>
      <p:sp>
        <p:nvSpPr>
          <p:cNvPr id="6" name="">
            <a:extLst xmlns:a="http://schemas.openxmlformats.org/drawingml/2006/main">
              <a:ext uri="{FF2B5EF4-FFF2-40B4-BE49-F238E27FC236}">
                <a16:creationId xmlns:a16="http://schemas.microsoft.com/office/drawing/2014/main" id="{1EDD1AC0-B5ED-4961-AD1D-D87382E486AD}"/>
              </a:ext>
            </a:extLst>
          </p:cNvPr>
          <p:cNvSpPr>
            <a:spLocks xmlns:a="http://schemas.openxmlformats.org/drawingml/2006/main" noGrp="1"/>
          </p:cNvSpPr>
          <p:nvPr/>
        </p:nvSpPr>
        <p:spPr>
          <a:xfrm xmlns:a="http://schemas.openxmlformats.org/drawingml/2006/main">
            <a:off x="514350" y="1381125"/>
            <a:ext cx="7239000" cy="50196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d99df4a44104cb8"/>
          <a:stretch xmlns:a="http://schemas.openxmlformats.org/drawingml/2006/main"/>
        </p:blipFill>
        <p:spPr>
          <a:xfrm xmlns:a="http://schemas.openxmlformats.org/drawingml/2006/main">
            <a:off x="802096" y="1381125"/>
            <a:ext cx="6663508" cy="5019675"/>
          </a:xfrm>
          <a:prstGeom xmlns:a="http://schemas.openxmlformats.org/drawingml/2006/main" prst="roundRect">
            <a:avLst>
              <a:gd name="adj" fmla="val 2277"/>
            </a:avLst>
          </a:prstGeom>
        </p:spPr>
      </p:pic>
      <p:sp>
        <p:nvSpPr>
          <p:cNvPr id="8" name="">
            <a:extLst xmlns:a="http://schemas.openxmlformats.org/drawingml/2006/main">
              <a:ext uri="{FF2B5EF4-FFF2-40B4-BE49-F238E27FC236}">
                <a16:creationId xmlns:a16="http://schemas.microsoft.com/office/drawing/2014/main" id="{EBA9D729-0CBB-454B-B063-C9EDC272D8A4}"/>
              </a:ext>
            </a:extLst>
          </p:cNvPr>
          <p:cNvSpPr>
            <a:spLocks xmlns:a="http://schemas.openxmlformats.org/drawingml/2006/main" noGrp="1"/>
          </p:cNvSpPr>
          <p:nvPr/>
        </p:nvSpPr>
        <p:spPr>
          <a:xfrm xmlns:a="http://schemas.openxmlformats.org/drawingml/2006/main">
            <a:off x="8096250" y="14668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FFB84D"/>
                </a:solidFill>
                <a:latin typeface="Arial"/>
                <a:ea typeface="Arial"/>
                <a:cs typeface="Arial"/>
              </a:defRPr>
            </a:pPr>
            <a:r>
              <a:rPr sz="1875" b="1">
                <a:solidFill>
                  <a:srgbClr val="FFB84D"/>
                </a:solidFill>
                <a:latin typeface="Arial"/>
                <a:ea typeface="Arial"/>
                <a:cs typeface="Arial"/>
              </a:rPr>
              <a:t>Object labels</a:t>
            </a:r>
          </a:p>
        </p:txBody>
      </p:sp>
      <p:sp>
        <p:nvSpPr>
          <p:cNvPr id="9" name="">
            <a:extLst xmlns:a="http://schemas.openxmlformats.org/drawingml/2006/main">
              <a:ext uri="{FF2B5EF4-FFF2-40B4-BE49-F238E27FC236}">
                <a16:creationId xmlns:a16="http://schemas.microsoft.com/office/drawing/2014/main" id="{8D8C38A2-5991-4EF2-8654-2AEB374E9D68}"/>
              </a:ext>
            </a:extLst>
          </p:cNvPr>
          <p:cNvSpPr>
            <a:spLocks xmlns:a="http://schemas.openxmlformats.org/drawingml/2006/main" noGrp="1"/>
          </p:cNvSpPr>
          <p:nvPr/>
        </p:nvSpPr>
        <p:spPr>
          <a:xfrm xmlns:a="http://schemas.openxmlformats.org/drawingml/2006/main">
            <a:off x="8096250" y="1876425"/>
            <a:ext cx="3352800" cy="1743075"/>
          </a:xfrm>
          <a:prstGeom xmlns:a="http://schemas.openxmlformats.org/drawingml/2006/main" prst="roundRect">
            <a:avLst>
              <a:gd name="adj" fmla="val 6557"/>
            </a:avLst>
          </a:prstGeom>
          <a:solidFill xmlns:a="http://schemas.openxmlformats.org/drawingml/2006/main">
            <a:srgbClr val="0B2034"/>
          </a:solidFill>
          <a:ln xmlns:a="http://schemas.openxmlformats.org/drawingml/2006/main" w="19050">
            <a:solidFill>
              <a:srgbClr val="FFB84D"/>
            </a:solidFill>
          </a:ln>
        </p:spPr>
        <p:txBody>
          <a:bodyPr xmlns:a="http://schemas.openxmlformats.org/drawingml/2006/main" wrap="square" lIns="190500" tIns="190500" rIns="190500" bIns="152400" anchor="ctr">
            <a:noAutofit/>
          </a:bodyPr>
          <a:lstStyle xmlns:a="http://schemas.openxmlformats.org/drawingml/2006/main"/>
          <a:p xmlns:a="http://schemas.openxmlformats.org/drawingml/2006/main">
            <a:pPr algn="l">
              <a:lnSpc>
                <a:spcPct val="100000"/>
              </a:lnSpc>
              <a:buNone/>
              <a:defRPr sz="1500" b="1">
                <a:solidFill>
                  <a:srgbClr val="F7FBFF"/>
                </a:solidFill>
                <a:latin typeface="Arial"/>
                <a:ea typeface="Arial"/>
                <a:cs typeface="Arial"/>
              </a:defRPr>
            </a:pPr>
            <a:r>
              <a:rPr sz="1500" b="1">
                <a:solidFill>
                  <a:srgbClr val="F7FBFF"/>
                </a:solidFill>
                <a:latin typeface="Arial"/>
                <a:ea typeface="Arial"/>
                <a:cs typeface="Arial"/>
              </a:rPr>
              <a:t>BOUNDING BOX</a:t>
            </a:r>
          </a:p>
          <a:p xmlns:a="http://schemas.openxmlformats.org/drawingml/2006/main">
            <a:pPr algn="l">
              <a:lnSpc>
                <a:spcPct val="100000"/>
              </a:lnSpc>
              <a:buNone/>
              <a:defRPr sz="1500" b="1">
                <a:solidFill>
                  <a:srgbClr val="F7FBFF"/>
                </a:solidFill>
                <a:latin typeface="Arial"/>
                <a:ea typeface="Arial"/>
                <a:cs typeface="Arial"/>
              </a:defRPr>
            </a:pPr>
            <a:r>
              <a:rPr sz="1500" b="1">
                <a:solidFill>
                  <a:srgbClr val="F7FBFF"/>
                </a:solidFill>
                <a:latin typeface="Arial"/>
                <a:ea typeface="Arial"/>
                <a:cs typeface="Arial"/>
              </a:rPr>
              <a:t>A rectangle that tells the model where an object is and which class it belongs to.</a:t>
            </a:r>
          </a:p>
        </p:txBody>
      </p:sp>
      <p:sp>
        <p:nvSpPr>
          <p:cNvPr id="10" name="">
            <a:extLst xmlns:a="http://schemas.openxmlformats.org/drawingml/2006/main">
              <a:ext uri="{FF2B5EF4-FFF2-40B4-BE49-F238E27FC236}">
                <a16:creationId xmlns:a16="http://schemas.microsoft.com/office/drawing/2014/main" id="{0EFCFAD7-6A75-40BC-BE96-4216E0363A39}"/>
              </a:ext>
            </a:extLst>
          </p:cNvPr>
          <p:cNvSpPr>
            <a:spLocks xmlns:a="http://schemas.openxmlformats.org/drawingml/2006/main" noGrp="1"/>
          </p:cNvSpPr>
          <p:nvPr/>
        </p:nvSpPr>
        <p:spPr>
          <a:xfrm xmlns:a="http://schemas.openxmlformats.org/drawingml/2006/main">
            <a:off x="8096250" y="3752850"/>
            <a:ext cx="333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A9B9C8"/>
                </a:solidFill>
                <a:latin typeface="Arial"/>
                <a:ea typeface="Arial"/>
                <a:cs typeface="Arial"/>
              </a:defRPr>
            </a:pPr>
            <a:r>
              <a:rPr sz="1350" b="0">
                <a:solidFill>
                  <a:srgbClr val="A9B9C8"/>
                </a:solidFill>
                <a:latin typeface="Arial"/>
                <a:ea typeface="Arial"/>
                <a:cs typeface="Arial"/>
              </a:rPr>
              <a:t>The red and blue rectangles in the real frame are the labels.</a:t>
            </a:r>
          </a:p>
        </p:txBody>
      </p:sp>
      <p:sp>
        <p:nvSpPr>
          <p:cNvPr id="11" name="">
            <a:extLst xmlns:a="http://schemas.openxmlformats.org/drawingml/2006/main">
              <a:ext uri="{FF2B5EF4-FFF2-40B4-BE49-F238E27FC236}">
                <a16:creationId xmlns:a16="http://schemas.microsoft.com/office/drawing/2014/main" id="{708424A4-CC35-4170-A1F2-1B32FACD6DB7}"/>
              </a:ext>
            </a:extLst>
          </p:cNvPr>
          <p:cNvSpPr>
            <a:spLocks xmlns:a="http://schemas.openxmlformats.org/drawingml/2006/main" noGrp="1"/>
          </p:cNvSpPr>
          <p:nvPr/>
        </p:nvSpPr>
        <p:spPr>
          <a:xfrm xmlns:a="http://schemas.openxmlformats.org/drawingml/2006/main">
            <a:off x="8096250" y="444817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7BE4F3"/>
                </a:solidFill>
                <a:latin typeface="Arial"/>
                <a:ea typeface="Arial"/>
                <a:cs typeface="Arial"/>
              </a:defRPr>
            </a:pPr>
            <a:r>
              <a:rPr sz="1875" b="1">
                <a:solidFill>
                  <a:srgbClr val="7BE4F3"/>
                </a:solidFill>
                <a:latin typeface="Arial"/>
                <a:ea typeface="Arial"/>
                <a:cs typeface="Arial"/>
              </a:rPr>
              <a:t>Flight information</a:t>
            </a:r>
          </a:p>
        </p:txBody>
      </p:sp>
      <p:sp>
        <p:nvSpPr>
          <p:cNvPr id="12" name="">
            <a:extLst xmlns:a="http://schemas.openxmlformats.org/drawingml/2006/main">
              <a:ext uri="{FF2B5EF4-FFF2-40B4-BE49-F238E27FC236}">
                <a16:creationId xmlns:a16="http://schemas.microsoft.com/office/drawing/2014/main" id="{1F901667-52EB-4FEC-BF59-9C0A3F99F5E7}"/>
              </a:ext>
            </a:extLst>
          </p:cNvPr>
          <p:cNvSpPr>
            <a:spLocks xmlns:a="http://schemas.openxmlformats.org/drawingml/2006/main" noGrp="1"/>
          </p:cNvSpPr>
          <p:nvPr/>
        </p:nvSpPr>
        <p:spPr>
          <a:xfrm xmlns:a="http://schemas.openxmlformats.org/drawingml/2006/main">
            <a:off x="8096250" y="4857750"/>
            <a:ext cx="3352800" cy="1123950"/>
          </a:xfrm>
          <a:prstGeom xmlns:a="http://schemas.openxmlformats.org/drawingml/2006/main" prst="roundRect">
            <a:avLst>
              <a:gd name="adj" fmla="val 10169"/>
            </a:avLst>
          </a:prstGeom>
          <a:solidFill xmlns:a="http://schemas.openxmlformats.org/drawingml/2006/main">
            <a:srgbClr val="0B2034"/>
          </a:solidFill>
          <a:ln xmlns:a="http://schemas.openxmlformats.org/drawingml/2006/main" w="9525">
            <a:solidFill>
              <a:srgbClr val="23435C"/>
            </a:solidFill>
          </a:ln>
        </p:spPr>
        <p:txBody>
          <a:bodyPr xmlns:a="http://schemas.openxmlformats.org/drawingml/2006/main" wrap="square" lIns="152400" tIns="123825" rIns="152400" bIns="95250" anchor="ctr">
            <a:noAutofit/>
          </a:bodyPr>
          <a:lstStyle xmlns:a="http://schemas.openxmlformats.org/drawingml/2006/main"/>
          <a:p xmlns:a="http://schemas.openxmlformats.org/drawingml/2006/main">
            <a:pPr algn="l">
              <a:lnSpc>
                <a:spcPct val="100000"/>
              </a:lnSpc>
              <a:buNone/>
              <a:defRPr sz="1275" b="1">
                <a:solidFill>
                  <a:srgbClr val="F7FBFF"/>
                </a:solidFill>
                <a:latin typeface="Arial"/>
                <a:ea typeface="Arial"/>
                <a:cs typeface="Arial"/>
              </a:defRPr>
            </a:pPr>
            <a:r>
              <a:rPr sz="1275" b="1">
                <a:solidFill>
                  <a:srgbClr val="F7FBFF"/>
                </a:solidFill>
                <a:latin typeface="Arial"/>
                <a:ea typeface="Arial"/>
                <a:cs typeface="Arial"/>
              </a:rPr>
              <a:t>Altitude  22 m</a:t>
            </a:r>
          </a:p>
          <a:p xmlns:a="http://schemas.openxmlformats.org/drawingml/2006/main">
            <a:pPr algn="l">
              <a:lnSpc>
                <a:spcPct val="100000"/>
              </a:lnSpc>
              <a:buNone/>
              <a:defRPr sz="1275" b="1">
                <a:solidFill>
                  <a:srgbClr val="F7FBFF"/>
                </a:solidFill>
                <a:latin typeface="Arial"/>
                <a:ea typeface="Arial"/>
                <a:cs typeface="Arial"/>
              </a:defRPr>
            </a:pPr>
            <a:r>
              <a:rPr sz="1275" b="1">
                <a:solidFill>
                  <a:srgbClr val="F7FBFF"/>
                </a:solidFill>
                <a:latin typeface="Arial"/>
                <a:ea typeface="Arial"/>
                <a:cs typeface="Arial"/>
              </a:rPr>
              <a:t>Velocity  0.05, 0.03, −0.23 m/s</a:t>
            </a:r>
          </a:p>
          <a:p xmlns:a="http://schemas.openxmlformats.org/drawingml/2006/main">
            <a:pPr algn="l">
              <a:lnSpc>
                <a:spcPct val="100000"/>
              </a:lnSpc>
              <a:buNone/>
              <a:defRPr sz="1275" b="1">
                <a:solidFill>
                  <a:srgbClr val="F7FBFF"/>
                </a:solidFill>
                <a:latin typeface="Arial"/>
                <a:ea typeface="Arial"/>
                <a:cs typeface="Arial"/>
              </a:defRPr>
            </a:pPr>
            <a:r>
              <a:rPr sz="1275" b="1">
                <a:solidFill>
                  <a:srgbClr val="F7FBFF"/>
                </a:solidFill>
                <a:latin typeface="Arial"/>
                <a:ea typeface="Arial"/>
                <a:cs typeface="Arial"/>
              </a:rPr>
              <a:t>Roll / pitch / yaw  0.011, 0, 1.26 rad</a:t>
            </a:r>
          </a:p>
        </p:txBody>
      </p:sp>
      <p:sp>
        <p:nvSpPr>
          <p:cNvPr id="13" name="">
            <a:extLst xmlns:a="http://schemas.openxmlformats.org/drawingml/2006/main">
              <a:ext uri="{FF2B5EF4-FFF2-40B4-BE49-F238E27FC236}">
                <a16:creationId xmlns:a16="http://schemas.microsoft.com/office/drawing/2014/main" id="{1B654598-E342-4E0B-83C3-13E95E0A1F12}"/>
              </a:ext>
            </a:extLst>
          </p:cNvPr>
          <p:cNvSpPr>
            <a:spLocks xmlns:a="http://schemas.openxmlformats.org/drawingml/2006/main" noGrp="1"/>
          </p:cNvSpPr>
          <p:nvPr/>
        </p:nvSpPr>
        <p:spPr>
          <a:xfrm xmlns:a="http://schemas.openxmlformats.org/drawingml/2006/main">
            <a:off x="8096250" y="60960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A9B9C8"/>
                </a:solidFill>
                <a:latin typeface="Arial"/>
                <a:ea typeface="Arial"/>
                <a:cs typeface="Arial"/>
              </a:defRPr>
            </a:pPr>
            <a:r>
              <a:rPr sz="1275" b="0">
                <a:solidFill>
                  <a:srgbClr val="A9B9C8"/>
                </a:solidFill>
                <a:latin typeface="Arial"/>
                <a:ea typeface="Arial"/>
                <a:cs typeface="Arial"/>
              </a:rPr>
              <a:t>These values describe the drone at that moment.</a:t>
            </a:r>
          </a:p>
        </p:txBody>
      </p:sp>
    </p:spTree>
    <p:extLst>
      <p:ext uri="{BB962C8B-B14F-4D97-AF65-F5344CB8AC3E}">
        <p14:creationId xmlns:p14="http://schemas.microsoft.com/office/powerpoint/2010/main" val="136617817"/>
      </p:ext>
    </p:extLst>
  </p:cSld>
</p:sld>
</file>

<file path=ppt/slides/slide5.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59B32D3-E683-44B3-90E7-8A975317EA8B}"/>
              </a:ext>
            </a:extLst>
          </p:cNvPr>
          <p:cNvSpPr>
            <a:spLocks xmlns:a="http://schemas.openxmlformats.org/drawingml/2006/main" noGrp="1"/>
          </p:cNvSpPr>
          <p:nvPr/>
        </p:nvSpPr>
        <p:spPr>
          <a:xfrm xmlns:a="http://schemas.openxmlformats.org/drawingml/2006/main">
            <a:off x="10706100" y="2952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75899D"/>
                </a:solidFill>
                <a:latin typeface="Arial"/>
                <a:ea typeface="Arial"/>
                <a:cs typeface="Arial"/>
              </a:defRPr>
            </a:pPr>
            <a:r>
              <a:rPr sz="1050" b="1">
                <a:solidFill>
                  <a:srgbClr val="75899D"/>
                </a:solidFill>
                <a:latin typeface="Arial"/>
                <a:ea typeface="Arial"/>
                <a:cs typeface="Arial"/>
              </a:rPr>
              <a:t>05 / 09</a:t>
            </a:r>
          </a:p>
        </p:txBody>
      </p:sp>
      <p:sp>
        <p:nvSpPr>
          <p:cNvPr id="2" name="">
            <a:extLst xmlns:a="http://schemas.openxmlformats.org/drawingml/2006/main">
              <a:ext uri="{FF2B5EF4-FFF2-40B4-BE49-F238E27FC236}">
                <a16:creationId xmlns:a16="http://schemas.microsoft.com/office/drawing/2014/main" id="{0D9EDCBF-8BC5-48B8-8540-FB58625C53C7}"/>
              </a:ext>
            </a:extLst>
          </p:cNvPr>
          <p:cNvSpPr>
            <a:spLocks xmlns:a="http://schemas.openxmlformats.org/drawingml/2006/main" noGrp="1"/>
          </p:cNvSpPr>
          <p:nvPr/>
        </p:nvSpPr>
        <p:spPr>
          <a:xfrm xmlns:a="http://schemas.openxmlformats.org/drawingml/2006/main">
            <a:off x="533400" y="485775"/>
            <a:ext cx="76200" cy="457200"/>
          </a:xfrm>
          <a:prstGeom xmlns:a="http://schemas.openxmlformats.org/drawingml/2006/main" prst="rect">
            <a:avLst/>
          </a:prstGeom>
          <a:solidFill xmlns:a="http://schemas.openxmlformats.org/drawingml/2006/main">
            <a:srgbClr val="2CCCE4"/>
          </a:solidFill>
          <a:ln xmlns:a="http://schemas.openxmlformats.org/drawingml/2006/main" w="0">
            <a:solidFill>
              <a:srgbClr val="2CCCE4"/>
            </a:solidFill>
          </a:ln>
        </p:spPr>
      </p:sp>
      <p:sp>
        <p:nvSpPr>
          <p:cNvPr id="3" name="">
            <a:extLst xmlns:a="http://schemas.openxmlformats.org/drawingml/2006/main">
              <a:ext uri="{FF2B5EF4-FFF2-40B4-BE49-F238E27FC236}">
                <a16:creationId xmlns:a16="http://schemas.microsoft.com/office/drawing/2014/main" id="{2316EBC0-EAA1-4533-BB54-50367F00D527}"/>
              </a:ext>
            </a:extLst>
          </p:cNvPr>
          <p:cNvSpPr>
            <a:spLocks xmlns:a="http://schemas.openxmlformats.org/drawingml/2006/main" noGrp="1"/>
          </p:cNvSpPr>
          <p:nvPr/>
        </p:nvSpPr>
        <p:spPr>
          <a:xfrm xmlns:a="http://schemas.openxmlformats.org/drawingml/2006/main">
            <a:off x="800100" y="41910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850" b="1">
                <a:solidFill>
                  <a:srgbClr val="F7FBFF"/>
                </a:solidFill>
                <a:latin typeface="Arial"/>
                <a:ea typeface="Arial"/>
                <a:cs typeface="Arial"/>
              </a:defRPr>
            </a:pPr>
            <a:r>
              <a:rPr sz="2850" b="1">
                <a:solidFill>
                  <a:srgbClr val="F7FBFF"/>
                </a:solidFill>
                <a:latin typeface="Arial"/>
                <a:ea typeface="Arial"/>
                <a:cs typeface="Arial"/>
              </a:rPr>
              <a:t>The features we give the model</a:t>
            </a:r>
          </a:p>
        </p:txBody>
      </p:sp>
      <p:sp>
        <p:nvSpPr>
          <p:cNvPr id="4" name="">
            <a:extLst xmlns:a="http://schemas.openxmlformats.org/drawingml/2006/main">
              <a:ext uri="{FF2B5EF4-FFF2-40B4-BE49-F238E27FC236}">
                <a16:creationId xmlns:a16="http://schemas.microsoft.com/office/drawing/2014/main" id="{43297E99-37E6-45F7-8B2D-F3B17478785B}"/>
              </a:ext>
            </a:extLst>
          </p:cNvPr>
          <p:cNvSpPr>
            <a:spLocks xmlns:a="http://schemas.openxmlformats.org/drawingml/2006/main" noGrp="1"/>
          </p:cNvSpPr>
          <p:nvPr/>
        </p:nvSpPr>
        <p:spPr>
          <a:xfrm xmlns:a="http://schemas.openxmlformats.org/drawingml/2006/main">
            <a:off x="800100" y="97155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A9B9C8"/>
                </a:solidFill>
                <a:latin typeface="Arial"/>
                <a:ea typeface="Arial"/>
                <a:cs typeface="Arial"/>
              </a:defRPr>
            </a:pPr>
            <a:r>
              <a:rPr sz="1350" b="0">
                <a:solidFill>
                  <a:srgbClr val="A9B9C8"/>
                </a:solidFill>
                <a:latin typeface="Arial"/>
                <a:ea typeface="Arial"/>
                <a:cs typeface="Arial"/>
              </a:rPr>
              <a:t>A feature is simply a piece of information the model can use.</a:t>
            </a:r>
          </a:p>
        </p:txBody>
      </p:sp>
      <p:sp>
        <p:nvSpPr>
          <p:cNvPr id="5" name="">
            <a:extLst xmlns:a="http://schemas.openxmlformats.org/drawingml/2006/main">
              <a:ext uri="{FF2B5EF4-FFF2-40B4-BE49-F238E27FC236}">
                <a16:creationId xmlns:a16="http://schemas.microsoft.com/office/drawing/2014/main" id="{4A5C35AD-D36C-4A4B-B7C6-9FFF24B86C10}"/>
              </a:ext>
            </a:extLst>
          </p:cNvPr>
          <p:cNvSpPr>
            <a:spLocks xmlns:a="http://schemas.openxmlformats.org/drawingml/2006/main" noGrp="1"/>
          </p:cNvSpPr>
          <p:nvPr/>
        </p:nvSpPr>
        <p:spPr>
          <a:xfrm xmlns:a="http://schemas.openxmlformats.org/drawingml/2006/main">
            <a:off x="10706100" y="2952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75899D"/>
                </a:solidFill>
                <a:latin typeface="Arial"/>
                <a:ea typeface="Arial"/>
                <a:cs typeface="Arial"/>
              </a:defRPr>
            </a:pPr>
            <a:r>
              <a:rPr sz="1050" b="1">
                <a:solidFill>
                  <a:srgbClr val="75899D"/>
                </a:solidFill>
                <a:latin typeface="Arial"/>
                <a:ea typeface="Arial"/>
                <a:cs typeface="Arial"/>
              </a:rPr>
              <a:t>05 / 09</a:t>
            </a:r>
          </a:p>
        </p:txBody>
      </p:sp>
      <p:sp>
        <p:nvSpPr>
          <p:cNvPr id="6" name="">
            <a:extLst xmlns:a="http://schemas.openxmlformats.org/drawingml/2006/main">
              <a:ext uri="{FF2B5EF4-FFF2-40B4-BE49-F238E27FC236}">
                <a16:creationId xmlns:a16="http://schemas.microsoft.com/office/drawing/2014/main" id="{5B0C0799-AB47-43EE-88A0-E579D1B2D5D3}"/>
              </a:ext>
            </a:extLst>
          </p:cNvPr>
          <p:cNvSpPr>
            <a:spLocks xmlns:a="http://schemas.openxmlformats.org/drawingml/2006/main" noGrp="1"/>
          </p:cNvSpPr>
          <p:nvPr/>
        </p:nvSpPr>
        <p:spPr>
          <a:xfrm xmlns:a="http://schemas.openxmlformats.org/drawingml/2006/main">
            <a:off x="723900" y="1685925"/>
            <a:ext cx="2247900" cy="666750"/>
          </a:xfrm>
          <a:prstGeom xmlns:a="http://schemas.openxmlformats.org/drawingml/2006/main" prst="roundRect">
            <a:avLst>
              <a:gd name="adj" fmla="val 17143"/>
            </a:avLst>
          </a:prstGeom>
          <a:solidFill xmlns:a="http://schemas.openxmlformats.org/drawingml/2006/main">
            <a:srgbClr val="2CCCE4"/>
          </a:solidFill>
          <a:ln xmlns:a="http://schemas.openxmlformats.org/drawingml/2006/main" w="0">
            <a:solidFill>
              <a:srgbClr val="2CCCE4"/>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lnSpc>
                <a:spcPct val="100000"/>
              </a:lnSpc>
              <a:buNone/>
              <a:defRPr sz="1800" b="1">
                <a:solidFill>
                  <a:srgbClr val="061321"/>
                </a:solidFill>
                <a:latin typeface="Arial"/>
                <a:ea typeface="Arial"/>
                <a:cs typeface="Arial"/>
              </a:defRPr>
            </a:pPr>
            <a:r>
              <a:rPr sz="1800" b="1">
                <a:solidFill>
                  <a:srgbClr val="061321"/>
                </a:solidFill>
                <a:latin typeface="Arial"/>
                <a:ea typeface="Arial"/>
                <a:cs typeface="Arial"/>
              </a:rPr>
              <a:t>RGB IMAGE</a:t>
            </a:r>
          </a:p>
        </p:txBody>
      </p:sp>
      <p:sp>
        <p:nvSpPr>
          <p:cNvPr id="7" name="">
            <a:extLst xmlns:a="http://schemas.openxmlformats.org/drawingml/2006/main">
              <a:ext uri="{FF2B5EF4-FFF2-40B4-BE49-F238E27FC236}">
                <a16:creationId xmlns:a16="http://schemas.microsoft.com/office/drawing/2014/main" id="{EC6C4FDB-2BD4-4929-A783-A81D72504940}"/>
              </a:ext>
            </a:extLst>
          </p:cNvPr>
          <p:cNvSpPr>
            <a:spLocks xmlns:a="http://schemas.openxmlformats.org/drawingml/2006/main" noGrp="1"/>
          </p:cNvSpPr>
          <p:nvPr/>
        </p:nvSpPr>
        <p:spPr>
          <a:xfrm xmlns:a="http://schemas.openxmlformats.org/drawingml/2006/main">
            <a:off x="3257550" y="18097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F7FBFF"/>
                </a:solidFill>
                <a:latin typeface="Arial"/>
                <a:ea typeface="Arial"/>
                <a:cs typeface="Arial"/>
              </a:defRPr>
            </a:pPr>
            <a:r>
              <a:rPr sz="1875" b="1">
                <a:solidFill>
                  <a:srgbClr val="F7FBFF"/>
                </a:solidFill>
                <a:latin typeface="Arial"/>
                <a:ea typeface="Arial"/>
                <a:cs typeface="Arial"/>
              </a:rPr>
              <a:t>What the camera sees</a:t>
            </a:r>
          </a:p>
        </p:txBody>
      </p:sp>
      <p:sp>
        <p:nvSpPr>
          <p:cNvPr id="8" name="">
            <a:extLst xmlns:a="http://schemas.openxmlformats.org/drawingml/2006/main">
              <a:ext uri="{FF2B5EF4-FFF2-40B4-BE49-F238E27FC236}">
                <a16:creationId xmlns:a16="http://schemas.microsoft.com/office/drawing/2014/main" id="{441EC7EE-B066-4EF6-9FB7-DBF3772F574E}"/>
              </a:ext>
            </a:extLst>
          </p:cNvPr>
          <p:cNvSpPr>
            <a:spLocks xmlns:a="http://schemas.openxmlformats.org/drawingml/2006/main" noGrp="1"/>
          </p:cNvSpPr>
          <p:nvPr/>
        </p:nvSpPr>
        <p:spPr>
          <a:xfrm xmlns:a="http://schemas.openxmlformats.org/drawingml/2006/main">
            <a:off x="3257550" y="218122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A9B9C8"/>
                </a:solidFill>
                <a:latin typeface="Arial"/>
                <a:ea typeface="Arial"/>
                <a:cs typeface="Arial"/>
              </a:defRPr>
            </a:pPr>
            <a:r>
              <a:rPr sz="1425" b="0">
                <a:solidFill>
                  <a:srgbClr val="A9B9C8"/>
                </a:solidFill>
                <a:latin typeface="Arial"/>
                <a:ea typeface="Arial"/>
                <a:cs typeface="Arial"/>
              </a:rPr>
              <a:t>Road, people, vehicles, shadows and background.</a:t>
            </a:r>
          </a:p>
        </p:txBody>
      </p:sp>
      <p:sp>
        <p:nvSpPr>
          <p:cNvPr id="9" name="">
            <a:extLst xmlns:a="http://schemas.openxmlformats.org/drawingml/2006/main">
              <a:ext uri="{FF2B5EF4-FFF2-40B4-BE49-F238E27FC236}">
                <a16:creationId xmlns:a16="http://schemas.microsoft.com/office/drawing/2014/main" id="{F2708A50-D36C-4AE8-9148-BAF6C75C7C42}"/>
              </a:ext>
            </a:extLst>
          </p:cNvPr>
          <p:cNvSpPr>
            <a:spLocks xmlns:a="http://schemas.openxmlformats.org/drawingml/2006/main" noGrp="1"/>
          </p:cNvSpPr>
          <p:nvPr/>
        </p:nvSpPr>
        <p:spPr>
          <a:xfrm xmlns:a="http://schemas.openxmlformats.org/drawingml/2006/main">
            <a:off x="723900" y="2647950"/>
            <a:ext cx="10744200" cy="19050"/>
          </a:xfrm>
          <a:prstGeom xmlns:a="http://schemas.openxmlformats.org/drawingml/2006/main" prst="rect">
            <a:avLst/>
          </a:prstGeom>
          <a:solidFill xmlns:a="http://schemas.openxmlformats.org/drawingml/2006/main">
            <a:srgbClr val="23435C"/>
          </a:solidFill>
          <a:ln xmlns:a="http://schemas.openxmlformats.org/drawingml/2006/main" w="0">
            <a:solidFill>
              <a:srgbClr val="23435C"/>
            </a:solidFill>
          </a:ln>
        </p:spPr>
      </p:sp>
      <p:sp>
        <p:nvSpPr>
          <p:cNvPr id="10" name="">
            <a:extLst xmlns:a="http://schemas.openxmlformats.org/drawingml/2006/main">
              <a:ext uri="{FF2B5EF4-FFF2-40B4-BE49-F238E27FC236}">
                <a16:creationId xmlns:a16="http://schemas.microsoft.com/office/drawing/2014/main" id="{713DF00E-744E-4D5D-9369-2D3A2BBA590F}"/>
              </a:ext>
            </a:extLst>
          </p:cNvPr>
          <p:cNvSpPr>
            <a:spLocks xmlns:a="http://schemas.openxmlformats.org/drawingml/2006/main" noGrp="1"/>
          </p:cNvSpPr>
          <p:nvPr/>
        </p:nvSpPr>
        <p:spPr>
          <a:xfrm xmlns:a="http://schemas.openxmlformats.org/drawingml/2006/main">
            <a:off x="723900" y="2981325"/>
            <a:ext cx="2247900" cy="666750"/>
          </a:xfrm>
          <a:prstGeom xmlns:a="http://schemas.openxmlformats.org/drawingml/2006/main" prst="roundRect">
            <a:avLst>
              <a:gd name="adj" fmla="val 17143"/>
            </a:avLst>
          </a:prstGeom>
          <a:solidFill xmlns:a="http://schemas.openxmlformats.org/drawingml/2006/main">
            <a:srgbClr val="FFB84D"/>
          </a:solidFill>
          <a:ln xmlns:a="http://schemas.openxmlformats.org/drawingml/2006/main" w="0">
            <a:solidFill>
              <a:srgbClr val="FFB84D"/>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lnSpc>
                <a:spcPct val="100000"/>
              </a:lnSpc>
              <a:buNone/>
              <a:defRPr sz="1800" b="1">
                <a:solidFill>
                  <a:srgbClr val="061321"/>
                </a:solidFill>
                <a:latin typeface="Arial"/>
                <a:ea typeface="Arial"/>
                <a:cs typeface="Arial"/>
              </a:defRPr>
            </a:pPr>
            <a:r>
              <a:rPr sz="1800" b="1">
                <a:solidFill>
                  <a:srgbClr val="061321"/>
                </a:solidFill>
                <a:latin typeface="Arial"/>
                <a:ea typeface="Arial"/>
                <a:cs typeface="Arial"/>
              </a:rPr>
              <a:t>1 VALUE</a:t>
            </a:r>
          </a:p>
        </p:txBody>
      </p:sp>
      <p:sp>
        <p:nvSpPr>
          <p:cNvPr id="11" name="">
            <a:extLst xmlns:a="http://schemas.openxmlformats.org/drawingml/2006/main">
              <a:ext uri="{FF2B5EF4-FFF2-40B4-BE49-F238E27FC236}">
                <a16:creationId xmlns:a16="http://schemas.microsoft.com/office/drawing/2014/main" id="{06AC4CA4-D16C-4E68-A151-C37B2793B67A}"/>
              </a:ext>
            </a:extLst>
          </p:cNvPr>
          <p:cNvSpPr>
            <a:spLocks xmlns:a="http://schemas.openxmlformats.org/drawingml/2006/main" noGrp="1"/>
          </p:cNvSpPr>
          <p:nvPr/>
        </p:nvSpPr>
        <p:spPr>
          <a:xfrm xmlns:a="http://schemas.openxmlformats.org/drawingml/2006/main">
            <a:off x="3257550" y="30289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F7FBFF"/>
                </a:solidFill>
                <a:latin typeface="Arial"/>
                <a:ea typeface="Arial"/>
                <a:cs typeface="Arial"/>
              </a:defRPr>
            </a:pPr>
            <a:r>
              <a:rPr sz="1875" b="1">
                <a:solidFill>
                  <a:srgbClr val="F7FBFF"/>
                </a:solidFill>
                <a:latin typeface="Arial"/>
                <a:ea typeface="Arial"/>
                <a:cs typeface="Arial"/>
              </a:rPr>
              <a:t>Height</a:t>
            </a:r>
          </a:p>
        </p:txBody>
      </p:sp>
      <p:sp>
        <p:nvSpPr>
          <p:cNvPr id="12" name="">
            <a:extLst xmlns:a="http://schemas.openxmlformats.org/drawingml/2006/main">
              <a:ext uri="{FF2B5EF4-FFF2-40B4-BE49-F238E27FC236}">
                <a16:creationId xmlns:a16="http://schemas.microsoft.com/office/drawing/2014/main" id="{7FA2D5CC-3981-41BA-8B0A-5D44D4770DE3}"/>
              </a:ext>
            </a:extLst>
          </p:cNvPr>
          <p:cNvSpPr>
            <a:spLocks xmlns:a="http://schemas.openxmlformats.org/drawingml/2006/main" noGrp="1"/>
          </p:cNvSpPr>
          <p:nvPr/>
        </p:nvSpPr>
        <p:spPr>
          <a:xfrm xmlns:a="http://schemas.openxmlformats.org/drawingml/2006/main">
            <a:off x="3257550" y="340042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A9B9C8"/>
                </a:solidFill>
                <a:latin typeface="Arial"/>
                <a:ea typeface="Arial"/>
                <a:cs typeface="Arial"/>
              </a:defRPr>
            </a:pPr>
            <a:r>
              <a:rPr sz="1425" b="0">
                <a:solidFill>
                  <a:srgbClr val="A9B9C8"/>
                </a:solidFill>
                <a:latin typeface="Arial"/>
                <a:ea typeface="Arial"/>
                <a:cs typeface="Arial"/>
              </a:rPr>
              <a:t>How high the drone is above the scene.</a:t>
            </a:r>
          </a:p>
        </p:txBody>
      </p:sp>
      <p:sp>
        <p:nvSpPr>
          <p:cNvPr id="13" name="">
            <a:extLst xmlns:a="http://schemas.openxmlformats.org/drawingml/2006/main">
              <a:ext uri="{FF2B5EF4-FFF2-40B4-BE49-F238E27FC236}">
                <a16:creationId xmlns:a16="http://schemas.microsoft.com/office/drawing/2014/main" id="{D054D4C2-77DE-4823-B45C-8388566F4CCE}"/>
              </a:ext>
            </a:extLst>
          </p:cNvPr>
          <p:cNvSpPr>
            <a:spLocks xmlns:a="http://schemas.openxmlformats.org/drawingml/2006/main" noGrp="1"/>
          </p:cNvSpPr>
          <p:nvPr/>
        </p:nvSpPr>
        <p:spPr>
          <a:xfrm xmlns:a="http://schemas.openxmlformats.org/drawingml/2006/main">
            <a:off x="723900" y="3943350"/>
            <a:ext cx="10744200" cy="19050"/>
          </a:xfrm>
          <a:prstGeom xmlns:a="http://schemas.openxmlformats.org/drawingml/2006/main" prst="rect">
            <a:avLst/>
          </a:prstGeom>
          <a:solidFill xmlns:a="http://schemas.openxmlformats.org/drawingml/2006/main">
            <a:srgbClr val="23435C"/>
          </a:solidFill>
          <a:ln xmlns:a="http://schemas.openxmlformats.org/drawingml/2006/main" w="0">
            <a:solidFill>
              <a:srgbClr val="23435C"/>
            </a:solidFill>
          </a:ln>
        </p:spPr>
      </p:sp>
      <p:sp>
        <p:nvSpPr>
          <p:cNvPr id="14" name="">
            <a:extLst xmlns:a="http://schemas.openxmlformats.org/drawingml/2006/main">
              <a:ext uri="{FF2B5EF4-FFF2-40B4-BE49-F238E27FC236}">
                <a16:creationId xmlns:a16="http://schemas.microsoft.com/office/drawing/2014/main" id="{01207F00-45C4-418E-9145-4422E8878C0E}"/>
              </a:ext>
            </a:extLst>
          </p:cNvPr>
          <p:cNvSpPr>
            <a:spLocks xmlns:a="http://schemas.openxmlformats.org/drawingml/2006/main" noGrp="1"/>
          </p:cNvSpPr>
          <p:nvPr/>
        </p:nvSpPr>
        <p:spPr>
          <a:xfrm xmlns:a="http://schemas.openxmlformats.org/drawingml/2006/main">
            <a:off x="723900" y="4276725"/>
            <a:ext cx="2247900" cy="666750"/>
          </a:xfrm>
          <a:prstGeom xmlns:a="http://schemas.openxmlformats.org/drawingml/2006/main" prst="roundRect">
            <a:avLst>
              <a:gd name="adj" fmla="val 17143"/>
            </a:avLst>
          </a:prstGeom>
          <a:solidFill xmlns:a="http://schemas.openxmlformats.org/drawingml/2006/main">
            <a:srgbClr val="5DE1A7"/>
          </a:solidFill>
          <a:ln xmlns:a="http://schemas.openxmlformats.org/drawingml/2006/main" w="0">
            <a:solidFill>
              <a:srgbClr val="5DE1A7"/>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lnSpc>
                <a:spcPct val="100000"/>
              </a:lnSpc>
              <a:buNone/>
              <a:defRPr sz="1800" b="1">
                <a:solidFill>
                  <a:srgbClr val="061321"/>
                </a:solidFill>
                <a:latin typeface="Arial"/>
                <a:ea typeface="Arial"/>
                <a:cs typeface="Arial"/>
              </a:defRPr>
            </a:pPr>
            <a:r>
              <a:rPr sz="1800" b="1">
                <a:solidFill>
                  <a:srgbClr val="061321"/>
                </a:solidFill>
                <a:latin typeface="Arial"/>
                <a:ea typeface="Arial"/>
                <a:cs typeface="Arial"/>
              </a:rPr>
              <a:t>3 VALUES</a:t>
            </a:r>
          </a:p>
        </p:txBody>
      </p:sp>
      <p:sp>
        <p:nvSpPr>
          <p:cNvPr id="15" name="">
            <a:extLst xmlns:a="http://schemas.openxmlformats.org/drawingml/2006/main">
              <a:ext uri="{FF2B5EF4-FFF2-40B4-BE49-F238E27FC236}">
                <a16:creationId xmlns:a16="http://schemas.microsoft.com/office/drawing/2014/main" id="{8F428C62-420A-4590-98A1-86135D4C55CC}"/>
              </a:ext>
            </a:extLst>
          </p:cNvPr>
          <p:cNvSpPr>
            <a:spLocks xmlns:a="http://schemas.openxmlformats.org/drawingml/2006/main" noGrp="1"/>
          </p:cNvSpPr>
          <p:nvPr/>
        </p:nvSpPr>
        <p:spPr>
          <a:xfrm xmlns:a="http://schemas.openxmlformats.org/drawingml/2006/main">
            <a:off x="3257550" y="43243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F7FBFF"/>
                </a:solidFill>
                <a:latin typeface="Arial"/>
                <a:ea typeface="Arial"/>
                <a:cs typeface="Arial"/>
              </a:defRPr>
            </a:pPr>
            <a:r>
              <a:rPr sz="1875" b="1">
                <a:solidFill>
                  <a:srgbClr val="F7FBFF"/>
                </a:solidFill>
                <a:latin typeface="Arial"/>
                <a:ea typeface="Arial"/>
                <a:cs typeface="Arial"/>
              </a:rPr>
              <a:t>Velocity x / y / z</a:t>
            </a:r>
          </a:p>
        </p:txBody>
      </p:sp>
      <p:sp>
        <p:nvSpPr>
          <p:cNvPr id="16" name="">
            <a:extLst xmlns:a="http://schemas.openxmlformats.org/drawingml/2006/main">
              <a:ext uri="{FF2B5EF4-FFF2-40B4-BE49-F238E27FC236}">
                <a16:creationId xmlns:a16="http://schemas.microsoft.com/office/drawing/2014/main" id="{3786D89E-E326-4B57-8952-A1A394EC1BAB}"/>
              </a:ext>
            </a:extLst>
          </p:cNvPr>
          <p:cNvSpPr>
            <a:spLocks xmlns:a="http://schemas.openxmlformats.org/drawingml/2006/main" noGrp="1"/>
          </p:cNvSpPr>
          <p:nvPr/>
        </p:nvSpPr>
        <p:spPr>
          <a:xfrm xmlns:a="http://schemas.openxmlformats.org/drawingml/2006/main">
            <a:off x="3257550" y="469582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A9B9C8"/>
                </a:solidFill>
                <a:latin typeface="Arial"/>
                <a:ea typeface="Arial"/>
                <a:cs typeface="Arial"/>
              </a:defRPr>
            </a:pPr>
            <a:r>
              <a:rPr sz="1425" b="0">
                <a:solidFill>
                  <a:srgbClr val="A9B9C8"/>
                </a:solidFill>
                <a:latin typeface="Arial"/>
                <a:ea typeface="Arial"/>
                <a:cs typeface="Arial"/>
              </a:rPr>
              <a:t>How the drone is moving in three directions.</a:t>
            </a:r>
          </a:p>
        </p:txBody>
      </p:sp>
      <p:sp>
        <p:nvSpPr>
          <p:cNvPr id="17" name="">
            <a:extLst xmlns:a="http://schemas.openxmlformats.org/drawingml/2006/main">
              <a:ext uri="{FF2B5EF4-FFF2-40B4-BE49-F238E27FC236}">
                <a16:creationId xmlns:a16="http://schemas.microsoft.com/office/drawing/2014/main" id="{A7CB4F24-88E4-4787-A04C-5D76157A26E1}"/>
              </a:ext>
            </a:extLst>
          </p:cNvPr>
          <p:cNvSpPr>
            <a:spLocks xmlns:a="http://schemas.openxmlformats.org/drawingml/2006/main" noGrp="1"/>
          </p:cNvSpPr>
          <p:nvPr/>
        </p:nvSpPr>
        <p:spPr>
          <a:xfrm xmlns:a="http://schemas.openxmlformats.org/drawingml/2006/main">
            <a:off x="723900" y="5343525"/>
            <a:ext cx="2247900" cy="666750"/>
          </a:xfrm>
          <a:prstGeom xmlns:a="http://schemas.openxmlformats.org/drawingml/2006/main" prst="roundRect">
            <a:avLst>
              <a:gd name="adj" fmla="val 17143"/>
            </a:avLst>
          </a:prstGeom>
          <a:solidFill xmlns:a="http://schemas.openxmlformats.org/drawingml/2006/main">
            <a:srgbClr val="102A43"/>
          </a:solidFill>
          <a:ln xmlns:a="http://schemas.openxmlformats.org/drawingml/2006/main" w="9525">
            <a:solidFill>
              <a:srgbClr val="2CCCE4"/>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lnSpc>
                <a:spcPct val="100000"/>
              </a:lnSpc>
              <a:buNone/>
              <a:defRPr sz="1800" b="1">
                <a:solidFill>
                  <a:srgbClr val="7BE4F3"/>
                </a:solidFill>
                <a:latin typeface="Arial"/>
                <a:ea typeface="Arial"/>
                <a:cs typeface="Arial"/>
              </a:defRPr>
            </a:pPr>
            <a:r>
              <a:rPr sz="1800" b="1">
                <a:solidFill>
                  <a:srgbClr val="7BE4F3"/>
                </a:solidFill>
                <a:latin typeface="Arial"/>
                <a:ea typeface="Arial"/>
                <a:cs typeface="Arial"/>
              </a:rPr>
              <a:t>4 VALUES</a:t>
            </a:r>
          </a:p>
        </p:txBody>
      </p:sp>
      <p:sp>
        <p:nvSpPr>
          <p:cNvPr id="18" name="">
            <a:extLst xmlns:a="http://schemas.openxmlformats.org/drawingml/2006/main">
              <a:ext uri="{FF2B5EF4-FFF2-40B4-BE49-F238E27FC236}">
                <a16:creationId xmlns:a16="http://schemas.microsoft.com/office/drawing/2014/main" id="{6FAB4DA1-7C06-4325-9461-49896FF3021E}"/>
              </a:ext>
            </a:extLst>
          </p:cNvPr>
          <p:cNvSpPr>
            <a:spLocks xmlns:a="http://schemas.openxmlformats.org/drawingml/2006/main" noGrp="1"/>
          </p:cNvSpPr>
          <p:nvPr/>
        </p:nvSpPr>
        <p:spPr>
          <a:xfrm xmlns:a="http://schemas.openxmlformats.org/drawingml/2006/main">
            <a:off x="3257550" y="5391150"/>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F7FBFF"/>
                </a:solidFill>
                <a:latin typeface="Arial"/>
                <a:ea typeface="Arial"/>
                <a:cs typeface="Arial"/>
              </a:defRPr>
            </a:pPr>
            <a:r>
              <a:rPr sz="1875" b="1">
                <a:solidFill>
                  <a:srgbClr val="F7FBFF"/>
                </a:solidFill>
                <a:latin typeface="Arial"/>
                <a:ea typeface="Arial"/>
                <a:cs typeface="Arial"/>
              </a:rPr>
              <a:t>Roll, pitch, sin(yaw), cos(yaw)</a:t>
            </a:r>
          </a:p>
        </p:txBody>
      </p:sp>
      <p:sp>
        <p:nvSpPr>
          <p:cNvPr id="19" name="">
            <a:extLst xmlns:a="http://schemas.openxmlformats.org/drawingml/2006/main">
              <a:ext uri="{FF2B5EF4-FFF2-40B4-BE49-F238E27FC236}">
                <a16:creationId xmlns:a16="http://schemas.microsoft.com/office/drawing/2014/main" id="{4ED9A180-9C5E-4067-9F17-3D034B862DD8}"/>
              </a:ext>
            </a:extLst>
          </p:cNvPr>
          <p:cNvSpPr>
            <a:spLocks xmlns:a="http://schemas.openxmlformats.org/drawingml/2006/main" noGrp="1"/>
          </p:cNvSpPr>
          <p:nvPr/>
        </p:nvSpPr>
        <p:spPr>
          <a:xfrm xmlns:a="http://schemas.openxmlformats.org/drawingml/2006/main">
            <a:off x="3257550" y="576262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A9B9C8"/>
                </a:solidFill>
                <a:latin typeface="Arial"/>
                <a:ea typeface="Arial"/>
                <a:cs typeface="Arial"/>
              </a:defRPr>
            </a:pPr>
            <a:r>
              <a:rPr sz="1425" b="0">
                <a:solidFill>
                  <a:srgbClr val="A9B9C8"/>
                </a:solidFill>
                <a:latin typeface="Arial"/>
                <a:ea typeface="Arial"/>
                <a:cs typeface="Arial"/>
              </a:rPr>
              <a:t>How the drone is tilted and facing. Sine/cosine avoids the 360° wrap-around problem.</a:t>
            </a:r>
          </a:p>
        </p:txBody>
      </p:sp>
      <p:sp>
        <p:nvSpPr>
          <p:cNvPr id="20" name="">
            <a:extLst xmlns:a="http://schemas.openxmlformats.org/drawingml/2006/main">
              <a:ext uri="{FF2B5EF4-FFF2-40B4-BE49-F238E27FC236}">
                <a16:creationId xmlns:a16="http://schemas.microsoft.com/office/drawing/2014/main" id="{4FC84AF3-068C-4B1E-AECC-92FACFCE24E9}"/>
              </a:ext>
            </a:extLst>
          </p:cNvPr>
          <p:cNvSpPr>
            <a:spLocks xmlns:a="http://schemas.openxmlformats.org/drawingml/2006/main" noGrp="1"/>
          </p:cNvSpPr>
          <p:nvPr/>
        </p:nvSpPr>
        <p:spPr>
          <a:xfrm xmlns:a="http://schemas.openxmlformats.org/drawingml/2006/main">
            <a:off x="7734300" y="2981325"/>
            <a:ext cx="3733800" cy="1971675"/>
          </a:xfrm>
          <a:prstGeom xmlns:a="http://schemas.openxmlformats.org/drawingml/2006/main" prst="roundRect">
            <a:avLst>
              <a:gd name="adj" fmla="val 5797"/>
            </a:avLst>
          </a:prstGeom>
          <a:solidFill xmlns:a="http://schemas.openxmlformats.org/drawingml/2006/main">
            <a:srgbClr val="0B2034"/>
          </a:solidFill>
          <a:ln xmlns:a="http://schemas.openxmlformats.org/drawingml/2006/main" w="9525">
            <a:solidFill>
              <a:srgbClr val="23435C"/>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lnSpc>
                <a:spcPct val="100000"/>
              </a:lnSpc>
              <a:buNone/>
              <a:defRPr sz="1500" b="1">
                <a:solidFill>
                  <a:srgbClr val="A9B9C8"/>
                </a:solidFill>
                <a:latin typeface="Arial"/>
                <a:ea typeface="Arial"/>
                <a:cs typeface="Arial"/>
              </a:defRPr>
            </a:pPr>
            <a:r>
              <a:rPr sz="1500" b="1">
                <a:solidFill>
                  <a:srgbClr val="A9B9C8"/>
                </a:solidFill>
                <a:latin typeface="Arial"/>
                <a:ea typeface="Arial"/>
                <a:cs typeface="Arial"/>
              </a:rPr>
              <a:t>NOT FED TO THE MODEL: GPS position · date/time · filename · platform clues</a:t>
            </a:r>
          </a:p>
        </p:txBody>
      </p:sp>
    </p:spTree>
    <p:extLst>
      <p:ext uri="{BB962C8B-B14F-4D97-AF65-F5344CB8AC3E}">
        <p14:creationId xmlns:p14="http://schemas.microsoft.com/office/powerpoint/2010/main" val="18078917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41508C02-AAA5-4870-9A6C-14071A018B48}"/>
              </a:ext>
            </a:extLst>
          </p:cNvPr>
          <p:cNvSpPr>
            <a:spLocks xmlns:a="http://schemas.openxmlformats.org/drawingml/2006/main" noGrp="1"/>
          </p:cNvSpPr>
          <p:nvPr/>
        </p:nvSpPr>
        <p:spPr>
          <a:xfrm xmlns:a="http://schemas.openxmlformats.org/drawingml/2006/main">
            <a:off x="10706100" y="2952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75899D"/>
                </a:solidFill>
                <a:latin typeface="Arial"/>
                <a:ea typeface="Arial"/>
                <a:cs typeface="Arial"/>
              </a:defRPr>
            </a:pPr>
            <a:r>
              <a:rPr sz="1050" b="1">
                <a:solidFill>
                  <a:srgbClr val="75899D"/>
                </a:solidFill>
                <a:latin typeface="Arial"/>
                <a:ea typeface="Arial"/>
                <a:cs typeface="Arial"/>
              </a:rPr>
              <a:t>06 / 09</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2b56ec3664aa403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284777446"/>
      </p:ext>
    </p:extLst>
  </p:cSld>
</p:sld>
</file>

<file path=ppt/slides/slide7.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500095E-2E37-4EED-A102-04ADD554DAD6}"/>
              </a:ext>
            </a:extLst>
          </p:cNvPr>
          <p:cNvSpPr>
            <a:spLocks xmlns:a="http://schemas.openxmlformats.org/drawingml/2006/main" noGrp="1"/>
          </p:cNvSpPr>
          <p:nvPr/>
        </p:nvSpPr>
        <p:spPr>
          <a:xfrm xmlns:a="http://schemas.openxmlformats.org/drawingml/2006/main">
            <a:off x="10706100" y="2952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75899D"/>
                </a:solidFill>
                <a:latin typeface="Arial"/>
                <a:ea typeface="Arial"/>
                <a:cs typeface="Arial"/>
              </a:defRPr>
            </a:pPr>
            <a:r>
              <a:rPr sz="1050" b="1">
                <a:solidFill>
                  <a:srgbClr val="75899D"/>
                </a:solidFill>
                <a:latin typeface="Arial"/>
                <a:ea typeface="Arial"/>
                <a:cs typeface="Arial"/>
              </a:rPr>
              <a:t>07 / 09</a:t>
            </a:r>
          </a:p>
        </p:txBody>
      </p:sp>
      <p:sp>
        <p:nvSpPr>
          <p:cNvPr id="2" name="">
            <a:extLst xmlns:a="http://schemas.openxmlformats.org/drawingml/2006/main">
              <a:ext uri="{FF2B5EF4-FFF2-40B4-BE49-F238E27FC236}">
                <a16:creationId xmlns:a16="http://schemas.microsoft.com/office/drawing/2014/main" id="{4141AE91-6444-41FF-899F-6E8479D9BAF3}"/>
              </a:ext>
            </a:extLst>
          </p:cNvPr>
          <p:cNvSpPr>
            <a:spLocks xmlns:a="http://schemas.openxmlformats.org/drawingml/2006/main" noGrp="1"/>
          </p:cNvSpPr>
          <p:nvPr/>
        </p:nvSpPr>
        <p:spPr>
          <a:xfrm xmlns:a="http://schemas.openxmlformats.org/drawingml/2006/main">
            <a:off x="533400" y="485775"/>
            <a:ext cx="76200" cy="457200"/>
          </a:xfrm>
          <a:prstGeom xmlns:a="http://schemas.openxmlformats.org/drawingml/2006/main" prst="rect">
            <a:avLst/>
          </a:prstGeom>
          <a:solidFill xmlns:a="http://schemas.openxmlformats.org/drawingml/2006/main">
            <a:srgbClr val="2CCCE4"/>
          </a:solidFill>
          <a:ln xmlns:a="http://schemas.openxmlformats.org/drawingml/2006/main" w="0">
            <a:solidFill>
              <a:srgbClr val="2CCCE4"/>
            </a:solidFill>
          </a:ln>
        </p:spPr>
      </p:sp>
      <p:sp>
        <p:nvSpPr>
          <p:cNvPr id="3" name="">
            <a:extLst xmlns:a="http://schemas.openxmlformats.org/drawingml/2006/main">
              <a:ext uri="{FF2B5EF4-FFF2-40B4-BE49-F238E27FC236}">
                <a16:creationId xmlns:a16="http://schemas.microsoft.com/office/drawing/2014/main" id="{6E9391C3-05D1-450A-BE09-D8056BCF0E46}"/>
              </a:ext>
            </a:extLst>
          </p:cNvPr>
          <p:cNvSpPr>
            <a:spLocks xmlns:a="http://schemas.openxmlformats.org/drawingml/2006/main" noGrp="1"/>
          </p:cNvSpPr>
          <p:nvPr/>
        </p:nvSpPr>
        <p:spPr>
          <a:xfrm xmlns:a="http://schemas.openxmlformats.org/drawingml/2006/main">
            <a:off x="800100" y="41910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850" b="1">
                <a:solidFill>
                  <a:srgbClr val="F7FBFF"/>
                </a:solidFill>
                <a:latin typeface="Arial"/>
                <a:ea typeface="Arial"/>
                <a:cs typeface="Arial"/>
              </a:defRPr>
            </a:pPr>
            <a:r>
              <a:rPr sz="2850" b="1">
                <a:solidFill>
                  <a:srgbClr val="F7FBFF"/>
                </a:solidFill>
                <a:latin typeface="Arial"/>
                <a:ea typeface="Arial"/>
                <a:cs typeface="Arial"/>
              </a:rPr>
              <a:t>Early development result</a:t>
            </a:r>
          </a:p>
        </p:txBody>
      </p:sp>
      <p:sp>
        <p:nvSpPr>
          <p:cNvPr id="4" name="">
            <a:extLst xmlns:a="http://schemas.openxmlformats.org/drawingml/2006/main">
              <a:ext uri="{FF2B5EF4-FFF2-40B4-BE49-F238E27FC236}">
                <a16:creationId xmlns:a16="http://schemas.microsoft.com/office/drawing/2014/main" id="{24C485D8-4B58-412A-8BFB-1D7006600889}"/>
              </a:ext>
            </a:extLst>
          </p:cNvPr>
          <p:cNvSpPr>
            <a:spLocks xmlns:a="http://schemas.openxmlformats.org/drawingml/2006/main" noGrp="1"/>
          </p:cNvSpPr>
          <p:nvPr/>
        </p:nvSpPr>
        <p:spPr>
          <a:xfrm xmlns:a="http://schemas.openxmlformats.org/drawingml/2006/main">
            <a:off x="800100" y="97155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A9B9C8"/>
                </a:solidFill>
                <a:latin typeface="Arial"/>
                <a:ea typeface="Arial"/>
                <a:cs typeface="Arial"/>
              </a:defRPr>
            </a:pPr>
            <a:r>
              <a:rPr sz="1350" b="0">
                <a:solidFill>
                  <a:srgbClr val="A9B9C8"/>
                </a:solidFill>
                <a:latin typeface="Arial"/>
                <a:ea typeface="Arial"/>
                <a:cs typeface="Arial"/>
              </a:rPr>
              <a:t>One frozen development recording. The final test remains sealed.</a:t>
            </a:r>
          </a:p>
        </p:txBody>
      </p:sp>
      <p:sp>
        <p:nvSpPr>
          <p:cNvPr id="5" name="">
            <a:extLst xmlns:a="http://schemas.openxmlformats.org/drawingml/2006/main">
              <a:ext uri="{FF2B5EF4-FFF2-40B4-BE49-F238E27FC236}">
                <a16:creationId xmlns:a16="http://schemas.microsoft.com/office/drawing/2014/main" id="{BF3A9E91-CADF-485D-9021-926410FFCF56}"/>
              </a:ext>
            </a:extLst>
          </p:cNvPr>
          <p:cNvSpPr>
            <a:spLocks xmlns:a="http://schemas.openxmlformats.org/drawingml/2006/main" noGrp="1"/>
          </p:cNvSpPr>
          <p:nvPr/>
        </p:nvSpPr>
        <p:spPr>
          <a:xfrm xmlns:a="http://schemas.openxmlformats.org/drawingml/2006/main">
            <a:off x="10706100" y="2952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75899D"/>
                </a:solidFill>
                <a:latin typeface="Arial"/>
                <a:ea typeface="Arial"/>
                <a:cs typeface="Arial"/>
              </a:defRPr>
            </a:pPr>
            <a:r>
              <a:rPr sz="1050" b="1">
                <a:solidFill>
                  <a:srgbClr val="75899D"/>
                </a:solidFill>
                <a:latin typeface="Arial"/>
                <a:ea typeface="Arial"/>
                <a:cs typeface="Arial"/>
              </a:rPr>
              <a:t>07 / 09</a:t>
            </a:r>
          </a:p>
        </p:txBody>
      </p:sp>
      <p:sp>
        <p:nvSpPr>
          <p:cNvPr id="6" name="">
            <a:extLst xmlns:a="http://schemas.openxmlformats.org/drawingml/2006/main">
              <a:ext uri="{FF2B5EF4-FFF2-40B4-BE49-F238E27FC236}">
                <a16:creationId xmlns:a16="http://schemas.microsoft.com/office/drawing/2014/main" id="{059A4128-8F63-4E87-ABBB-89B9635D8C82}"/>
              </a:ext>
            </a:extLst>
          </p:cNvPr>
          <p:cNvSpPr>
            <a:spLocks xmlns:a="http://schemas.openxmlformats.org/drawingml/2006/main" noGrp="1"/>
          </p:cNvSpPr>
          <p:nvPr/>
        </p:nvSpPr>
        <p:spPr>
          <a:xfrm xmlns:a="http://schemas.openxmlformats.org/drawingml/2006/main">
            <a:off x="723900" y="163830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250" b="1">
                <a:solidFill>
                  <a:srgbClr val="F7FBFF"/>
                </a:solidFill>
                <a:latin typeface="Arial"/>
                <a:ea typeface="Arial"/>
                <a:cs typeface="Arial"/>
              </a:defRPr>
            </a:pPr>
            <a:r>
              <a:rPr sz="2250" b="1">
                <a:solidFill>
                  <a:srgbClr val="F7FBFF"/>
                </a:solidFill>
                <a:latin typeface="Arial"/>
                <a:ea typeface="Arial"/>
                <a:cs typeface="Arial"/>
              </a:rPr>
              <a:t>Recall</a:t>
            </a:r>
          </a:p>
        </p:txBody>
      </p:sp>
      <p:sp>
        <p:nvSpPr>
          <p:cNvPr id="7" name="">
            <a:extLst xmlns:a="http://schemas.openxmlformats.org/drawingml/2006/main">
              <a:ext uri="{FF2B5EF4-FFF2-40B4-BE49-F238E27FC236}">
                <a16:creationId xmlns:a16="http://schemas.microsoft.com/office/drawing/2014/main" id="{F89FCF10-4467-4C29-92DD-BD5E84F1F687}"/>
              </a:ext>
            </a:extLst>
          </p:cNvPr>
          <p:cNvSpPr>
            <a:spLocks xmlns:a="http://schemas.openxmlformats.org/drawingml/2006/main" noGrp="1"/>
          </p:cNvSpPr>
          <p:nvPr/>
        </p:nvSpPr>
        <p:spPr>
          <a:xfrm xmlns:a="http://schemas.openxmlformats.org/drawingml/2006/main">
            <a:off x="723900" y="206692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A9B9C8"/>
                </a:solidFill>
                <a:latin typeface="Arial"/>
                <a:ea typeface="Arial"/>
                <a:cs typeface="Arial"/>
              </a:defRPr>
            </a:pPr>
            <a:r>
              <a:rPr sz="1425" b="0">
                <a:solidFill>
                  <a:srgbClr val="A9B9C8"/>
                </a:solidFill>
                <a:latin typeface="Arial"/>
                <a:ea typeface="Arial"/>
                <a:cs typeface="Arial"/>
              </a:rPr>
              <a:t>How many labelled objects were found at the fixed confidence setting.</a:t>
            </a:r>
          </a:p>
        </p:txBody>
      </p:sp>
      <p:sp>
        <p:nvSpPr>
          <p:cNvPr id="8" name="">
            <a:extLst xmlns:a="http://schemas.openxmlformats.org/drawingml/2006/main">
              <a:ext uri="{FF2B5EF4-FFF2-40B4-BE49-F238E27FC236}">
                <a16:creationId xmlns:a16="http://schemas.microsoft.com/office/drawing/2014/main" id="{8B121379-2C8F-4F11-8D87-973C350A5D7B}"/>
              </a:ext>
            </a:extLst>
          </p:cNvPr>
          <p:cNvSpPr>
            <a:spLocks xmlns:a="http://schemas.openxmlformats.org/drawingml/2006/main" noGrp="1"/>
          </p:cNvSpPr>
          <p:nvPr/>
        </p:nvSpPr>
        <p:spPr>
          <a:xfrm xmlns:a="http://schemas.openxmlformats.org/drawingml/2006/main">
            <a:off x="723900" y="28575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A9B9C8"/>
                </a:solidFill>
                <a:latin typeface="Arial"/>
                <a:ea typeface="Arial"/>
                <a:cs typeface="Arial"/>
              </a:defRPr>
            </a:pPr>
            <a:r>
              <a:rPr sz="1425" b="1">
                <a:solidFill>
                  <a:srgbClr val="A9B9C8"/>
                </a:solidFill>
                <a:latin typeface="Arial"/>
                <a:ea typeface="Arial"/>
                <a:cs typeface="Arial"/>
              </a:rPr>
              <a:t>E1 · image only</a:t>
            </a:r>
          </a:p>
        </p:txBody>
      </p:sp>
      <p:sp>
        <p:nvSpPr>
          <p:cNvPr id="9" name="">
            <a:extLst xmlns:a="http://schemas.openxmlformats.org/drawingml/2006/main">
              <a:ext uri="{FF2B5EF4-FFF2-40B4-BE49-F238E27FC236}">
                <a16:creationId xmlns:a16="http://schemas.microsoft.com/office/drawing/2014/main" id="{7E2E3232-C3D2-44F0-9B0B-F226DCB45691}"/>
              </a:ext>
            </a:extLst>
          </p:cNvPr>
          <p:cNvSpPr>
            <a:spLocks xmlns:a="http://schemas.openxmlformats.org/drawingml/2006/main" noGrp="1"/>
          </p:cNvSpPr>
          <p:nvPr/>
        </p:nvSpPr>
        <p:spPr>
          <a:xfrm xmlns:a="http://schemas.openxmlformats.org/drawingml/2006/main">
            <a:off x="723900" y="3248025"/>
            <a:ext cx="4762500" cy="361950"/>
          </a:xfrm>
          <a:prstGeom xmlns:a="http://schemas.openxmlformats.org/drawingml/2006/main" prst="rect">
            <a:avLst/>
          </a:prstGeom>
          <a:solidFill xmlns:a="http://schemas.openxmlformats.org/drawingml/2006/main">
            <a:srgbClr val="0B2034"/>
          </a:solidFill>
          <a:ln xmlns:a="http://schemas.openxmlformats.org/drawingml/2006/main" w="0">
            <a:solidFill>
              <a:srgbClr val="0B2034"/>
            </a:solidFill>
          </a:ln>
        </p:spPr>
      </p:sp>
      <p:sp>
        <p:nvSpPr>
          <p:cNvPr id="10" name="">
            <a:extLst xmlns:a="http://schemas.openxmlformats.org/drawingml/2006/main">
              <a:ext uri="{FF2B5EF4-FFF2-40B4-BE49-F238E27FC236}">
                <a16:creationId xmlns:a16="http://schemas.microsoft.com/office/drawing/2014/main" id="{2C6ACA9C-7DD5-499C-9EC4-0A82B93834BE}"/>
              </a:ext>
            </a:extLst>
          </p:cNvPr>
          <p:cNvSpPr>
            <a:spLocks xmlns:a="http://schemas.openxmlformats.org/drawingml/2006/main" noGrp="1"/>
          </p:cNvSpPr>
          <p:nvPr/>
        </p:nvSpPr>
        <p:spPr>
          <a:xfrm xmlns:a="http://schemas.openxmlformats.org/drawingml/2006/main">
            <a:off x="723900" y="3248025"/>
            <a:ext cx="1590675" cy="361950"/>
          </a:xfrm>
          <a:prstGeom xmlns:a="http://schemas.openxmlformats.org/drawingml/2006/main" prst="rect">
            <a:avLst/>
          </a:prstGeom>
          <a:solidFill xmlns:a="http://schemas.openxmlformats.org/drawingml/2006/main">
            <a:srgbClr val="75899D"/>
          </a:solidFill>
          <a:ln xmlns:a="http://schemas.openxmlformats.org/drawingml/2006/main" w="0">
            <a:solidFill>
              <a:srgbClr val="75899D"/>
            </a:solidFill>
          </a:ln>
        </p:spPr>
      </p:sp>
      <p:sp>
        <p:nvSpPr>
          <p:cNvPr id="11" name="">
            <a:extLst xmlns:a="http://schemas.openxmlformats.org/drawingml/2006/main">
              <a:ext uri="{FF2B5EF4-FFF2-40B4-BE49-F238E27FC236}">
                <a16:creationId xmlns:a16="http://schemas.microsoft.com/office/drawing/2014/main" id="{05BC5F37-BFF2-440D-967B-F6E4082F87DE}"/>
              </a:ext>
            </a:extLst>
          </p:cNvPr>
          <p:cNvSpPr>
            <a:spLocks xmlns:a="http://schemas.openxmlformats.org/drawingml/2006/main" noGrp="1"/>
          </p:cNvSpPr>
          <p:nvPr/>
        </p:nvSpPr>
        <p:spPr>
          <a:xfrm xmlns:a="http://schemas.openxmlformats.org/drawingml/2006/main">
            <a:off x="2543175" y="32670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F7FBFF"/>
                </a:solidFill>
                <a:latin typeface="Arial"/>
                <a:ea typeface="Arial"/>
                <a:cs typeface="Arial"/>
              </a:defRPr>
            </a:pPr>
            <a:r>
              <a:rPr sz="1425" b="1">
                <a:solidFill>
                  <a:srgbClr val="F7FBFF"/>
                </a:solidFill>
                <a:latin typeface="Arial"/>
                <a:ea typeface="Arial"/>
                <a:cs typeface="Arial"/>
              </a:rPr>
              <a:t>33.3%  ·  5,624 / 16,873</a:t>
            </a:r>
          </a:p>
        </p:txBody>
      </p:sp>
      <p:sp>
        <p:nvSpPr>
          <p:cNvPr id="12" name="">
            <a:extLst xmlns:a="http://schemas.openxmlformats.org/drawingml/2006/main">
              <a:ext uri="{FF2B5EF4-FFF2-40B4-BE49-F238E27FC236}">
                <a16:creationId xmlns:a16="http://schemas.microsoft.com/office/drawing/2014/main" id="{4EFF3E8B-DD17-4983-A91B-4A27304D8420}"/>
              </a:ext>
            </a:extLst>
          </p:cNvPr>
          <p:cNvSpPr>
            <a:spLocks xmlns:a="http://schemas.openxmlformats.org/drawingml/2006/main" noGrp="1"/>
          </p:cNvSpPr>
          <p:nvPr/>
        </p:nvSpPr>
        <p:spPr>
          <a:xfrm xmlns:a="http://schemas.openxmlformats.org/drawingml/2006/main">
            <a:off x="723900" y="402907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7BE4F3"/>
                </a:solidFill>
                <a:latin typeface="Arial"/>
                <a:ea typeface="Arial"/>
                <a:cs typeface="Arial"/>
              </a:defRPr>
            </a:pPr>
            <a:r>
              <a:rPr sz="1425" b="1">
                <a:solidFill>
                  <a:srgbClr val="7BE4F3"/>
                </a:solidFill>
                <a:latin typeface="Arial"/>
                <a:ea typeface="Arial"/>
                <a:cs typeface="Arial"/>
              </a:rPr>
              <a:t>E2 · image + flight state</a:t>
            </a:r>
          </a:p>
        </p:txBody>
      </p:sp>
      <p:sp>
        <p:nvSpPr>
          <p:cNvPr id="13" name="">
            <a:extLst xmlns:a="http://schemas.openxmlformats.org/drawingml/2006/main">
              <a:ext uri="{FF2B5EF4-FFF2-40B4-BE49-F238E27FC236}">
                <a16:creationId xmlns:a16="http://schemas.microsoft.com/office/drawing/2014/main" id="{3862811E-F732-4794-BDCA-4ADC93011BA9}"/>
              </a:ext>
            </a:extLst>
          </p:cNvPr>
          <p:cNvSpPr>
            <a:spLocks xmlns:a="http://schemas.openxmlformats.org/drawingml/2006/main" noGrp="1"/>
          </p:cNvSpPr>
          <p:nvPr/>
        </p:nvSpPr>
        <p:spPr>
          <a:xfrm xmlns:a="http://schemas.openxmlformats.org/drawingml/2006/main">
            <a:off x="723900" y="4419600"/>
            <a:ext cx="4762500" cy="361950"/>
          </a:xfrm>
          <a:prstGeom xmlns:a="http://schemas.openxmlformats.org/drawingml/2006/main" prst="rect">
            <a:avLst/>
          </a:prstGeom>
          <a:solidFill xmlns:a="http://schemas.openxmlformats.org/drawingml/2006/main">
            <a:srgbClr val="0B2034"/>
          </a:solidFill>
          <a:ln xmlns:a="http://schemas.openxmlformats.org/drawingml/2006/main" w="0">
            <a:solidFill>
              <a:srgbClr val="0B2034"/>
            </a:solidFill>
          </a:ln>
        </p:spPr>
      </p:sp>
      <p:sp>
        <p:nvSpPr>
          <p:cNvPr id="14" name="">
            <a:extLst xmlns:a="http://schemas.openxmlformats.org/drawingml/2006/main">
              <a:ext uri="{FF2B5EF4-FFF2-40B4-BE49-F238E27FC236}">
                <a16:creationId xmlns:a16="http://schemas.microsoft.com/office/drawing/2014/main" id="{0271CC33-739B-4B78-A87F-EC3120766857}"/>
              </a:ext>
            </a:extLst>
          </p:cNvPr>
          <p:cNvSpPr>
            <a:spLocks xmlns:a="http://schemas.openxmlformats.org/drawingml/2006/main" noGrp="1"/>
          </p:cNvSpPr>
          <p:nvPr/>
        </p:nvSpPr>
        <p:spPr>
          <a:xfrm xmlns:a="http://schemas.openxmlformats.org/drawingml/2006/main">
            <a:off x="723900" y="4419600"/>
            <a:ext cx="2352675" cy="361950"/>
          </a:xfrm>
          <a:prstGeom xmlns:a="http://schemas.openxmlformats.org/drawingml/2006/main" prst="rect">
            <a:avLst/>
          </a:prstGeom>
          <a:solidFill xmlns:a="http://schemas.openxmlformats.org/drawingml/2006/main">
            <a:srgbClr val="2CCCE4"/>
          </a:solidFill>
          <a:ln xmlns:a="http://schemas.openxmlformats.org/drawingml/2006/main" w="0">
            <a:solidFill>
              <a:srgbClr val="2CCCE4"/>
            </a:solidFill>
          </a:ln>
        </p:spPr>
      </p:sp>
      <p:sp>
        <p:nvSpPr>
          <p:cNvPr id="15" name="">
            <a:extLst xmlns:a="http://schemas.openxmlformats.org/drawingml/2006/main">
              <a:ext uri="{FF2B5EF4-FFF2-40B4-BE49-F238E27FC236}">
                <a16:creationId xmlns:a16="http://schemas.microsoft.com/office/drawing/2014/main" id="{A7173994-2D57-4193-A2AD-6F272518F349}"/>
              </a:ext>
            </a:extLst>
          </p:cNvPr>
          <p:cNvSpPr>
            <a:spLocks xmlns:a="http://schemas.openxmlformats.org/drawingml/2006/main" noGrp="1"/>
          </p:cNvSpPr>
          <p:nvPr/>
        </p:nvSpPr>
        <p:spPr>
          <a:xfrm xmlns:a="http://schemas.openxmlformats.org/drawingml/2006/main">
            <a:off x="3209925" y="44386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F7FBFF"/>
                </a:solidFill>
                <a:latin typeface="Arial"/>
                <a:ea typeface="Arial"/>
                <a:cs typeface="Arial"/>
              </a:defRPr>
            </a:pPr>
            <a:r>
              <a:rPr sz="1425" b="1">
                <a:solidFill>
                  <a:srgbClr val="F7FBFF"/>
                </a:solidFill>
                <a:latin typeface="Arial"/>
                <a:ea typeface="Arial"/>
                <a:cs typeface="Arial"/>
              </a:rPr>
              <a:t>49.3%  ·  8,322 / 16,873</a:t>
            </a:r>
          </a:p>
        </p:txBody>
      </p:sp>
      <p:sp>
        <p:nvSpPr>
          <p:cNvPr id="16" name="">
            <a:extLst xmlns:a="http://schemas.openxmlformats.org/drawingml/2006/main">
              <a:ext uri="{FF2B5EF4-FFF2-40B4-BE49-F238E27FC236}">
                <a16:creationId xmlns:a16="http://schemas.microsoft.com/office/drawing/2014/main" id="{92124CCE-7DD2-4D8C-B046-D4EF3829E691}"/>
              </a:ext>
            </a:extLst>
          </p:cNvPr>
          <p:cNvSpPr>
            <a:spLocks xmlns:a="http://schemas.openxmlformats.org/drawingml/2006/main" noGrp="1"/>
          </p:cNvSpPr>
          <p:nvPr/>
        </p:nvSpPr>
        <p:spPr>
          <a:xfrm xmlns:a="http://schemas.openxmlformats.org/drawingml/2006/main">
            <a:off x="723900" y="5219700"/>
            <a:ext cx="4762500" cy="590550"/>
          </a:xfrm>
          <a:prstGeom xmlns:a="http://schemas.openxmlformats.org/drawingml/2006/main" prst="roundRect">
            <a:avLst>
              <a:gd name="adj" fmla="val 19355"/>
            </a:avLst>
          </a:prstGeom>
          <a:solidFill xmlns:a="http://schemas.openxmlformats.org/drawingml/2006/main">
            <a:srgbClr val="102A43"/>
          </a:solidFill>
          <a:ln xmlns:a="http://schemas.openxmlformats.org/drawingml/2006/main" w="0">
            <a:solidFill>
              <a:srgbClr val="102A43"/>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lnSpc>
                <a:spcPct val="100000"/>
              </a:lnSpc>
              <a:buNone/>
              <a:defRPr sz="1725" b="1">
                <a:solidFill>
                  <a:srgbClr val="5DE1A7"/>
                </a:solidFill>
                <a:latin typeface="Arial"/>
                <a:ea typeface="Arial"/>
                <a:cs typeface="Arial"/>
              </a:defRPr>
            </a:pPr>
            <a:r>
              <a:rPr sz="1725" b="1">
                <a:solidFill>
                  <a:srgbClr val="5DE1A7"/>
                </a:solidFill>
                <a:latin typeface="Arial"/>
                <a:ea typeface="Arial"/>
                <a:cs typeface="Arial"/>
              </a:rPr>
              <a:t>+2,698 more annotated objects found</a:t>
            </a:r>
          </a:p>
        </p:txBody>
      </p:sp>
      <p:sp>
        <p:nvSpPr>
          <p:cNvPr id="17" name="">
            <a:extLst xmlns:a="http://schemas.openxmlformats.org/drawingml/2006/main">
              <a:ext uri="{FF2B5EF4-FFF2-40B4-BE49-F238E27FC236}">
                <a16:creationId xmlns:a16="http://schemas.microsoft.com/office/drawing/2014/main" id="{9BA787D9-5256-4AA1-8F3C-1DA3AAEA6DF3}"/>
              </a:ext>
            </a:extLst>
          </p:cNvPr>
          <p:cNvSpPr>
            <a:spLocks xmlns:a="http://schemas.openxmlformats.org/drawingml/2006/main" noGrp="1"/>
          </p:cNvSpPr>
          <p:nvPr/>
        </p:nvSpPr>
        <p:spPr>
          <a:xfrm xmlns:a="http://schemas.openxmlformats.org/drawingml/2006/main">
            <a:off x="6229350" y="1676400"/>
            <a:ext cx="5238750" cy="4095750"/>
          </a:xfrm>
          <a:prstGeom xmlns:a="http://schemas.openxmlformats.org/drawingml/2006/main" prst="roundRect">
            <a:avLst>
              <a:gd name="adj" fmla="val 3721"/>
            </a:avLst>
          </a:prstGeom>
          <a:solidFill xmlns:a="http://schemas.openxmlformats.org/drawingml/2006/main">
            <a:srgbClr val="0B2034"/>
          </a:solidFill>
          <a:ln xmlns:a="http://schemas.openxmlformats.org/drawingml/2006/main" w="19050">
            <a:solidFill>
              <a:srgbClr val="23435C"/>
            </a:solidFill>
          </a:ln>
        </p:spPr>
      </p:sp>
      <p:sp>
        <p:nvSpPr>
          <p:cNvPr id="18" name="">
            <a:extLst xmlns:a="http://schemas.openxmlformats.org/drawingml/2006/main">
              <a:ext uri="{FF2B5EF4-FFF2-40B4-BE49-F238E27FC236}">
                <a16:creationId xmlns:a16="http://schemas.microsoft.com/office/drawing/2014/main" id="{346D680F-F83A-4356-8786-81305FCE66EC}"/>
              </a:ext>
            </a:extLst>
          </p:cNvPr>
          <p:cNvSpPr>
            <a:spLocks xmlns:a="http://schemas.openxmlformats.org/drawingml/2006/main" noGrp="1"/>
          </p:cNvSpPr>
          <p:nvPr/>
        </p:nvSpPr>
        <p:spPr>
          <a:xfrm xmlns:a="http://schemas.openxmlformats.org/drawingml/2006/main">
            <a:off x="6629400" y="200025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250" b="1">
                <a:solidFill>
                  <a:srgbClr val="FFB84D"/>
                </a:solidFill>
                <a:latin typeface="Arial"/>
                <a:ea typeface="Arial"/>
                <a:cs typeface="Arial"/>
              </a:defRPr>
            </a:pPr>
            <a:r>
              <a:rPr sz="2250" b="1">
                <a:solidFill>
                  <a:srgbClr val="FFB84D"/>
                </a:solidFill>
                <a:latin typeface="Arial"/>
                <a:ea typeface="Arial"/>
                <a:cs typeface="Arial"/>
              </a:rPr>
              <a:t>AP50</a:t>
            </a:r>
          </a:p>
        </p:txBody>
      </p:sp>
      <p:sp>
        <p:nvSpPr>
          <p:cNvPr id="19" name="">
            <a:extLst xmlns:a="http://schemas.openxmlformats.org/drawingml/2006/main">
              <a:ext uri="{FF2B5EF4-FFF2-40B4-BE49-F238E27FC236}">
                <a16:creationId xmlns:a16="http://schemas.microsoft.com/office/drawing/2014/main" id="{AB76AA66-C121-4693-8FF7-73934EE7B249}"/>
              </a:ext>
            </a:extLst>
          </p:cNvPr>
          <p:cNvSpPr>
            <a:spLocks xmlns:a="http://schemas.openxmlformats.org/drawingml/2006/main" noGrp="1"/>
          </p:cNvSpPr>
          <p:nvPr/>
        </p:nvSpPr>
        <p:spPr>
          <a:xfrm xmlns:a="http://schemas.openxmlformats.org/drawingml/2006/main">
            <a:off x="6629400" y="271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A9B9C8"/>
                </a:solidFill>
                <a:latin typeface="Arial"/>
                <a:ea typeface="Arial"/>
                <a:cs typeface="Arial"/>
              </a:defRPr>
            </a:pPr>
            <a:r>
              <a:rPr sz="1350" b="1">
                <a:solidFill>
                  <a:srgbClr val="A9B9C8"/>
                </a:solidFill>
                <a:latin typeface="Arial"/>
                <a:ea typeface="Arial"/>
                <a:cs typeface="Arial"/>
              </a:rPr>
              <a:t>E1</a:t>
            </a:r>
          </a:p>
        </p:txBody>
      </p:sp>
      <p:sp>
        <p:nvSpPr>
          <p:cNvPr id="20" name="">
            <a:extLst xmlns:a="http://schemas.openxmlformats.org/drawingml/2006/main">
              <a:ext uri="{FF2B5EF4-FFF2-40B4-BE49-F238E27FC236}">
                <a16:creationId xmlns:a16="http://schemas.microsoft.com/office/drawing/2014/main" id="{FB15FB31-7EF9-482B-828B-23C968675138}"/>
              </a:ext>
            </a:extLst>
          </p:cNvPr>
          <p:cNvSpPr>
            <a:spLocks xmlns:a="http://schemas.openxmlformats.org/drawingml/2006/main" noGrp="1"/>
          </p:cNvSpPr>
          <p:nvPr/>
        </p:nvSpPr>
        <p:spPr>
          <a:xfrm xmlns:a="http://schemas.openxmlformats.org/drawingml/2006/main">
            <a:off x="6629400" y="3048000"/>
            <a:ext cx="1952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600" b="1">
                <a:solidFill>
                  <a:srgbClr val="F7FBFF"/>
                </a:solidFill>
                <a:latin typeface="Arial"/>
                <a:ea typeface="Arial"/>
                <a:cs typeface="Arial"/>
              </a:defRPr>
            </a:pPr>
            <a:r>
              <a:rPr sz="3600" b="1">
                <a:solidFill>
                  <a:srgbClr val="F7FBFF"/>
                </a:solidFill>
                <a:latin typeface="Arial"/>
                <a:ea typeface="Arial"/>
                <a:cs typeface="Arial"/>
              </a:rPr>
              <a:t>1.20%</a:t>
            </a:r>
          </a:p>
        </p:txBody>
      </p:sp>
      <p:sp>
        <p:nvSpPr>
          <p:cNvPr id="21" name="">
            <a:extLst xmlns:a="http://schemas.openxmlformats.org/drawingml/2006/main">
              <a:ext uri="{FF2B5EF4-FFF2-40B4-BE49-F238E27FC236}">
                <a16:creationId xmlns:a16="http://schemas.microsoft.com/office/drawing/2014/main" id="{E1355A18-967B-43BE-A872-5DD3C935FCDC}"/>
              </a:ext>
            </a:extLst>
          </p:cNvPr>
          <p:cNvSpPr>
            <a:spLocks xmlns:a="http://schemas.openxmlformats.org/drawingml/2006/main" noGrp="1"/>
          </p:cNvSpPr>
          <p:nvPr/>
        </p:nvSpPr>
        <p:spPr>
          <a:xfrm xmlns:a="http://schemas.openxmlformats.org/drawingml/2006/main">
            <a:off x="8963025" y="271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BE4F3"/>
                </a:solidFill>
                <a:latin typeface="Arial"/>
                <a:ea typeface="Arial"/>
                <a:cs typeface="Arial"/>
              </a:defRPr>
            </a:pPr>
            <a:r>
              <a:rPr sz="1350" b="1">
                <a:solidFill>
                  <a:srgbClr val="7BE4F3"/>
                </a:solidFill>
                <a:latin typeface="Arial"/>
                <a:ea typeface="Arial"/>
                <a:cs typeface="Arial"/>
              </a:rPr>
              <a:t>E2</a:t>
            </a:r>
          </a:p>
        </p:txBody>
      </p:sp>
      <p:sp>
        <p:nvSpPr>
          <p:cNvPr id="22" name="">
            <a:extLst xmlns:a="http://schemas.openxmlformats.org/drawingml/2006/main">
              <a:ext uri="{FF2B5EF4-FFF2-40B4-BE49-F238E27FC236}">
                <a16:creationId xmlns:a16="http://schemas.microsoft.com/office/drawing/2014/main" id="{50CA2D76-203D-44E2-B64B-3D21CCD815B5}"/>
              </a:ext>
            </a:extLst>
          </p:cNvPr>
          <p:cNvSpPr>
            <a:spLocks xmlns:a="http://schemas.openxmlformats.org/drawingml/2006/main" noGrp="1"/>
          </p:cNvSpPr>
          <p:nvPr/>
        </p:nvSpPr>
        <p:spPr>
          <a:xfrm xmlns:a="http://schemas.openxmlformats.org/drawingml/2006/main">
            <a:off x="8963025" y="3048000"/>
            <a:ext cx="1952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600" b="1">
                <a:solidFill>
                  <a:srgbClr val="7BE4F3"/>
                </a:solidFill>
                <a:latin typeface="Arial"/>
                <a:ea typeface="Arial"/>
                <a:cs typeface="Arial"/>
              </a:defRPr>
            </a:pPr>
            <a:r>
              <a:rPr sz="3600" b="1">
                <a:solidFill>
                  <a:srgbClr val="7BE4F3"/>
                </a:solidFill>
                <a:latin typeface="Arial"/>
                <a:ea typeface="Arial"/>
                <a:cs typeface="Arial"/>
              </a:rPr>
              <a:t>6.92%</a:t>
            </a:r>
          </a:p>
        </p:txBody>
      </p:sp>
      <p:sp>
        <p:nvSpPr>
          <p:cNvPr id="23" name="">
            <a:extLst xmlns:a="http://schemas.openxmlformats.org/drawingml/2006/main">
              <a:ext uri="{FF2B5EF4-FFF2-40B4-BE49-F238E27FC236}">
                <a16:creationId xmlns:a16="http://schemas.microsoft.com/office/drawing/2014/main" id="{1C9679D4-B966-4806-BAF1-60F6A1C1E12E}"/>
              </a:ext>
            </a:extLst>
          </p:cNvPr>
          <p:cNvSpPr>
            <a:spLocks xmlns:a="http://schemas.openxmlformats.org/drawingml/2006/main" noGrp="1"/>
          </p:cNvSpPr>
          <p:nvPr/>
        </p:nvSpPr>
        <p:spPr>
          <a:xfrm xmlns:a="http://schemas.openxmlformats.org/drawingml/2006/main">
            <a:off x="6629400" y="3886200"/>
            <a:ext cx="4343400" cy="19050"/>
          </a:xfrm>
          <a:prstGeom xmlns:a="http://schemas.openxmlformats.org/drawingml/2006/main" prst="rect">
            <a:avLst/>
          </a:prstGeom>
          <a:solidFill xmlns:a="http://schemas.openxmlformats.org/drawingml/2006/main">
            <a:srgbClr val="23435C"/>
          </a:solidFill>
          <a:ln xmlns:a="http://schemas.openxmlformats.org/drawingml/2006/main" w="0">
            <a:solidFill>
              <a:srgbClr val="23435C"/>
            </a:solidFill>
          </a:ln>
        </p:spPr>
      </p:sp>
      <p:sp>
        <p:nvSpPr>
          <p:cNvPr id="24" name="">
            <a:extLst xmlns:a="http://schemas.openxmlformats.org/drawingml/2006/main">
              <a:ext uri="{FF2B5EF4-FFF2-40B4-BE49-F238E27FC236}">
                <a16:creationId xmlns:a16="http://schemas.microsoft.com/office/drawing/2014/main" id="{995D28A9-3188-46C8-94AC-CAD0C76C5656}"/>
              </a:ext>
            </a:extLst>
          </p:cNvPr>
          <p:cNvSpPr>
            <a:spLocks xmlns:a="http://schemas.openxmlformats.org/drawingml/2006/main" noGrp="1"/>
          </p:cNvSpPr>
          <p:nvPr/>
        </p:nvSpPr>
        <p:spPr>
          <a:xfrm xmlns:a="http://schemas.openxmlformats.org/drawingml/2006/main">
            <a:off x="6629400" y="4162425"/>
            <a:ext cx="4343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a:solidFill>
                  <a:srgbClr val="A9B9C8"/>
                </a:solidFill>
                <a:latin typeface="Arial"/>
                <a:ea typeface="Arial"/>
                <a:cs typeface="Arial"/>
              </a:defRPr>
            </a:pPr>
            <a:r>
              <a:rPr sz="1425" b="0">
                <a:solidFill>
                  <a:srgbClr val="A9B9C8"/>
                </a:solidFill>
                <a:latin typeface="Arial"/>
                <a:ea typeface="Arial"/>
                <a:cs typeface="Arial"/>
              </a:rPr>
              <a:t>AP50 rewards boxes that overlap the correct object by at least half, across different confidence cut-offs.</a:t>
            </a:r>
          </a:p>
        </p:txBody>
      </p:sp>
      <p:sp>
        <p:nvSpPr>
          <p:cNvPr id="25" name="">
            <a:extLst xmlns:a="http://schemas.openxmlformats.org/drawingml/2006/main">
              <a:ext uri="{FF2B5EF4-FFF2-40B4-BE49-F238E27FC236}">
                <a16:creationId xmlns:a16="http://schemas.microsoft.com/office/drawing/2014/main" id="{7F73416B-573F-40C9-8349-EB3CC7FD871F}"/>
              </a:ext>
            </a:extLst>
          </p:cNvPr>
          <p:cNvSpPr>
            <a:spLocks xmlns:a="http://schemas.openxmlformats.org/drawingml/2006/main" noGrp="1"/>
          </p:cNvSpPr>
          <p:nvPr/>
        </p:nvSpPr>
        <p:spPr>
          <a:xfrm xmlns:a="http://schemas.openxmlformats.org/drawingml/2006/main">
            <a:off x="6629400" y="5076825"/>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FFB84D"/>
                </a:solidFill>
                <a:latin typeface="Arial"/>
                <a:ea typeface="Arial"/>
                <a:cs typeface="Arial"/>
              </a:defRPr>
            </a:pPr>
            <a:r>
              <a:rPr sz="1350" b="1">
                <a:solidFill>
                  <a:srgbClr val="FFB84D"/>
                </a:solidFill>
                <a:latin typeface="Arial"/>
                <a:ea typeface="Arial"/>
                <a:cs typeface="Arial"/>
              </a:rPr>
              <a:t>These scores are still low. This is early Review 1 evidence, not a production claim.</a:t>
            </a:r>
          </a:p>
        </p:txBody>
      </p:sp>
    </p:spTree>
    <p:extLst>
      <p:ext uri="{BB962C8B-B14F-4D97-AF65-F5344CB8AC3E}">
        <p14:creationId xmlns:p14="http://schemas.microsoft.com/office/powerpoint/2010/main" val="1420250462"/>
      </p:ext>
    </p:extLst>
  </p:cSld>
</p:sld>
</file>

<file path=ppt/slides/slide8.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5708665-3278-442C-8C31-B1AC71305834}"/>
              </a:ext>
            </a:extLst>
          </p:cNvPr>
          <p:cNvSpPr>
            <a:spLocks xmlns:a="http://schemas.openxmlformats.org/drawingml/2006/main" noGrp="1"/>
          </p:cNvSpPr>
          <p:nvPr/>
        </p:nvSpPr>
        <p:spPr>
          <a:xfrm xmlns:a="http://schemas.openxmlformats.org/drawingml/2006/main">
            <a:off x="10706100" y="2952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75899D"/>
                </a:solidFill>
                <a:latin typeface="Arial"/>
                <a:ea typeface="Arial"/>
                <a:cs typeface="Arial"/>
              </a:defRPr>
            </a:pPr>
            <a:r>
              <a:rPr sz="1050" b="1">
                <a:solidFill>
                  <a:srgbClr val="75899D"/>
                </a:solidFill>
                <a:latin typeface="Arial"/>
                <a:ea typeface="Arial"/>
                <a:cs typeface="Arial"/>
              </a:rPr>
              <a:t>08 / 09</a:t>
            </a:r>
          </a:p>
        </p:txBody>
      </p:sp>
      <p:sp>
        <p:nvSpPr>
          <p:cNvPr id="2" name="">
            <a:extLst xmlns:a="http://schemas.openxmlformats.org/drawingml/2006/main">
              <a:ext uri="{FF2B5EF4-FFF2-40B4-BE49-F238E27FC236}">
                <a16:creationId xmlns:a16="http://schemas.microsoft.com/office/drawing/2014/main" id="{E748D8C2-282D-42A9-87BE-BF8EC8C3AF17}"/>
              </a:ext>
            </a:extLst>
          </p:cNvPr>
          <p:cNvSpPr>
            <a:spLocks xmlns:a="http://schemas.openxmlformats.org/drawingml/2006/main" noGrp="1"/>
          </p:cNvSpPr>
          <p:nvPr/>
        </p:nvSpPr>
        <p:spPr>
          <a:xfrm xmlns:a="http://schemas.openxmlformats.org/drawingml/2006/main">
            <a:off x="533400" y="485775"/>
            <a:ext cx="76200" cy="457200"/>
          </a:xfrm>
          <a:prstGeom xmlns:a="http://schemas.openxmlformats.org/drawingml/2006/main" prst="rect">
            <a:avLst/>
          </a:prstGeom>
          <a:solidFill xmlns:a="http://schemas.openxmlformats.org/drawingml/2006/main">
            <a:srgbClr val="2CCCE4"/>
          </a:solidFill>
          <a:ln xmlns:a="http://schemas.openxmlformats.org/drawingml/2006/main" w="0">
            <a:solidFill>
              <a:srgbClr val="2CCCE4"/>
            </a:solidFill>
          </a:ln>
        </p:spPr>
      </p:sp>
      <p:sp>
        <p:nvSpPr>
          <p:cNvPr id="3" name="">
            <a:extLst xmlns:a="http://schemas.openxmlformats.org/drawingml/2006/main">
              <a:ext uri="{FF2B5EF4-FFF2-40B4-BE49-F238E27FC236}">
                <a16:creationId xmlns:a16="http://schemas.microsoft.com/office/drawing/2014/main" id="{BF01EA11-31EE-4939-BD4E-4DAFFB7865D6}"/>
              </a:ext>
            </a:extLst>
          </p:cNvPr>
          <p:cNvSpPr>
            <a:spLocks xmlns:a="http://schemas.openxmlformats.org/drawingml/2006/main" noGrp="1"/>
          </p:cNvSpPr>
          <p:nvPr/>
        </p:nvSpPr>
        <p:spPr>
          <a:xfrm xmlns:a="http://schemas.openxmlformats.org/drawingml/2006/main">
            <a:off x="800100" y="41910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850" b="1">
                <a:solidFill>
                  <a:srgbClr val="F7FBFF"/>
                </a:solidFill>
                <a:latin typeface="Arial"/>
                <a:ea typeface="Arial"/>
                <a:cs typeface="Arial"/>
              </a:defRPr>
            </a:pPr>
            <a:r>
              <a:rPr sz="2850" b="1">
                <a:solidFill>
                  <a:srgbClr val="F7FBFF"/>
                </a:solidFill>
                <a:latin typeface="Arial"/>
                <a:ea typeface="Arial"/>
                <a:cs typeface="Arial"/>
              </a:rPr>
              <a:t>Review 1 is a controlled first pass</a:t>
            </a:r>
          </a:p>
        </p:txBody>
      </p:sp>
      <p:sp>
        <p:nvSpPr>
          <p:cNvPr id="4" name="">
            <a:extLst xmlns:a="http://schemas.openxmlformats.org/drawingml/2006/main">
              <a:ext uri="{FF2B5EF4-FFF2-40B4-BE49-F238E27FC236}">
                <a16:creationId xmlns:a16="http://schemas.microsoft.com/office/drawing/2014/main" id="{CA3B4041-1416-4B89-A78D-985D8C664E6D}"/>
              </a:ext>
            </a:extLst>
          </p:cNvPr>
          <p:cNvSpPr>
            <a:spLocks xmlns:a="http://schemas.openxmlformats.org/drawingml/2006/main" noGrp="1"/>
          </p:cNvSpPr>
          <p:nvPr/>
        </p:nvSpPr>
        <p:spPr>
          <a:xfrm xmlns:a="http://schemas.openxmlformats.org/drawingml/2006/main">
            <a:off x="800100" y="97155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A9B9C8"/>
                </a:solidFill>
                <a:latin typeface="Arial"/>
                <a:ea typeface="Arial"/>
                <a:cs typeface="Arial"/>
              </a:defRPr>
            </a:pPr>
            <a:r>
              <a:rPr sz="1350" b="0">
                <a:solidFill>
                  <a:srgbClr val="A9B9C8"/>
                </a:solidFill>
                <a:latin typeface="Arial"/>
                <a:ea typeface="Arial"/>
                <a:cs typeface="Arial"/>
              </a:rPr>
              <a:t>Every run used the same small training budget so the comparisons stay fair.</a:t>
            </a:r>
          </a:p>
        </p:txBody>
      </p:sp>
      <p:sp>
        <p:nvSpPr>
          <p:cNvPr id="5" name="">
            <a:extLst xmlns:a="http://schemas.openxmlformats.org/drawingml/2006/main">
              <a:ext uri="{FF2B5EF4-FFF2-40B4-BE49-F238E27FC236}">
                <a16:creationId xmlns:a16="http://schemas.microsoft.com/office/drawing/2014/main" id="{3D17A2A2-61A6-4125-B8E5-17A9DA87C169}"/>
              </a:ext>
            </a:extLst>
          </p:cNvPr>
          <p:cNvSpPr>
            <a:spLocks xmlns:a="http://schemas.openxmlformats.org/drawingml/2006/main" noGrp="1"/>
          </p:cNvSpPr>
          <p:nvPr/>
        </p:nvSpPr>
        <p:spPr>
          <a:xfrm xmlns:a="http://schemas.openxmlformats.org/drawingml/2006/main">
            <a:off x="10706100" y="2952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75899D"/>
                </a:solidFill>
                <a:latin typeface="Arial"/>
                <a:ea typeface="Arial"/>
                <a:cs typeface="Arial"/>
              </a:defRPr>
            </a:pPr>
            <a:r>
              <a:rPr sz="1050" b="1">
                <a:solidFill>
                  <a:srgbClr val="75899D"/>
                </a:solidFill>
                <a:latin typeface="Arial"/>
                <a:ea typeface="Arial"/>
                <a:cs typeface="Arial"/>
              </a:rPr>
              <a:t>08 / 09</a:t>
            </a:r>
          </a:p>
        </p:txBody>
      </p:sp>
      <p:sp>
        <p:nvSpPr>
          <p:cNvPr id="6" name="">
            <a:extLst xmlns:a="http://schemas.openxmlformats.org/drawingml/2006/main">
              <a:ext uri="{FF2B5EF4-FFF2-40B4-BE49-F238E27FC236}">
                <a16:creationId xmlns:a16="http://schemas.microsoft.com/office/drawing/2014/main" id="{D36D6B0A-AD89-4D03-9EC8-DEE30B599C93}"/>
              </a:ext>
            </a:extLst>
          </p:cNvPr>
          <p:cNvSpPr>
            <a:spLocks xmlns:a="http://schemas.openxmlformats.org/drawingml/2006/main" noGrp="1"/>
          </p:cNvSpPr>
          <p:nvPr/>
        </p:nvSpPr>
        <p:spPr>
          <a:xfrm xmlns:a="http://schemas.openxmlformats.org/drawingml/2006/main">
            <a:off x="723900" y="1571625"/>
            <a:ext cx="266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950" b="1">
                <a:solidFill>
                  <a:srgbClr val="FFB84D"/>
                </a:solidFill>
                <a:latin typeface="Arial"/>
                <a:ea typeface="Arial"/>
                <a:cs typeface="Arial"/>
              </a:defRPr>
            </a:pPr>
            <a:r>
              <a:rPr sz="4950" b="1">
                <a:solidFill>
                  <a:srgbClr val="FFB84D"/>
                </a:solidFill>
                <a:latin typeface="Arial"/>
                <a:ea typeface="Arial"/>
                <a:cs typeface="Arial"/>
              </a:rPr>
              <a:t>5,000</a:t>
            </a:r>
          </a:p>
        </p:txBody>
      </p:sp>
      <p:sp>
        <p:nvSpPr>
          <p:cNvPr id="7" name="">
            <a:extLst xmlns:a="http://schemas.openxmlformats.org/drawingml/2006/main">
              <a:ext uri="{FF2B5EF4-FFF2-40B4-BE49-F238E27FC236}">
                <a16:creationId xmlns:a16="http://schemas.microsoft.com/office/drawing/2014/main" id="{03FF66BF-CD17-4855-8AFB-8BC8086350D1}"/>
              </a:ext>
            </a:extLst>
          </p:cNvPr>
          <p:cNvSpPr>
            <a:spLocks xmlns:a="http://schemas.openxmlformats.org/drawingml/2006/main" noGrp="1"/>
          </p:cNvSpPr>
          <p:nvPr/>
        </p:nvSpPr>
        <p:spPr>
          <a:xfrm xmlns:a="http://schemas.openxmlformats.org/drawingml/2006/main">
            <a:off x="742950" y="23526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F7FBFF"/>
                </a:solidFill>
                <a:latin typeface="Arial"/>
                <a:ea typeface="Arial"/>
                <a:cs typeface="Arial"/>
              </a:defRPr>
            </a:pPr>
            <a:r>
              <a:rPr sz="1875" b="1">
                <a:solidFill>
                  <a:srgbClr val="F7FBFF"/>
                </a:solidFill>
                <a:latin typeface="Arial"/>
                <a:ea typeface="Arial"/>
                <a:cs typeface="Arial"/>
              </a:rPr>
              <a:t>updates per model run</a:t>
            </a:r>
          </a:p>
        </p:txBody>
      </p:sp>
      <p:sp>
        <p:nvSpPr>
          <p:cNvPr id="8" name="">
            <a:extLst xmlns:a="http://schemas.openxmlformats.org/drawingml/2006/main">
              <a:ext uri="{FF2B5EF4-FFF2-40B4-BE49-F238E27FC236}">
                <a16:creationId xmlns:a16="http://schemas.microsoft.com/office/drawing/2014/main" id="{B0C11CE8-0415-49AE-A881-47855E31B515}"/>
              </a:ext>
            </a:extLst>
          </p:cNvPr>
          <p:cNvSpPr>
            <a:spLocks xmlns:a="http://schemas.openxmlformats.org/drawingml/2006/main" noGrp="1"/>
          </p:cNvSpPr>
          <p:nvPr/>
        </p:nvSpPr>
        <p:spPr>
          <a:xfrm xmlns:a="http://schemas.openxmlformats.org/drawingml/2006/main">
            <a:off x="742950" y="27717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A9B9C8"/>
                </a:solidFill>
                <a:latin typeface="Arial"/>
                <a:ea typeface="Arial"/>
                <a:cs typeface="Arial"/>
              </a:defRPr>
            </a:pPr>
            <a:r>
              <a:rPr sz="1425" b="0">
                <a:solidFill>
                  <a:srgbClr val="A9B9C8"/>
                </a:solidFill>
                <a:latin typeface="Arial"/>
                <a:ea typeface="Arial"/>
                <a:cs typeface="Arial"/>
              </a:rPr>
              <a:t>Batch size 1</a:t>
            </a:r>
          </a:p>
        </p:txBody>
      </p:sp>
      <p:sp>
        <p:nvSpPr>
          <p:cNvPr id="9" name="">
            <a:extLst xmlns:a="http://schemas.openxmlformats.org/drawingml/2006/main">
              <a:ext uri="{FF2B5EF4-FFF2-40B4-BE49-F238E27FC236}">
                <a16:creationId xmlns:a16="http://schemas.microsoft.com/office/drawing/2014/main" id="{CFEA2DDE-E4CC-431C-80D0-626A2AA076B0}"/>
              </a:ext>
            </a:extLst>
          </p:cNvPr>
          <p:cNvSpPr>
            <a:spLocks xmlns:a="http://schemas.openxmlformats.org/drawingml/2006/main" noGrp="1"/>
          </p:cNvSpPr>
          <p:nvPr/>
        </p:nvSpPr>
        <p:spPr>
          <a:xfrm xmlns:a="http://schemas.openxmlformats.org/drawingml/2006/main">
            <a:off x="742950" y="3400425"/>
            <a:ext cx="209550" cy="209550"/>
          </a:xfrm>
          <a:prstGeom xmlns:a="http://schemas.openxmlformats.org/drawingml/2006/main" prst="ellipse">
            <a:avLst/>
          </a:prstGeom>
          <a:solidFill xmlns:a="http://schemas.openxmlformats.org/drawingml/2006/main">
            <a:srgbClr val="75899D"/>
          </a:solidFill>
          <a:ln xmlns:a="http://schemas.openxmlformats.org/drawingml/2006/main" w="0">
            <a:solidFill>
              <a:srgbClr val="75899D"/>
            </a:solidFill>
          </a:ln>
        </p:spPr>
      </p:sp>
      <p:sp>
        <p:nvSpPr>
          <p:cNvPr id="10" name="">
            <a:extLst xmlns:a="http://schemas.openxmlformats.org/drawingml/2006/main">
              <a:ext uri="{FF2B5EF4-FFF2-40B4-BE49-F238E27FC236}">
                <a16:creationId xmlns:a16="http://schemas.microsoft.com/office/drawing/2014/main" id="{1308E3AC-355E-49A9-AB9A-641E9D5F08F9}"/>
              </a:ext>
            </a:extLst>
          </p:cNvPr>
          <p:cNvSpPr>
            <a:spLocks xmlns:a="http://schemas.openxmlformats.org/drawingml/2006/main" noGrp="1"/>
          </p:cNvSpPr>
          <p:nvPr/>
        </p:nvSpPr>
        <p:spPr>
          <a:xfrm xmlns:a="http://schemas.openxmlformats.org/drawingml/2006/main">
            <a:off x="1104900" y="33718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F7FBFF"/>
                </a:solidFill>
                <a:latin typeface="Arial"/>
                <a:ea typeface="Arial"/>
                <a:cs typeface="Arial"/>
              </a:defRPr>
            </a:pPr>
            <a:r>
              <a:rPr sz="1425" b="1">
                <a:solidFill>
                  <a:srgbClr val="F7FBFF"/>
                </a:solidFill>
                <a:latin typeface="Arial"/>
                <a:ea typeface="Arial"/>
                <a:cs typeface="Arial"/>
              </a:rPr>
              <a:t>Random E1</a:t>
            </a:r>
          </a:p>
        </p:txBody>
      </p:sp>
      <p:sp>
        <p:nvSpPr>
          <p:cNvPr id="11" name="">
            <a:extLst xmlns:a="http://schemas.openxmlformats.org/drawingml/2006/main">
              <a:ext uri="{FF2B5EF4-FFF2-40B4-BE49-F238E27FC236}">
                <a16:creationId xmlns:a16="http://schemas.microsoft.com/office/drawing/2014/main" id="{B22BFF14-0CA8-466D-9D53-90637C91E658}"/>
              </a:ext>
            </a:extLst>
          </p:cNvPr>
          <p:cNvSpPr>
            <a:spLocks xmlns:a="http://schemas.openxmlformats.org/drawingml/2006/main" noGrp="1"/>
          </p:cNvSpPr>
          <p:nvPr/>
        </p:nvSpPr>
        <p:spPr>
          <a:xfrm xmlns:a="http://schemas.openxmlformats.org/drawingml/2006/main">
            <a:off x="3133725" y="33718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0">
                <a:solidFill>
                  <a:srgbClr val="A9B9C8"/>
                </a:solidFill>
                <a:latin typeface="Arial"/>
                <a:ea typeface="Arial"/>
                <a:cs typeface="Arial"/>
              </a:defRPr>
            </a:pPr>
            <a:r>
              <a:rPr sz="1425" b="0">
                <a:solidFill>
                  <a:srgbClr val="A9B9C8"/>
                </a:solidFill>
                <a:latin typeface="Arial"/>
                <a:ea typeface="Arial"/>
                <a:cs typeface="Arial"/>
              </a:rPr>
              <a:t>5,000 updates</a:t>
            </a:r>
          </a:p>
        </p:txBody>
      </p:sp>
      <p:sp>
        <p:nvSpPr>
          <p:cNvPr id="12" name="">
            <a:extLst xmlns:a="http://schemas.openxmlformats.org/drawingml/2006/main">
              <a:ext uri="{FF2B5EF4-FFF2-40B4-BE49-F238E27FC236}">
                <a16:creationId xmlns:a16="http://schemas.microsoft.com/office/drawing/2014/main" id="{90684A74-D92D-4683-A8A8-DF3C30B9A147}"/>
              </a:ext>
            </a:extLst>
          </p:cNvPr>
          <p:cNvSpPr>
            <a:spLocks xmlns:a="http://schemas.openxmlformats.org/drawingml/2006/main" noGrp="1"/>
          </p:cNvSpPr>
          <p:nvPr/>
        </p:nvSpPr>
        <p:spPr>
          <a:xfrm xmlns:a="http://schemas.openxmlformats.org/drawingml/2006/main">
            <a:off x="742950" y="3914775"/>
            <a:ext cx="209550" cy="209550"/>
          </a:xfrm>
          <a:prstGeom xmlns:a="http://schemas.openxmlformats.org/drawingml/2006/main" prst="ellipse">
            <a:avLst/>
          </a:prstGeom>
          <a:solidFill xmlns:a="http://schemas.openxmlformats.org/drawingml/2006/main">
            <a:srgbClr val="2CCCE4"/>
          </a:solidFill>
          <a:ln xmlns:a="http://schemas.openxmlformats.org/drawingml/2006/main" w="0">
            <a:solidFill>
              <a:srgbClr val="2CCCE4"/>
            </a:solidFill>
          </a:ln>
        </p:spPr>
      </p:sp>
      <p:sp>
        <p:nvSpPr>
          <p:cNvPr id="13" name="">
            <a:extLst xmlns:a="http://schemas.openxmlformats.org/drawingml/2006/main">
              <a:ext uri="{FF2B5EF4-FFF2-40B4-BE49-F238E27FC236}">
                <a16:creationId xmlns:a16="http://schemas.microsoft.com/office/drawing/2014/main" id="{7FEB6B4E-C58E-48EF-A6C7-A99EDACF46FC}"/>
              </a:ext>
            </a:extLst>
          </p:cNvPr>
          <p:cNvSpPr>
            <a:spLocks xmlns:a="http://schemas.openxmlformats.org/drawingml/2006/main" noGrp="1"/>
          </p:cNvSpPr>
          <p:nvPr/>
        </p:nvSpPr>
        <p:spPr>
          <a:xfrm xmlns:a="http://schemas.openxmlformats.org/drawingml/2006/main">
            <a:off x="1104900" y="3886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F7FBFF"/>
                </a:solidFill>
                <a:latin typeface="Arial"/>
                <a:ea typeface="Arial"/>
                <a:cs typeface="Arial"/>
              </a:defRPr>
            </a:pPr>
            <a:r>
              <a:rPr sz="1425" b="1">
                <a:solidFill>
                  <a:srgbClr val="F7FBFF"/>
                </a:solidFill>
                <a:latin typeface="Arial"/>
                <a:ea typeface="Arial"/>
                <a:cs typeface="Arial"/>
              </a:rPr>
              <a:t>Random E2</a:t>
            </a:r>
          </a:p>
        </p:txBody>
      </p:sp>
      <p:sp>
        <p:nvSpPr>
          <p:cNvPr id="14" name="">
            <a:extLst xmlns:a="http://schemas.openxmlformats.org/drawingml/2006/main">
              <a:ext uri="{FF2B5EF4-FFF2-40B4-BE49-F238E27FC236}">
                <a16:creationId xmlns:a16="http://schemas.microsoft.com/office/drawing/2014/main" id="{5E18CA5E-F2EB-4BE5-BCDA-A74EAF20D742}"/>
              </a:ext>
            </a:extLst>
          </p:cNvPr>
          <p:cNvSpPr>
            <a:spLocks xmlns:a="http://schemas.openxmlformats.org/drawingml/2006/main" noGrp="1"/>
          </p:cNvSpPr>
          <p:nvPr/>
        </p:nvSpPr>
        <p:spPr>
          <a:xfrm xmlns:a="http://schemas.openxmlformats.org/drawingml/2006/main">
            <a:off x="3133725" y="38862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0">
                <a:solidFill>
                  <a:srgbClr val="A9B9C8"/>
                </a:solidFill>
                <a:latin typeface="Arial"/>
                <a:ea typeface="Arial"/>
                <a:cs typeface="Arial"/>
              </a:defRPr>
            </a:pPr>
            <a:r>
              <a:rPr sz="1425" b="0">
                <a:solidFill>
                  <a:srgbClr val="A9B9C8"/>
                </a:solidFill>
                <a:latin typeface="Arial"/>
                <a:ea typeface="Arial"/>
                <a:cs typeface="Arial"/>
              </a:rPr>
              <a:t>5,000 updates</a:t>
            </a:r>
          </a:p>
        </p:txBody>
      </p:sp>
      <p:sp>
        <p:nvSpPr>
          <p:cNvPr id="15" name="">
            <a:extLst xmlns:a="http://schemas.openxmlformats.org/drawingml/2006/main">
              <a:ext uri="{FF2B5EF4-FFF2-40B4-BE49-F238E27FC236}">
                <a16:creationId xmlns:a16="http://schemas.microsoft.com/office/drawing/2014/main" id="{82CC62B0-EC58-4087-B7E5-CE37443E30BE}"/>
              </a:ext>
            </a:extLst>
          </p:cNvPr>
          <p:cNvSpPr>
            <a:spLocks xmlns:a="http://schemas.openxmlformats.org/drawingml/2006/main" noGrp="1"/>
          </p:cNvSpPr>
          <p:nvPr/>
        </p:nvSpPr>
        <p:spPr>
          <a:xfrm xmlns:a="http://schemas.openxmlformats.org/drawingml/2006/main">
            <a:off x="742950" y="4429125"/>
            <a:ext cx="209550" cy="209550"/>
          </a:xfrm>
          <a:prstGeom xmlns:a="http://schemas.openxmlformats.org/drawingml/2006/main" prst="ellipse">
            <a:avLst/>
          </a:prstGeom>
          <a:solidFill xmlns:a="http://schemas.openxmlformats.org/drawingml/2006/main">
            <a:srgbClr val="8CA0B5"/>
          </a:solidFill>
          <a:ln xmlns:a="http://schemas.openxmlformats.org/drawingml/2006/main" w="0">
            <a:solidFill>
              <a:srgbClr val="8CA0B5"/>
            </a:solidFill>
          </a:ln>
        </p:spPr>
      </p:sp>
      <p:sp>
        <p:nvSpPr>
          <p:cNvPr id="16" name="">
            <a:extLst xmlns:a="http://schemas.openxmlformats.org/drawingml/2006/main">
              <a:ext uri="{FF2B5EF4-FFF2-40B4-BE49-F238E27FC236}">
                <a16:creationId xmlns:a16="http://schemas.microsoft.com/office/drawing/2014/main" id="{679C4FCC-BE02-4062-9186-6A6A47E2FFDB}"/>
              </a:ext>
            </a:extLst>
          </p:cNvPr>
          <p:cNvSpPr>
            <a:spLocks xmlns:a="http://schemas.openxmlformats.org/drawingml/2006/main" noGrp="1"/>
          </p:cNvSpPr>
          <p:nvPr/>
        </p:nvSpPr>
        <p:spPr>
          <a:xfrm xmlns:a="http://schemas.openxmlformats.org/drawingml/2006/main">
            <a:off x="1104900" y="44005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F7FBFF"/>
                </a:solidFill>
                <a:latin typeface="Arial"/>
                <a:ea typeface="Arial"/>
                <a:cs typeface="Arial"/>
              </a:defRPr>
            </a:pPr>
            <a:r>
              <a:rPr sz="1425" b="1">
                <a:solidFill>
                  <a:srgbClr val="F7FBFF"/>
                </a:solidFill>
                <a:latin typeface="Arial"/>
                <a:ea typeface="Arial"/>
                <a:cs typeface="Arial"/>
              </a:rPr>
              <a:t>ImageNet E1</a:t>
            </a:r>
          </a:p>
        </p:txBody>
      </p:sp>
      <p:sp>
        <p:nvSpPr>
          <p:cNvPr id="17" name="">
            <a:extLst xmlns:a="http://schemas.openxmlformats.org/drawingml/2006/main">
              <a:ext uri="{FF2B5EF4-FFF2-40B4-BE49-F238E27FC236}">
                <a16:creationId xmlns:a16="http://schemas.microsoft.com/office/drawing/2014/main" id="{A6168191-2ED3-47F4-B026-6A313A53B1EA}"/>
              </a:ext>
            </a:extLst>
          </p:cNvPr>
          <p:cNvSpPr>
            <a:spLocks xmlns:a="http://schemas.openxmlformats.org/drawingml/2006/main" noGrp="1"/>
          </p:cNvSpPr>
          <p:nvPr/>
        </p:nvSpPr>
        <p:spPr>
          <a:xfrm xmlns:a="http://schemas.openxmlformats.org/drawingml/2006/main">
            <a:off x="3133725" y="44005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0">
                <a:solidFill>
                  <a:srgbClr val="A9B9C8"/>
                </a:solidFill>
                <a:latin typeface="Arial"/>
                <a:ea typeface="Arial"/>
                <a:cs typeface="Arial"/>
              </a:defRPr>
            </a:pPr>
            <a:r>
              <a:rPr sz="1425" b="0">
                <a:solidFill>
                  <a:srgbClr val="A9B9C8"/>
                </a:solidFill>
                <a:latin typeface="Arial"/>
                <a:ea typeface="Arial"/>
                <a:cs typeface="Arial"/>
              </a:rPr>
              <a:t>5,000 updates</a:t>
            </a:r>
          </a:p>
        </p:txBody>
      </p:sp>
      <p:sp>
        <p:nvSpPr>
          <p:cNvPr id="18" name="">
            <a:extLst xmlns:a="http://schemas.openxmlformats.org/drawingml/2006/main">
              <a:ext uri="{FF2B5EF4-FFF2-40B4-BE49-F238E27FC236}">
                <a16:creationId xmlns:a16="http://schemas.microsoft.com/office/drawing/2014/main" id="{B781D7DC-A00A-4516-A54A-418A90735092}"/>
              </a:ext>
            </a:extLst>
          </p:cNvPr>
          <p:cNvSpPr>
            <a:spLocks xmlns:a="http://schemas.openxmlformats.org/drawingml/2006/main" noGrp="1"/>
          </p:cNvSpPr>
          <p:nvPr/>
        </p:nvSpPr>
        <p:spPr>
          <a:xfrm xmlns:a="http://schemas.openxmlformats.org/drawingml/2006/main">
            <a:off x="742950" y="4943475"/>
            <a:ext cx="209550" cy="209550"/>
          </a:xfrm>
          <a:prstGeom xmlns:a="http://schemas.openxmlformats.org/drawingml/2006/main" prst="ellipse">
            <a:avLst/>
          </a:prstGeom>
          <a:solidFill xmlns:a="http://schemas.openxmlformats.org/drawingml/2006/main">
            <a:srgbClr val="FFB84D"/>
          </a:solidFill>
          <a:ln xmlns:a="http://schemas.openxmlformats.org/drawingml/2006/main" w="0">
            <a:solidFill>
              <a:srgbClr val="FFB84D"/>
            </a:solidFill>
          </a:ln>
        </p:spPr>
      </p:sp>
      <p:sp>
        <p:nvSpPr>
          <p:cNvPr id="19" name="">
            <a:extLst xmlns:a="http://schemas.openxmlformats.org/drawingml/2006/main">
              <a:ext uri="{FF2B5EF4-FFF2-40B4-BE49-F238E27FC236}">
                <a16:creationId xmlns:a16="http://schemas.microsoft.com/office/drawing/2014/main" id="{915EFAAD-7069-4F33-B061-7B7EFD25994A}"/>
              </a:ext>
            </a:extLst>
          </p:cNvPr>
          <p:cNvSpPr>
            <a:spLocks xmlns:a="http://schemas.openxmlformats.org/drawingml/2006/main" noGrp="1"/>
          </p:cNvSpPr>
          <p:nvPr/>
        </p:nvSpPr>
        <p:spPr>
          <a:xfrm xmlns:a="http://schemas.openxmlformats.org/drawingml/2006/main">
            <a:off x="1104900" y="49149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F7FBFF"/>
                </a:solidFill>
                <a:latin typeface="Arial"/>
                <a:ea typeface="Arial"/>
                <a:cs typeface="Arial"/>
              </a:defRPr>
            </a:pPr>
            <a:r>
              <a:rPr sz="1425" b="1">
                <a:solidFill>
                  <a:srgbClr val="F7FBFF"/>
                </a:solidFill>
                <a:latin typeface="Arial"/>
                <a:ea typeface="Arial"/>
                <a:cs typeface="Arial"/>
              </a:rPr>
              <a:t>ImageNet E2</a:t>
            </a:r>
          </a:p>
        </p:txBody>
      </p:sp>
      <p:sp>
        <p:nvSpPr>
          <p:cNvPr id="20" name="">
            <a:extLst xmlns:a="http://schemas.openxmlformats.org/drawingml/2006/main">
              <a:ext uri="{FF2B5EF4-FFF2-40B4-BE49-F238E27FC236}">
                <a16:creationId xmlns:a16="http://schemas.microsoft.com/office/drawing/2014/main" id="{A475D8E9-676D-40CB-AB61-9B3AE565F980}"/>
              </a:ext>
            </a:extLst>
          </p:cNvPr>
          <p:cNvSpPr>
            <a:spLocks xmlns:a="http://schemas.openxmlformats.org/drawingml/2006/main" noGrp="1"/>
          </p:cNvSpPr>
          <p:nvPr/>
        </p:nvSpPr>
        <p:spPr>
          <a:xfrm xmlns:a="http://schemas.openxmlformats.org/drawingml/2006/main">
            <a:off x="3133725" y="49149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0">
                <a:solidFill>
                  <a:srgbClr val="A9B9C8"/>
                </a:solidFill>
                <a:latin typeface="Arial"/>
                <a:ea typeface="Arial"/>
                <a:cs typeface="Arial"/>
              </a:defRPr>
            </a:pPr>
            <a:r>
              <a:rPr sz="1425" b="0">
                <a:solidFill>
                  <a:srgbClr val="A9B9C8"/>
                </a:solidFill>
                <a:latin typeface="Arial"/>
                <a:ea typeface="Arial"/>
                <a:cs typeface="Arial"/>
              </a:rPr>
              <a:t>5,000 updates</a:t>
            </a:r>
          </a:p>
        </p:txBody>
      </p:sp>
      <p:sp>
        <p:nvSpPr>
          <p:cNvPr id="21" name="">
            <a:extLst xmlns:a="http://schemas.openxmlformats.org/drawingml/2006/main">
              <a:ext uri="{FF2B5EF4-FFF2-40B4-BE49-F238E27FC236}">
                <a16:creationId xmlns:a16="http://schemas.microsoft.com/office/drawing/2014/main" id="{371C0079-C1C0-4FFF-A94B-58B0704EB617}"/>
              </a:ext>
            </a:extLst>
          </p:cNvPr>
          <p:cNvSpPr>
            <a:spLocks xmlns:a="http://schemas.openxmlformats.org/drawingml/2006/main" noGrp="1"/>
          </p:cNvSpPr>
          <p:nvPr/>
        </p:nvSpPr>
        <p:spPr>
          <a:xfrm xmlns:a="http://schemas.openxmlformats.org/drawingml/2006/main">
            <a:off x="5762625" y="1628775"/>
            <a:ext cx="5705475" cy="3162300"/>
          </a:xfrm>
          <a:prstGeom xmlns:a="http://schemas.openxmlformats.org/drawingml/2006/main" prst="roundRect">
            <a:avLst>
              <a:gd name="adj" fmla="val 4819"/>
            </a:avLst>
          </a:prstGeom>
          <a:solidFill xmlns:a="http://schemas.openxmlformats.org/drawingml/2006/main">
            <a:srgbClr val="0B2034"/>
          </a:solidFill>
          <a:ln xmlns:a="http://schemas.openxmlformats.org/drawingml/2006/main" w="19050">
            <a:solidFill>
              <a:srgbClr val="23435C"/>
            </a:solidFill>
          </a:ln>
        </p:spPr>
      </p:sp>
      <p:sp>
        <p:nvSpPr>
          <p:cNvPr id="22" name="">
            <a:extLst xmlns:a="http://schemas.openxmlformats.org/drawingml/2006/main">
              <a:ext uri="{FF2B5EF4-FFF2-40B4-BE49-F238E27FC236}">
                <a16:creationId xmlns:a16="http://schemas.microsoft.com/office/drawing/2014/main" id="{3D70BD7B-9F7A-47CF-A514-075FED79A101}"/>
              </a:ext>
            </a:extLst>
          </p:cNvPr>
          <p:cNvSpPr>
            <a:spLocks xmlns:a="http://schemas.openxmlformats.org/drawingml/2006/main" noGrp="1"/>
          </p:cNvSpPr>
          <p:nvPr/>
        </p:nvSpPr>
        <p:spPr>
          <a:xfrm xmlns:a="http://schemas.openxmlformats.org/drawingml/2006/main">
            <a:off x="6191250" y="1952625"/>
            <a:ext cx="238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600" b="1">
                <a:solidFill>
                  <a:srgbClr val="7BE4F3"/>
                </a:solidFill>
                <a:latin typeface="Arial"/>
                <a:ea typeface="Arial"/>
                <a:cs typeface="Arial"/>
              </a:defRPr>
            </a:pPr>
            <a:r>
              <a:rPr sz="3600" b="1">
                <a:solidFill>
                  <a:srgbClr val="7BE4F3"/>
                </a:solidFill>
                <a:latin typeface="Arial"/>
                <a:ea typeface="Arial"/>
                <a:cs typeface="Arial"/>
              </a:rPr>
              <a:t>18,523</a:t>
            </a:r>
          </a:p>
        </p:txBody>
      </p:sp>
      <p:sp>
        <p:nvSpPr>
          <p:cNvPr id="23" name="">
            <a:extLst xmlns:a="http://schemas.openxmlformats.org/drawingml/2006/main">
              <a:ext uri="{FF2B5EF4-FFF2-40B4-BE49-F238E27FC236}">
                <a16:creationId xmlns:a16="http://schemas.microsoft.com/office/drawing/2014/main" id="{A01C0C03-2B80-4565-8E6C-DF8EE512D58A}"/>
              </a:ext>
            </a:extLst>
          </p:cNvPr>
          <p:cNvSpPr>
            <a:spLocks xmlns:a="http://schemas.openxmlformats.org/drawingml/2006/main" noGrp="1"/>
          </p:cNvSpPr>
          <p:nvPr/>
        </p:nvSpPr>
        <p:spPr>
          <a:xfrm xmlns:a="http://schemas.openxmlformats.org/drawingml/2006/main">
            <a:off x="6191250" y="25622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A9B9C8"/>
                </a:solidFill>
                <a:latin typeface="Arial"/>
                <a:ea typeface="Arial"/>
                <a:cs typeface="Arial"/>
              </a:defRPr>
            </a:pPr>
            <a:r>
              <a:rPr sz="1575" b="0">
                <a:solidFill>
                  <a:srgbClr val="A9B9C8"/>
                </a:solidFill>
                <a:latin typeface="Arial"/>
                <a:ea typeface="Arial"/>
                <a:cs typeface="Arial"/>
              </a:rPr>
              <a:t>training frames available</a:t>
            </a:r>
          </a:p>
        </p:txBody>
      </p:sp>
      <p:sp>
        <p:nvSpPr>
          <p:cNvPr id="24" name="">
            <a:extLst xmlns:a="http://schemas.openxmlformats.org/drawingml/2006/main">
              <a:ext uri="{FF2B5EF4-FFF2-40B4-BE49-F238E27FC236}">
                <a16:creationId xmlns:a16="http://schemas.microsoft.com/office/drawing/2014/main" id="{244779E7-8174-47E4-8441-39B3510F925D}"/>
              </a:ext>
            </a:extLst>
          </p:cNvPr>
          <p:cNvSpPr>
            <a:spLocks xmlns:a="http://schemas.openxmlformats.org/drawingml/2006/main" noGrp="1"/>
          </p:cNvSpPr>
          <p:nvPr/>
        </p:nvSpPr>
        <p:spPr>
          <a:xfrm xmlns:a="http://schemas.openxmlformats.org/drawingml/2006/main">
            <a:off x="6191250" y="3086100"/>
            <a:ext cx="4810125" cy="19050"/>
          </a:xfrm>
          <a:prstGeom xmlns:a="http://schemas.openxmlformats.org/drawingml/2006/main" prst="rect">
            <a:avLst/>
          </a:prstGeom>
          <a:solidFill xmlns:a="http://schemas.openxmlformats.org/drawingml/2006/main">
            <a:srgbClr val="23435C"/>
          </a:solidFill>
          <a:ln xmlns:a="http://schemas.openxmlformats.org/drawingml/2006/main" w="0">
            <a:solidFill>
              <a:srgbClr val="23435C"/>
            </a:solidFill>
          </a:ln>
        </p:spPr>
      </p:sp>
      <p:sp>
        <p:nvSpPr>
          <p:cNvPr id="25" name="">
            <a:extLst xmlns:a="http://schemas.openxmlformats.org/drawingml/2006/main">
              <a:ext uri="{FF2B5EF4-FFF2-40B4-BE49-F238E27FC236}">
                <a16:creationId xmlns:a16="http://schemas.microsoft.com/office/drawing/2014/main" id="{673757F6-30DF-40BC-A4A4-7B7C2C9587E6}"/>
              </a:ext>
            </a:extLst>
          </p:cNvPr>
          <p:cNvSpPr>
            <a:spLocks xmlns:a="http://schemas.openxmlformats.org/drawingml/2006/main" noGrp="1"/>
          </p:cNvSpPr>
          <p:nvPr/>
        </p:nvSpPr>
        <p:spPr>
          <a:xfrm xmlns:a="http://schemas.openxmlformats.org/drawingml/2006/main">
            <a:off x="6191250" y="3324225"/>
            <a:ext cx="238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600" b="1">
                <a:solidFill>
                  <a:srgbClr val="5DE1A7"/>
                </a:solidFill>
                <a:latin typeface="Arial"/>
                <a:ea typeface="Arial"/>
                <a:cs typeface="Arial"/>
              </a:defRPr>
            </a:pPr>
            <a:r>
              <a:rPr sz="3600" b="1">
                <a:solidFill>
                  <a:srgbClr val="5DE1A7"/>
                </a:solidFill>
                <a:latin typeface="Arial"/>
                <a:ea typeface="Arial"/>
                <a:cs typeface="Arial"/>
              </a:rPr>
              <a:t>32,823</a:t>
            </a:r>
          </a:p>
        </p:txBody>
      </p:sp>
      <p:sp>
        <p:nvSpPr>
          <p:cNvPr id="26" name="">
            <a:extLst xmlns:a="http://schemas.openxmlformats.org/drawingml/2006/main">
              <a:ext uri="{FF2B5EF4-FFF2-40B4-BE49-F238E27FC236}">
                <a16:creationId xmlns:a16="http://schemas.microsoft.com/office/drawing/2014/main" id="{67A58754-6467-434E-A2C1-7B0E9C57F936}"/>
              </a:ext>
            </a:extLst>
          </p:cNvPr>
          <p:cNvSpPr>
            <a:spLocks xmlns:a="http://schemas.openxmlformats.org/drawingml/2006/main" noGrp="1"/>
          </p:cNvSpPr>
          <p:nvPr/>
        </p:nvSpPr>
        <p:spPr>
          <a:xfrm xmlns:a="http://schemas.openxmlformats.org/drawingml/2006/main">
            <a:off x="6191250" y="39338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A9B9C8"/>
                </a:solidFill>
                <a:latin typeface="Arial"/>
                <a:ea typeface="Arial"/>
                <a:cs typeface="Arial"/>
              </a:defRPr>
            </a:pPr>
            <a:r>
              <a:rPr sz="1575" b="0">
                <a:solidFill>
                  <a:srgbClr val="A9B9C8"/>
                </a:solidFill>
                <a:latin typeface="Arial"/>
                <a:ea typeface="Arial"/>
                <a:cs typeface="Arial"/>
              </a:rPr>
              <a:t>frames in the full dataset</a:t>
            </a:r>
          </a:p>
        </p:txBody>
      </p:sp>
      <p:sp>
        <p:nvSpPr>
          <p:cNvPr id="27" name="">
            <a:extLst xmlns:a="http://schemas.openxmlformats.org/drawingml/2006/main">
              <a:ext uri="{FF2B5EF4-FFF2-40B4-BE49-F238E27FC236}">
                <a16:creationId xmlns:a16="http://schemas.microsoft.com/office/drawing/2014/main" id="{097B3AE0-E61F-4C60-8E5A-7DB1D3788A4C}"/>
              </a:ext>
            </a:extLst>
          </p:cNvPr>
          <p:cNvSpPr>
            <a:spLocks xmlns:a="http://schemas.openxmlformats.org/drawingml/2006/main" noGrp="1"/>
          </p:cNvSpPr>
          <p:nvPr/>
        </p:nvSpPr>
        <p:spPr>
          <a:xfrm xmlns:a="http://schemas.openxmlformats.org/drawingml/2006/main">
            <a:off x="6191250" y="4352925"/>
            <a:ext cx="4810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A9B9C8"/>
                </a:solidFill>
                <a:latin typeface="Arial"/>
                <a:ea typeface="Arial"/>
                <a:cs typeface="Arial"/>
              </a:defRPr>
            </a:pPr>
            <a:r>
              <a:rPr sz="1200" b="0">
                <a:solidFill>
                  <a:srgbClr val="A9B9C8"/>
                </a:solidFill>
                <a:latin typeface="Arial"/>
                <a:ea typeface="Arial"/>
                <a:cs typeface="Arial"/>
              </a:rPr>
              <a:t>Important: 5,000 updates means 5,000 sample presentations per run. Frames may repeat, so this is not 5,000 guaranteed unique images.</a:t>
            </a:r>
          </a:p>
        </p:txBody>
      </p:sp>
      <p:sp>
        <p:nvSpPr>
          <p:cNvPr id="28" name="">
            <a:extLst xmlns:a="http://schemas.openxmlformats.org/drawingml/2006/main">
              <a:ext uri="{FF2B5EF4-FFF2-40B4-BE49-F238E27FC236}">
                <a16:creationId xmlns:a16="http://schemas.microsoft.com/office/drawing/2014/main" id="{6ED4445F-CA64-43C0-805E-803CA5FCFC60}"/>
              </a:ext>
            </a:extLst>
          </p:cNvPr>
          <p:cNvSpPr>
            <a:spLocks xmlns:a="http://schemas.openxmlformats.org/drawingml/2006/main" noGrp="1"/>
          </p:cNvSpPr>
          <p:nvPr/>
        </p:nvSpPr>
        <p:spPr>
          <a:xfrm xmlns:a="http://schemas.openxmlformats.org/drawingml/2006/main">
            <a:off x="723900" y="5610225"/>
            <a:ext cx="2171700" cy="533400"/>
          </a:xfrm>
          <a:prstGeom xmlns:a="http://schemas.openxmlformats.org/drawingml/2006/main" prst="roundRect">
            <a:avLst>
              <a:gd name="adj" fmla="val 21429"/>
            </a:avLst>
          </a:prstGeom>
          <a:solidFill xmlns:a="http://schemas.openxmlformats.org/drawingml/2006/main">
            <a:srgbClr val="FFB84D"/>
          </a:solidFill>
          <a:ln xmlns:a="http://schemas.openxmlformats.org/drawingml/2006/main" w="0">
            <a:solidFill>
              <a:srgbClr val="FFB84D"/>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lnSpc>
                <a:spcPct val="100000"/>
              </a:lnSpc>
              <a:buNone/>
              <a:defRPr sz="1425" b="1">
                <a:solidFill>
                  <a:srgbClr val="061321"/>
                </a:solidFill>
                <a:latin typeface="Arial"/>
                <a:ea typeface="Arial"/>
                <a:cs typeface="Arial"/>
              </a:defRPr>
            </a:pPr>
            <a:r>
              <a:rPr sz="1425" b="1">
                <a:solidFill>
                  <a:srgbClr val="061321"/>
                </a:solidFill>
                <a:latin typeface="Arial"/>
                <a:ea typeface="Arial"/>
                <a:cs typeface="Arial"/>
              </a:rPr>
              <a:t>AFTER REVIEW 1</a:t>
            </a:r>
          </a:p>
        </p:txBody>
      </p:sp>
      <p:sp>
        <p:nvSpPr>
          <p:cNvPr id="29" name="">
            <a:extLst xmlns:a="http://schemas.openxmlformats.org/drawingml/2006/main">
              <a:ext uri="{FF2B5EF4-FFF2-40B4-BE49-F238E27FC236}">
                <a16:creationId xmlns:a16="http://schemas.microsoft.com/office/drawing/2014/main" id="{A6697C45-61F9-470C-AB84-10FC84C90591}"/>
              </a:ext>
            </a:extLst>
          </p:cNvPr>
          <p:cNvSpPr>
            <a:spLocks xmlns:a="http://schemas.openxmlformats.org/drawingml/2006/main" noGrp="1"/>
          </p:cNvSpPr>
          <p:nvPr/>
        </p:nvSpPr>
        <p:spPr>
          <a:xfrm xmlns:a="http://schemas.openxmlformats.org/drawingml/2006/main">
            <a:off x="3171825" y="5524500"/>
            <a:ext cx="828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500" b="1">
                <a:solidFill>
                  <a:srgbClr val="F7FBFF"/>
                </a:solidFill>
                <a:latin typeface="Arial"/>
                <a:ea typeface="Arial"/>
                <a:cs typeface="Arial"/>
              </a:defRPr>
            </a:pPr>
            <a:r>
              <a:rPr sz="1500" b="1">
                <a:solidFill>
                  <a:srgbClr val="F7FBFF"/>
                </a:solidFill>
                <a:latin typeface="Arial"/>
                <a:ea typeface="Arial"/>
                <a:cs typeface="Arial"/>
              </a:rPr>
              <a:t>Train longer and cover more of the available training split · tune confidence · test missing/corrupted flight state · run the sealed evaluation only after freeze</a:t>
            </a:r>
          </a:p>
        </p:txBody>
      </p:sp>
    </p:spTree>
    <p:extLst>
      <p:ext uri="{BB962C8B-B14F-4D97-AF65-F5344CB8AC3E}">
        <p14:creationId xmlns:p14="http://schemas.microsoft.com/office/powerpoint/2010/main" val="231596947"/>
      </p:ext>
    </p:extLst>
  </p:cSld>
</p:sld>
</file>

<file path=ppt/slides/slide9.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E7F6A1A-756A-4878-9CD2-9B370A3C2038}"/>
              </a:ext>
            </a:extLst>
          </p:cNvPr>
          <p:cNvSpPr>
            <a:spLocks xmlns:a="http://schemas.openxmlformats.org/drawingml/2006/main" noGrp="1"/>
          </p:cNvSpPr>
          <p:nvPr/>
        </p:nvSpPr>
        <p:spPr>
          <a:xfrm xmlns:a="http://schemas.openxmlformats.org/drawingml/2006/main">
            <a:off x="10706100" y="2952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75899D"/>
                </a:solidFill>
                <a:latin typeface="Arial"/>
                <a:ea typeface="Arial"/>
                <a:cs typeface="Arial"/>
              </a:defRPr>
            </a:pPr>
            <a:r>
              <a:rPr sz="1050" b="1">
                <a:solidFill>
                  <a:srgbClr val="75899D"/>
                </a:solidFill>
                <a:latin typeface="Arial"/>
                <a:ea typeface="Arial"/>
                <a:cs typeface="Arial"/>
              </a:rPr>
              <a:t>09 / 09</a:t>
            </a:r>
          </a:p>
        </p:txBody>
      </p:sp>
      <p:sp>
        <p:nvSpPr>
          <p:cNvPr id="2" name="">
            <a:extLst xmlns:a="http://schemas.openxmlformats.org/drawingml/2006/main">
              <a:ext uri="{FF2B5EF4-FFF2-40B4-BE49-F238E27FC236}">
                <a16:creationId xmlns:a16="http://schemas.microsoft.com/office/drawing/2014/main" id="{00260059-3BC1-4FB5-AFC7-E8A59948E865}"/>
              </a:ext>
            </a:extLst>
          </p:cNvPr>
          <p:cNvSpPr>
            <a:spLocks xmlns:a="http://schemas.openxmlformats.org/drawingml/2006/main" noGrp="1"/>
          </p:cNvSpPr>
          <p:nvPr/>
        </p:nvSpPr>
        <p:spPr>
          <a:xfrm xmlns:a="http://schemas.openxmlformats.org/drawingml/2006/main">
            <a:off x="533400" y="485775"/>
            <a:ext cx="76200" cy="457200"/>
          </a:xfrm>
          <a:prstGeom xmlns:a="http://schemas.openxmlformats.org/drawingml/2006/main" prst="rect">
            <a:avLst/>
          </a:prstGeom>
          <a:solidFill xmlns:a="http://schemas.openxmlformats.org/drawingml/2006/main">
            <a:srgbClr val="2CCCE4"/>
          </a:solidFill>
          <a:ln xmlns:a="http://schemas.openxmlformats.org/drawingml/2006/main" w="0">
            <a:solidFill>
              <a:srgbClr val="2CCCE4"/>
            </a:solidFill>
          </a:ln>
        </p:spPr>
      </p:sp>
      <p:sp>
        <p:nvSpPr>
          <p:cNvPr id="3" name="">
            <a:extLst xmlns:a="http://schemas.openxmlformats.org/drawingml/2006/main">
              <a:ext uri="{FF2B5EF4-FFF2-40B4-BE49-F238E27FC236}">
                <a16:creationId xmlns:a16="http://schemas.microsoft.com/office/drawing/2014/main" id="{69824A69-7D5E-4426-9512-EAF543E5636C}"/>
              </a:ext>
            </a:extLst>
          </p:cNvPr>
          <p:cNvSpPr>
            <a:spLocks xmlns:a="http://schemas.openxmlformats.org/drawingml/2006/main" noGrp="1"/>
          </p:cNvSpPr>
          <p:nvPr/>
        </p:nvSpPr>
        <p:spPr>
          <a:xfrm xmlns:a="http://schemas.openxmlformats.org/drawingml/2006/main">
            <a:off x="800100" y="41910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850" b="1">
                <a:solidFill>
                  <a:srgbClr val="F7FBFF"/>
                </a:solidFill>
                <a:latin typeface="Arial"/>
                <a:ea typeface="Arial"/>
                <a:cs typeface="Arial"/>
              </a:defRPr>
            </a:pPr>
            <a:r>
              <a:rPr sz="2850" b="1">
                <a:solidFill>
                  <a:srgbClr val="F7FBFF"/>
                </a:solidFill>
                <a:latin typeface="Arial"/>
                <a:ea typeface="Arial"/>
                <a:cs typeface="Arial"/>
              </a:rPr>
              <a:t>Technology stack and deliverables</a:t>
            </a:r>
          </a:p>
        </p:txBody>
      </p:sp>
      <p:sp>
        <p:nvSpPr>
          <p:cNvPr id="4" name="">
            <a:extLst xmlns:a="http://schemas.openxmlformats.org/drawingml/2006/main">
              <a:ext uri="{FF2B5EF4-FFF2-40B4-BE49-F238E27FC236}">
                <a16:creationId xmlns:a16="http://schemas.microsoft.com/office/drawing/2014/main" id="{FEA8F1C6-A349-4CA0-BD3F-774B8340565F}"/>
              </a:ext>
            </a:extLst>
          </p:cNvPr>
          <p:cNvSpPr>
            <a:spLocks xmlns:a="http://schemas.openxmlformats.org/drawingml/2006/main" noGrp="1"/>
          </p:cNvSpPr>
          <p:nvPr/>
        </p:nvSpPr>
        <p:spPr>
          <a:xfrm xmlns:a="http://schemas.openxmlformats.org/drawingml/2006/main">
            <a:off x="800100" y="97155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A9B9C8"/>
                </a:solidFill>
                <a:latin typeface="Arial"/>
                <a:ea typeface="Arial"/>
                <a:cs typeface="Arial"/>
              </a:defRPr>
            </a:pPr>
            <a:r>
              <a:rPr sz="1350" b="0">
                <a:solidFill>
                  <a:srgbClr val="A9B9C8"/>
                </a:solidFill>
                <a:latin typeface="Arial"/>
                <a:ea typeface="Arial"/>
                <a:cs typeface="Arial"/>
              </a:rPr>
              <a:t>Simple tools, clear evidence, and a human review step.</a:t>
            </a:r>
          </a:p>
        </p:txBody>
      </p:sp>
      <p:sp>
        <p:nvSpPr>
          <p:cNvPr id="5" name="">
            <a:extLst xmlns:a="http://schemas.openxmlformats.org/drawingml/2006/main">
              <a:ext uri="{FF2B5EF4-FFF2-40B4-BE49-F238E27FC236}">
                <a16:creationId xmlns:a16="http://schemas.microsoft.com/office/drawing/2014/main" id="{96F62BC5-72EC-45F4-918D-04908A9BF65C}"/>
              </a:ext>
            </a:extLst>
          </p:cNvPr>
          <p:cNvSpPr>
            <a:spLocks xmlns:a="http://schemas.openxmlformats.org/drawingml/2006/main" noGrp="1"/>
          </p:cNvSpPr>
          <p:nvPr/>
        </p:nvSpPr>
        <p:spPr>
          <a:xfrm xmlns:a="http://schemas.openxmlformats.org/drawingml/2006/main">
            <a:off x="10706100" y="2952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1">
                <a:solidFill>
                  <a:srgbClr val="75899D"/>
                </a:solidFill>
                <a:latin typeface="Arial"/>
                <a:ea typeface="Arial"/>
                <a:cs typeface="Arial"/>
              </a:defRPr>
            </a:pPr>
            <a:r>
              <a:rPr sz="1050" b="1">
                <a:solidFill>
                  <a:srgbClr val="75899D"/>
                </a:solidFill>
                <a:latin typeface="Arial"/>
                <a:ea typeface="Arial"/>
                <a:cs typeface="Arial"/>
              </a:rPr>
              <a:t>09 / 09</a:t>
            </a:r>
          </a:p>
        </p:txBody>
      </p:sp>
      <p:sp>
        <p:nvSpPr>
          <p:cNvPr id="6" name="">
            <a:extLst xmlns:a="http://schemas.openxmlformats.org/drawingml/2006/main">
              <a:ext uri="{FF2B5EF4-FFF2-40B4-BE49-F238E27FC236}">
                <a16:creationId xmlns:a16="http://schemas.microsoft.com/office/drawing/2014/main" id="{EB1EA4A8-2738-4A5C-A4A4-25C8CD1CA73B}"/>
              </a:ext>
            </a:extLst>
          </p:cNvPr>
          <p:cNvSpPr>
            <a:spLocks xmlns:a="http://schemas.openxmlformats.org/drawingml/2006/main" noGrp="1"/>
          </p:cNvSpPr>
          <p:nvPr/>
        </p:nvSpPr>
        <p:spPr>
          <a:xfrm xmlns:a="http://schemas.openxmlformats.org/drawingml/2006/main">
            <a:off x="723900" y="16573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BE4F3"/>
                </a:solidFill>
                <a:latin typeface="Arial"/>
                <a:ea typeface="Arial"/>
                <a:cs typeface="Arial"/>
              </a:defRPr>
            </a:pPr>
            <a:r>
              <a:rPr sz="1350" b="1">
                <a:solidFill>
                  <a:srgbClr val="7BE4F3"/>
                </a:solidFill>
                <a:latin typeface="Arial"/>
                <a:ea typeface="Arial"/>
                <a:cs typeface="Arial"/>
              </a:rPr>
              <a:t>DATA + TRAINING</a:t>
            </a:r>
          </a:p>
        </p:txBody>
      </p:sp>
      <p:sp>
        <p:nvSpPr>
          <p:cNvPr id="7" name="">
            <a:extLst xmlns:a="http://schemas.openxmlformats.org/drawingml/2006/main">
              <a:ext uri="{FF2B5EF4-FFF2-40B4-BE49-F238E27FC236}">
                <a16:creationId xmlns:a16="http://schemas.microsoft.com/office/drawing/2014/main" id="{10FCD434-7AB4-496D-A8AC-0522B9828156}"/>
              </a:ext>
            </a:extLst>
          </p:cNvPr>
          <p:cNvSpPr>
            <a:spLocks xmlns:a="http://schemas.openxmlformats.org/drawingml/2006/main" noGrp="1"/>
          </p:cNvSpPr>
          <p:nvPr/>
        </p:nvSpPr>
        <p:spPr>
          <a:xfrm xmlns:a="http://schemas.openxmlformats.org/drawingml/2006/main">
            <a:off x="723900" y="204787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F7FBFF"/>
                </a:solidFill>
                <a:latin typeface="Arial"/>
                <a:ea typeface="Arial"/>
                <a:cs typeface="Arial"/>
              </a:defRPr>
            </a:pPr>
            <a:r>
              <a:rPr sz="2025" b="1">
                <a:solidFill>
                  <a:srgbClr val="F7FBFF"/>
                </a:solidFill>
                <a:latin typeface="Arial"/>
                <a:ea typeface="Arial"/>
                <a:cs typeface="Arial"/>
              </a:rPr>
              <a:t>Python · PyTorch · TorchVision FCOS · Lightning</a:t>
            </a:r>
          </a:p>
        </p:txBody>
      </p:sp>
      <p:sp>
        <p:nvSpPr>
          <p:cNvPr id="8" name="">
            <a:extLst xmlns:a="http://schemas.openxmlformats.org/drawingml/2006/main">
              <a:ext uri="{FF2B5EF4-FFF2-40B4-BE49-F238E27FC236}">
                <a16:creationId xmlns:a16="http://schemas.microsoft.com/office/drawing/2014/main" id="{7569E04E-3693-4E44-B4AC-2E859379ECB8}"/>
              </a:ext>
            </a:extLst>
          </p:cNvPr>
          <p:cNvSpPr>
            <a:spLocks xmlns:a="http://schemas.openxmlformats.org/drawingml/2006/main" noGrp="1"/>
          </p:cNvSpPr>
          <p:nvPr/>
        </p:nvSpPr>
        <p:spPr>
          <a:xfrm xmlns:a="http://schemas.openxmlformats.org/drawingml/2006/main">
            <a:off x="723900" y="2657475"/>
            <a:ext cx="10744200" cy="19050"/>
          </a:xfrm>
          <a:prstGeom xmlns:a="http://schemas.openxmlformats.org/drawingml/2006/main" prst="rect">
            <a:avLst/>
          </a:prstGeom>
          <a:solidFill xmlns:a="http://schemas.openxmlformats.org/drawingml/2006/main">
            <a:srgbClr val="23435C"/>
          </a:solidFill>
          <a:ln xmlns:a="http://schemas.openxmlformats.org/drawingml/2006/main" w="0">
            <a:solidFill>
              <a:srgbClr val="23435C"/>
            </a:solidFill>
          </a:ln>
        </p:spPr>
      </p:sp>
      <p:sp>
        <p:nvSpPr>
          <p:cNvPr id="9" name="">
            <a:extLst xmlns:a="http://schemas.openxmlformats.org/drawingml/2006/main">
              <a:ext uri="{FF2B5EF4-FFF2-40B4-BE49-F238E27FC236}">
                <a16:creationId xmlns:a16="http://schemas.microsoft.com/office/drawing/2014/main" id="{3BE03C4F-A65C-460E-AD35-53E7CF849280}"/>
              </a:ext>
            </a:extLst>
          </p:cNvPr>
          <p:cNvSpPr>
            <a:spLocks xmlns:a="http://schemas.openxmlformats.org/drawingml/2006/main" noGrp="1"/>
          </p:cNvSpPr>
          <p:nvPr/>
        </p:nvSpPr>
        <p:spPr>
          <a:xfrm xmlns:a="http://schemas.openxmlformats.org/drawingml/2006/main">
            <a:off x="723900" y="29813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FFB84D"/>
                </a:solidFill>
                <a:latin typeface="Arial"/>
                <a:ea typeface="Arial"/>
                <a:cs typeface="Arial"/>
              </a:defRPr>
            </a:pPr>
            <a:r>
              <a:rPr sz="1350" b="1">
                <a:solidFill>
                  <a:srgbClr val="FFB84D"/>
                </a:solidFill>
                <a:latin typeface="Arial"/>
                <a:ea typeface="Arial"/>
                <a:cs typeface="Arial"/>
              </a:rPr>
              <a:t>EVIDENCE SERVICE</a:t>
            </a:r>
          </a:p>
        </p:txBody>
      </p:sp>
      <p:sp>
        <p:nvSpPr>
          <p:cNvPr id="10" name="">
            <a:extLst xmlns:a="http://schemas.openxmlformats.org/drawingml/2006/main">
              <a:ext uri="{FF2B5EF4-FFF2-40B4-BE49-F238E27FC236}">
                <a16:creationId xmlns:a16="http://schemas.microsoft.com/office/drawing/2014/main" id="{AFA217BB-7956-4F8D-8C48-0CA20AD01C8C}"/>
              </a:ext>
            </a:extLst>
          </p:cNvPr>
          <p:cNvSpPr>
            <a:spLocks xmlns:a="http://schemas.openxmlformats.org/drawingml/2006/main" noGrp="1"/>
          </p:cNvSpPr>
          <p:nvPr/>
        </p:nvSpPr>
        <p:spPr>
          <a:xfrm xmlns:a="http://schemas.openxmlformats.org/drawingml/2006/main">
            <a:off x="723900" y="33718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F7FBFF"/>
                </a:solidFill>
                <a:latin typeface="Arial"/>
                <a:ea typeface="Arial"/>
                <a:cs typeface="Arial"/>
              </a:defRPr>
            </a:pPr>
            <a:r>
              <a:rPr sz="2025" b="1">
                <a:solidFill>
                  <a:srgbClr val="F7FBFF"/>
                </a:solidFill>
                <a:latin typeface="Arial"/>
                <a:ea typeface="Arial"/>
                <a:cs typeface="Arial"/>
              </a:rPr>
              <a:t>FastAPI · Pydantic · JSON / JSONL</a:t>
            </a:r>
          </a:p>
        </p:txBody>
      </p:sp>
      <p:sp>
        <p:nvSpPr>
          <p:cNvPr id="11" name="">
            <a:extLst xmlns:a="http://schemas.openxmlformats.org/drawingml/2006/main">
              <a:ext uri="{FF2B5EF4-FFF2-40B4-BE49-F238E27FC236}">
                <a16:creationId xmlns:a16="http://schemas.microsoft.com/office/drawing/2014/main" id="{BBD9621A-9A41-46E0-8D9F-9BCFE3F72674}"/>
              </a:ext>
            </a:extLst>
          </p:cNvPr>
          <p:cNvSpPr>
            <a:spLocks xmlns:a="http://schemas.openxmlformats.org/drawingml/2006/main" noGrp="1"/>
          </p:cNvSpPr>
          <p:nvPr/>
        </p:nvSpPr>
        <p:spPr>
          <a:xfrm xmlns:a="http://schemas.openxmlformats.org/drawingml/2006/main">
            <a:off x="723900" y="3981450"/>
            <a:ext cx="10744200" cy="19050"/>
          </a:xfrm>
          <a:prstGeom xmlns:a="http://schemas.openxmlformats.org/drawingml/2006/main" prst="rect">
            <a:avLst/>
          </a:prstGeom>
          <a:solidFill xmlns:a="http://schemas.openxmlformats.org/drawingml/2006/main">
            <a:srgbClr val="23435C"/>
          </a:solidFill>
          <a:ln xmlns:a="http://schemas.openxmlformats.org/drawingml/2006/main" w="0">
            <a:solidFill>
              <a:srgbClr val="23435C"/>
            </a:solidFill>
          </a:ln>
        </p:spPr>
      </p:sp>
      <p:sp>
        <p:nvSpPr>
          <p:cNvPr id="12" name="">
            <a:extLst xmlns:a="http://schemas.openxmlformats.org/drawingml/2006/main">
              <a:ext uri="{FF2B5EF4-FFF2-40B4-BE49-F238E27FC236}">
                <a16:creationId xmlns:a16="http://schemas.microsoft.com/office/drawing/2014/main" id="{3440E0CE-23B9-4304-998B-DE4FA7A4DEF3}"/>
              </a:ext>
            </a:extLst>
          </p:cNvPr>
          <p:cNvSpPr>
            <a:spLocks xmlns:a="http://schemas.openxmlformats.org/drawingml/2006/main" noGrp="1"/>
          </p:cNvSpPr>
          <p:nvPr/>
        </p:nvSpPr>
        <p:spPr>
          <a:xfrm xmlns:a="http://schemas.openxmlformats.org/drawingml/2006/main">
            <a:off x="723900" y="43053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5DE1A7"/>
                </a:solidFill>
                <a:latin typeface="Arial"/>
                <a:ea typeface="Arial"/>
                <a:cs typeface="Arial"/>
              </a:defRPr>
            </a:pPr>
            <a:r>
              <a:rPr sz="1350" b="1">
                <a:solidFill>
                  <a:srgbClr val="5DE1A7"/>
                </a:solidFill>
                <a:latin typeface="Arial"/>
                <a:ea typeface="Arial"/>
                <a:cs typeface="Arial"/>
              </a:rPr>
              <a:t>REVIEW CONSOLE</a:t>
            </a:r>
          </a:p>
        </p:txBody>
      </p:sp>
      <p:sp>
        <p:nvSpPr>
          <p:cNvPr id="13" name="">
            <a:extLst xmlns:a="http://schemas.openxmlformats.org/drawingml/2006/main">
              <a:ext uri="{FF2B5EF4-FFF2-40B4-BE49-F238E27FC236}">
                <a16:creationId xmlns:a16="http://schemas.microsoft.com/office/drawing/2014/main" id="{B2195AC3-D354-41DA-8E96-C7F956D6282C}"/>
              </a:ext>
            </a:extLst>
          </p:cNvPr>
          <p:cNvSpPr>
            <a:spLocks xmlns:a="http://schemas.openxmlformats.org/drawingml/2006/main" noGrp="1"/>
          </p:cNvSpPr>
          <p:nvPr/>
        </p:nvSpPr>
        <p:spPr>
          <a:xfrm xmlns:a="http://schemas.openxmlformats.org/drawingml/2006/main">
            <a:off x="723900" y="46958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F7FBFF"/>
                </a:solidFill>
                <a:latin typeface="Arial"/>
                <a:ea typeface="Arial"/>
                <a:cs typeface="Arial"/>
              </a:defRPr>
            </a:pPr>
            <a:r>
              <a:rPr sz="2025" b="1">
                <a:solidFill>
                  <a:srgbClr val="F7FBFF"/>
                </a:solidFill>
                <a:latin typeface="Arial"/>
                <a:ea typeface="Arial"/>
                <a:cs typeface="Arial"/>
              </a:rPr>
              <a:t>React · TypeScript · Vite</a:t>
            </a:r>
          </a:p>
        </p:txBody>
      </p:sp>
      <p:sp>
        <p:nvSpPr>
          <p:cNvPr id="14" name="">
            <a:extLst xmlns:a="http://schemas.openxmlformats.org/drawingml/2006/main">
              <a:ext uri="{FF2B5EF4-FFF2-40B4-BE49-F238E27FC236}">
                <a16:creationId xmlns:a16="http://schemas.microsoft.com/office/drawing/2014/main" id="{9AA91231-FB89-49E4-95B6-924A5707E2AA}"/>
              </a:ext>
            </a:extLst>
          </p:cNvPr>
          <p:cNvSpPr>
            <a:spLocks xmlns:a="http://schemas.openxmlformats.org/drawingml/2006/main" noGrp="1"/>
          </p:cNvSpPr>
          <p:nvPr/>
        </p:nvSpPr>
        <p:spPr>
          <a:xfrm xmlns:a="http://schemas.openxmlformats.org/drawingml/2006/main">
            <a:off x="723900" y="5476875"/>
            <a:ext cx="10744200" cy="790575"/>
          </a:xfrm>
          <a:prstGeom xmlns:a="http://schemas.openxmlformats.org/drawingml/2006/main" prst="roundRect">
            <a:avLst>
              <a:gd name="adj" fmla="val 14458"/>
            </a:avLst>
          </a:prstGeom>
          <a:solidFill xmlns:a="http://schemas.openxmlformats.org/drawingml/2006/main">
            <a:srgbClr val="102A43"/>
          </a:solidFill>
          <a:ln xmlns:a="http://schemas.openxmlformats.org/drawingml/2006/main" w="19050">
            <a:solidFill>
              <a:srgbClr val="2CCCE4"/>
            </a:solidFill>
          </a:ln>
        </p:spPr>
        <p:txBody>
          <a:bodyPr xmlns:a="http://schemas.openxmlformats.org/drawingml/2006/main" wrap="square" lIns="133350" tIns="95250" rIns="133350" bIns="95250" anchor="ctr">
            <a:noAutofit/>
          </a:bodyPr>
          <a:lstStyle xmlns:a="http://schemas.openxmlformats.org/drawingml/2006/main"/>
          <a:p xmlns:a="http://schemas.openxmlformats.org/drawingml/2006/main">
            <a:pPr algn="ctr">
              <a:lnSpc>
                <a:spcPct val="100000"/>
              </a:lnSpc>
              <a:buNone/>
              <a:defRPr sz="1650" b="1">
                <a:solidFill>
                  <a:srgbClr val="F7FBFF"/>
                </a:solidFill>
                <a:latin typeface="Arial"/>
                <a:ea typeface="Arial"/>
                <a:cs typeface="Arial"/>
              </a:defRPr>
            </a:pPr>
            <a:r>
              <a:rPr sz="1650" b="1">
                <a:solidFill>
                  <a:srgbClr val="F7FBFF"/>
                </a:solidFill>
                <a:latin typeface="Arial"/>
                <a:ea typeface="Arial"/>
                <a:cs typeface="Arial"/>
              </a:rPr>
              <a:t>Review 1 delivers reproducible code, saved training evidence, a comparison model, evaluation graphs, architecture documentation, an evidence API and a human review console.</a:t>
            </a:r>
          </a:p>
        </p:txBody>
      </p:sp>
    </p:spTree>
    <p:extLst>
      <p:ext uri="{BB962C8B-B14F-4D97-AF65-F5344CB8AC3E}">
        <p14:creationId xmlns:p14="http://schemas.microsoft.com/office/powerpoint/2010/main" val="1674448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2026-09-18T11:37:12.1600000Z</dcterms:created>
  <dcterms:modified xsi:type="dcterms:W3CDTF">2026-09-18T11:37:12.1600000Z</dcterms:modified>
</coreProperties>
</file>
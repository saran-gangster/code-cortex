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2284babde7439b" /><Relationship Type="http://schemas.openxmlformats.org/officeDocument/2006/relationships/extended-properties" Target="/docProps/app.xml" Id="R6989662515ac498b" /><Relationship Type="http://schemas.openxmlformats.org/officeDocument/2006/relationships/officeDocument" Target="/ppt/presentation.xml" Id="Rf3ef38adbcd74c88" /></Relationships>
</file>

<file path=ppt/presentation.xml><?xml version="1.0" encoding="utf-8"?>
<p:presentation xmlns:p="http://schemas.openxmlformats.org/presentationml/2006/main">
  <p:sldMasterIdLst>
    <p:sldMasterId xmlns:r="http://schemas.openxmlformats.org/officeDocument/2006/relationships" id="2147483648" r:id="R56e97b78c034486d"/>
  </p:sldMasterIdLst>
  <p:notesMasterIdLst>
    <p:notesMasterId xmlns:r="http://schemas.openxmlformats.org/officeDocument/2006/relationships" r:id="Rc1964f3d69b24088"/>
  </p:notesMasterIdLst>
  <p:sldIdLst>
    <p:sldId xmlns:r="http://schemas.openxmlformats.org/officeDocument/2006/relationships" id="256" r:id="Ra59da15f26924384"/>
    <p:sldId xmlns:r="http://schemas.openxmlformats.org/officeDocument/2006/relationships" id="257" r:id="R76a685cae8e6455a"/>
    <p:sldId xmlns:r="http://schemas.openxmlformats.org/officeDocument/2006/relationships" id="258" r:id="R2a805d6e41154710"/>
    <p:sldId xmlns:r="http://schemas.openxmlformats.org/officeDocument/2006/relationships" id="259" r:id="Rcdf742c78ee947b3"/>
    <p:sldId xmlns:r="http://schemas.openxmlformats.org/officeDocument/2006/relationships" id="260" r:id="R27680a3bfd7a44ed"/>
    <p:sldId xmlns:r="http://schemas.openxmlformats.org/officeDocument/2006/relationships" id="261" r:id="R1e1dbc0d36b040aa"/>
    <p:sldId xmlns:r="http://schemas.openxmlformats.org/officeDocument/2006/relationships" id="262" r:id="R92f75ac858574177"/>
    <p:sldId xmlns:r="http://schemas.openxmlformats.org/officeDocument/2006/relationships" id="263" r:id="Rc90a6a77871e40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fc0b7e3ef94254" /><Relationship Type="http://schemas.openxmlformats.org/officeDocument/2006/relationships/slideMaster" Target="/ppt/slideMasters/slideMaster1.xml" Id="R56e97b78c034486d" /><Relationship Type="http://schemas.openxmlformats.org/officeDocument/2006/relationships/notesMaster" Target="/ppt/notesMasters/notesMaster1.xml" Id="Rc1964f3d69b24088" /><Relationship Type="http://schemas.openxmlformats.org/officeDocument/2006/relationships/presProps" Target="/ppt/presProps.xml" Id="R7a02287dea2d4821" /><Relationship Type="http://schemas.openxmlformats.org/officeDocument/2006/relationships/tableStyles" Target="/ppt/tableStyles.xml" Id="R1e254696654944da" /><Relationship Type="http://schemas.openxmlformats.org/officeDocument/2006/relationships/slide" Target="/ppt/slides/slide1.xml" Id="Ra59da15f26924384" /><Relationship Type="http://schemas.openxmlformats.org/officeDocument/2006/relationships/slide" Target="/ppt/slides/slide2.xml" Id="R76a685cae8e6455a" /><Relationship Type="http://schemas.openxmlformats.org/officeDocument/2006/relationships/slide" Target="/ppt/slides/slide3.xml" Id="R2a805d6e41154710" /><Relationship Type="http://schemas.openxmlformats.org/officeDocument/2006/relationships/slide" Target="/ppt/slides/slide4.xml" Id="Rcdf742c78ee947b3" /><Relationship Type="http://schemas.openxmlformats.org/officeDocument/2006/relationships/slide" Target="/ppt/slides/slide5.xml" Id="R27680a3bfd7a44ed" /><Relationship Type="http://schemas.openxmlformats.org/officeDocument/2006/relationships/slide" Target="/ppt/slides/slide6.xml" Id="R1e1dbc0d36b040aa" /><Relationship Type="http://schemas.openxmlformats.org/officeDocument/2006/relationships/slide" Target="/ppt/slides/slide7.xml" Id="R92f75ac858574177" /><Relationship Type="http://schemas.openxmlformats.org/officeDocument/2006/relationships/slide" Target="/ppt/slides/slide8.xml" Id="Rc90a6a77871e40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0a79d5d8ef4e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66631a25474c85" /><Relationship Type="http://schemas.openxmlformats.org/officeDocument/2006/relationships/notesMaster" Target="/ppt/notesMasters/notesMaster1.xml" Id="Rcadf9b787fcc4e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cebe2541584709" /><Relationship Type="http://schemas.openxmlformats.org/officeDocument/2006/relationships/notesMaster" Target="/ppt/notesMasters/notesMaster1.xml" Id="R5de4c051815c48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45828669514713" /><Relationship Type="http://schemas.openxmlformats.org/officeDocument/2006/relationships/notesMaster" Target="/ppt/notesMasters/notesMaster1.xml" Id="Re46b472af88647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446ad86bbd4a86" /><Relationship Type="http://schemas.openxmlformats.org/officeDocument/2006/relationships/notesMaster" Target="/ppt/notesMasters/notesMaster1.xml" Id="R7b116c13194f4b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f942d871cb4df5" /><Relationship Type="http://schemas.openxmlformats.org/officeDocument/2006/relationships/notesMaster" Target="/ppt/notesMasters/notesMaster1.xml" Id="R318656cfef5e49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f182877b9a49cf" /><Relationship Type="http://schemas.openxmlformats.org/officeDocument/2006/relationships/notesMaster" Target="/ppt/notesMasters/notesMaster1.xml" Id="R2b9da3f33fab4f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ea2a5185b949a1" /><Relationship Type="http://schemas.openxmlformats.org/officeDocument/2006/relationships/notesMaster" Target="/ppt/notesMasters/notesMaster1.xml" Id="R6412ae5aaad440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a1c81e6be74dee" /><Relationship Type="http://schemas.openxmlformats.org/officeDocument/2006/relationships/notesMaster" Target="/ppt/notesMasters/notesMaster1.xml" Id="R4dae6f71631e4a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show exactly what changed after Review 1. We trained on the full training split, kept every loss value, measured held-out detection metrics, and tested whether the telemetry branch really helps.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an official AU-AIR sample. The dataset gives RGB frames, boxes, and flight state. Our question is narrow: does the paired state improve object detection on a different flight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total is 32,823 frames. We use five recordings for training, one complete recording for development, and two recordings for the final test. We split by flight rather than random frames because neighboring video frames look almost identical.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arms use FCOS with a ResNet 50 feature pyramid. E1 receives a zero state mask. E2 receives normalized altitude, velocity, roll, pitch, and yaw. The FiLM branch starts as an exact identity, so both models begin from the same visual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1 used 5,000 training samples per arm. These runs scale to all 18,523 training frames, one complete pass. The faint lines contain every stored loss value. The stronger lines are 200 step moving averages only for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best development threshold, E1 found 6,646 correct objects with 5,996 false alarms and 10,227 misses. Detection accuracy is TP divided by TP plus FP plus FN. AP50 measures the whole precision recall curve at 50 percent box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scientific finding. The E2 score barely changes when state is correct, missing, or deliberately shifted by 1,000 frames. The visual branch drifted during joint training. We should preserve the stronger E1 image detector and let state learn only a small residual.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is ready for UI work now. The new E3 and E4 runs use E1 as the parent, freeze every visual detector weight, and train only the small FiLM adapter. If paired state does not beat E1, we keep E1 and report that the current telemetry does not add reliable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55170b5abc4f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0318fb6a7b4f07" /><Relationship Type="http://schemas.openxmlformats.org/officeDocument/2006/relationships/slideLayout" Target="/ppt/slideLayouts/slideLayout1.xml" Id="R1cbc5bbbecbc48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bc5bbbecbc48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10c473011940b1" /><Relationship Type="http://schemas.openxmlformats.org/officeDocument/2006/relationships/notesSlide" Target="/ppt/notesSlides/notesSlide1.xml" Id="R78680bf3e5f644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a30d47eaa348ad" /><Relationship Type="http://schemas.openxmlformats.org/officeDocument/2006/relationships/image" Target="/ppt/media/image.png" Id="R3b3dc083bcbe4207" /><Relationship Type="http://schemas.openxmlformats.org/officeDocument/2006/relationships/notesSlide" Target="/ppt/notesSlides/notesSlide2.xml" Id="R8c1fe9d2b21348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da4156f4f54218" /><Relationship Type="http://schemas.openxmlformats.org/officeDocument/2006/relationships/chart" Target="/ppt/slides/charts/chart1.xml" Id="R19e55050842c4e94" /><Relationship Type="http://schemas.openxmlformats.org/officeDocument/2006/relationships/notesSlide" Target="/ppt/notesSlides/notesSlide3.xml" Id="R5290f69dc9b841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39d06f532049f0" /><Relationship Type="http://schemas.openxmlformats.org/officeDocument/2006/relationships/image" Target="/ppt/media/image2.png" Id="R29c36a7dd53449bb" /><Relationship Type="http://schemas.openxmlformats.org/officeDocument/2006/relationships/notesSlide" Target="/ppt/notesSlides/notesSlide4.xml" Id="R493ef27ddf9545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2194f3c78e45f6" /><Relationship Type="http://schemas.openxmlformats.org/officeDocument/2006/relationships/image" Target="/ppt/media/image3.png" Id="R61c58d2e0cbe4ac1" /><Relationship Type="http://schemas.openxmlformats.org/officeDocument/2006/relationships/notesSlide" Target="/ppt/notesSlides/notesSlide5.xml" Id="Rcf406ab5f48449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fdf2087ee14a57" /><Relationship Type="http://schemas.openxmlformats.org/officeDocument/2006/relationships/chart" Target="/ppt/slides/charts/chart2.xml" Id="R8a9b140b7b294889" /><Relationship Type="http://schemas.openxmlformats.org/officeDocument/2006/relationships/notesSlide" Target="/ppt/notesSlides/notesSlide6.xml" Id="R8ab1fd576aae43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9ac94fa77642f5" /><Relationship Type="http://schemas.openxmlformats.org/officeDocument/2006/relationships/image" Target="/ppt/media/image4.png" Id="Rba42be7b6fc745ae" /><Relationship Type="http://schemas.openxmlformats.org/officeDocument/2006/relationships/notesSlide" Target="/ppt/notesSlides/notesSlide7.xml" Id="R7d830ad8f26047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7aa642af6a4d88" /><Relationship Type="http://schemas.openxmlformats.org/officeDocument/2006/relationships/image" Target="/ppt/media/image5.png" Id="R67831da04dc54a0c" /><Relationship Type="http://schemas.openxmlformats.org/officeDocument/2006/relationships/notesSlide" Target="/ppt/notesSlides/notesSlide8.xml" Id="R47113d25f2084569" /></Relationships>
</file>

<file path=ppt/slides/charts/chart1.xml><?xml version="1.0" encoding="utf-8"?>
<c:chartSpace xmlns:c="http://schemas.openxmlformats.org/drawingml/2006/chart">
  <c:lang val="en-US"/>
  <c:chart>
    <c:plotArea>
      <c:barChart>
        <c:barDir val="col"/>
        <c:grouping val="clustered"/>
        <c:varyColors val="1"/>
        <c:ser>
          <c:idx val="0"/>
          <c:order val="0"/>
          <c:tx>
            <c:v>Frames</c:v>
          </c:tx>
          <c:dPt>
            <c:idx val="0"/>
            <c:invertIfNegative val="0"/>
            <c:spPr>
              <a:solidFill xmlns:a="http://schemas.openxmlformats.org/drawingml/2006/main">
                <a:srgbClr val="22D3EE"/>
              </a:solidFill>
            </c:spPr>
          </c:dPt>
          <c:dPt>
            <c:idx val="1"/>
            <c:invertIfNegative val="0"/>
            <c:spPr>
              <a:solidFill xmlns:a="http://schemas.openxmlformats.org/drawingml/2006/main">
                <a:srgbClr val="F59E0B"/>
              </a:solidFill>
            </c:spPr>
          </c:dPt>
          <c:dPt>
            <c:idx val="2"/>
            <c:invertIfNegative val="0"/>
            <c:spPr>
              <a:solidFill xmlns:a="http://schemas.openxmlformats.org/drawingml/2006/main">
                <a:srgbClr val="A78BFA"/>
              </a:solidFill>
            </c:spPr>
          </c:dPt>
          <c:cat>
            <c:strLit>
              <c:ptCount val="3"/>
              <c:pt idx="0">
                <c:v>Train</c:v>
              </c:pt>
              <c:pt idx="1">
                <c:v>Development</c:v>
              </c:pt>
              <c:pt idx="2">
                <c:v>Sealed final test</c:v>
              </c:pt>
            </c:strLit>
          </c:cat>
          <c:val>
            <c:numLit>
              <c:formatCode>#,##0</c:formatCode>
              <c:ptCount val="3"/>
              <c:pt idx="0">
                <c:v>18523</c:v>
              </c:pt>
              <c:pt idx="1">
                <c:v>5734</c:v>
              </c:pt>
              <c:pt idx="2">
                <c:v>8566</c:v>
              </c:pt>
            </c:numLit>
          </c:val>
        </c:ser>
        <c:dLbls>
          <c:txPr>
            <a:bodyPr xmlns:a="http://schemas.openxmlformats.org/drawingml/2006/main" anchorCtr="1"/>
            <a:lstStyle xmlns:a="http://schemas.openxmlformats.org/drawingml/2006/main"/>
            <a:p xmlns:a="http://schemas.openxmlformats.org/drawingml/2006/main">
              <a:pPr>
                <a:defRPr sz="1200" b="1">
                  <a:solidFill>
                    <a:srgbClr val="F8FAFC"/>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45F"/>
            </a:solidFill>
          </a:ln>
        </c:spPr>
        <c:txPr>
          <a:bodyPr xmlns:a="http://schemas.openxmlformats.org/drawingml/2006/main" anchorCtr="1"/>
          <a:lstStyle xmlns:a="http://schemas.openxmlformats.org/drawingml/2006/main"/>
          <a:p xmlns:a="http://schemas.openxmlformats.org/drawingml/2006/main">
            <a:pPr>
              <a:defRPr sz="1350">
                <a:solidFill>
                  <a:srgbClr val="F8FAFC"/>
                </a:solidFill>
                <a:latin typeface="Arial"/>
                <a:ea typeface="Arial"/>
                <a:cs typeface="Arial"/>
              </a:defRPr>
            </a:pPr>
          </a:p>
        </c:txPr>
        <c:crossAx val="48672768"/>
      </c:catAx>
      <c:valAx>
        <c:axId val="48672768"/>
        <c:scaling>
          <c:orientation val="minMax"/>
          <c:max val="20000"/>
          <c:min val="0"/>
        </c:scaling>
        <c:delete val="0"/>
        <c:axPos val="l"/>
        <c:majorGridlines>
          <c:spPr>
            <a:ln xmlns:a="http://schemas.openxmlformats.org/drawingml/2006/main" w="9525">
              <a:solidFill>
                <a:srgbClr val="29445F"/>
              </a:solidFill>
            </a:ln>
          </c:spPr>
        </c:majorGridlines>
        <c:title>
          <c:tx>
            <c:rich>
              <a:bodyPr xmlns:a="http://schemas.openxmlformats.org/drawingml/2006/main"/>
              <a:lstStyle xmlns:a="http://schemas.openxmlformats.org/drawingml/2006/main"/>
              <a:p xmlns:a="http://schemas.openxmlformats.org/drawingml/2006/main">
                <a:r>
                  <a:rPr sz="1200">
                    <a:solidFill>
                      <a:srgbClr val="A8B6C8"/>
                    </a:solidFill>
                    <a:latin typeface="Arial"/>
                    <a:ea typeface="Arial"/>
                    <a:cs typeface="Arial"/>
                  </a:rPr>
                  <a:t>Frames</a:t>
                </a:r>
              </a:p>
            </c:rich>
          </c:tx>
          <c:overlay val="0"/>
          <c:txPr>
            <a:bodyPr xmlns:a="http://schemas.openxmlformats.org/drawingml/2006/main" anchorCtr="1"/>
            <a:lstStyle xmlns:a="http://schemas.openxmlformats.org/drawingml/2006/main"/>
            <a:p xmlns:a="http://schemas.openxmlformats.org/drawingml/2006/main">
              <a:pPr>
                <a:defRPr sz="1200">
                  <a:solidFill>
                    <a:srgbClr val="A8B6C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A8B6C8"/>
                </a:solidFill>
                <a:latin typeface="Arial"/>
                <a:ea typeface="Arial"/>
                <a:cs typeface="Arial"/>
              </a:defRPr>
            </a:pPr>
          </a:p>
        </c:txPr>
        <c:crossAx val="48650112"/>
        <c:crossBetween val="between"/>
        <c:majorUnit val="5000"/>
      </c:valAx>
      <c:spPr>
        <a:solidFill xmlns:a="http://schemas.openxmlformats.org/drawingml/2006/main">
          <a:srgbClr val="0F1D2D"/>
        </a:solidFill>
        <a:ln xmlns:a="http://schemas.openxmlformats.org/drawingml/2006/main" w="9525">
          <a:solidFill>
            <a:srgbClr val="29445F"/>
          </a:solidFill>
        </a:ln>
      </c:spPr>
    </c:plotArea>
    <c:plotVisOnly val="1"/>
  </c:chart>
  <c:spPr>
    <a:solidFill xmlns:a="http://schemas.openxmlformats.org/drawingml/2006/main">
      <a:srgbClr val="07111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AP50</c:v>
          </c:tx>
          <c:spPr>
            <a:solidFill xmlns:a="http://schemas.openxmlformats.org/drawingml/2006/main">
              <a:srgbClr val="22D3EE"/>
            </a:solidFill>
          </c:spPr>
          <c:cat>
            <c:strLit>
              <c:ptCount val="2"/>
              <c:pt idx="0">
                <c:v>E1 image only</c:v>
              </c:pt>
              <c:pt idx="1">
                <c:v>E2 image + state</c:v>
              </c:pt>
            </c:strLit>
          </c:cat>
          <c:val>
            <c:numLit>
              <c:formatCode>0.00</c:formatCode>
              <c:ptCount val="2"/>
              <c:pt idx="0">
                <c:v>0.1698</c:v>
              </c:pt>
              <c:pt idx="1">
                <c:v>0.1146</c:v>
              </c:pt>
            </c:numLit>
          </c:val>
        </c:ser>
        <c:ser>
          <c:idx val="1"/>
          <c:order val="1"/>
          <c:tx>
            <c:v>AP50:95</c:v>
          </c:tx>
          <c:spPr>
            <a:solidFill xmlns:a="http://schemas.openxmlformats.org/drawingml/2006/main">
              <a:srgbClr val="F59E0B"/>
            </a:solidFill>
          </c:spPr>
          <c:cat>
            <c:strLit>
              <c:ptCount val="2"/>
              <c:pt idx="0">
                <c:v>E1 image only</c:v>
              </c:pt>
              <c:pt idx="1">
                <c:v>E2 image + state</c:v>
              </c:pt>
            </c:strLit>
          </c:cat>
          <c:val>
            <c:numLit>
              <c:formatCode>0.00</c:formatCode>
              <c:ptCount val="2"/>
              <c:pt idx="0">
                <c:v>0.0665</c:v>
              </c:pt>
              <c:pt idx="1">
                <c:v>0.0445</c:v>
              </c:pt>
            </c:numLit>
          </c:val>
        </c:ser>
        <c:ser>
          <c:idx val="2"/>
          <c:order val="2"/>
          <c:tx>
            <c:v>Best F1</c:v>
          </c:tx>
          <c:spPr>
            <a:solidFill xmlns:a="http://schemas.openxmlformats.org/drawingml/2006/main">
              <a:srgbClr val="34D399"/>
            </a:solidFill>
          </c:spPr>
          <c:cat>
            <c:strLit>
              <c:ptCount val="2"/>
              <c:pt idx="0">
                <c:v>E1 image only</c:v>
              </c:pt>
              <c:pt idx="1">
                <c:v>E2 image + state</c:v>
              </c:pt>
            </c:strLit>
          </c:cat>
          <c:val>
            <c:numLit>
              <c:formatCode>0.00</c:formatCode>
              <c:ptCount val="2"/>
              <c:pt idx="0">
                <c:v>0.4503</c:v>
              </c:pt>
              <c:pt idx="1">
                <c:v>0.2515</c:v>
              </c:pt>
            </c:numLit>
          </c:val>
        </c:ser>
        <c:ser>
          <c:idx val="3"/>
          <c:order val="3"/>
          <c:tx>
            <c:v>Detection accuracy</c:v>
          </c:tx>
          <c:spPr>
            <a:solidFill xmlns:a="http://schemas.openxmlformats.org/drawingml/2006/main">
              <a:srgbClr val="A78BFA"/>
            </a:solidFill>
          </c:spPr>
          <c:cat>
            <c:strLit>
              <c:ptCount val="2"/>
              <c:pt idx="0">
                <c:v>E1 image only</c:v>
              </c:pt>
              <c:pt idx="1">
                <c:v>E2 image + state</c:v>
              </c:pt>
            </c:strLit>
          </c:cat>
          <c:val>
            <c:numLit>
              <c:formatCode>0.00</c:formatCode>
              <c:ptCount val="2"/>
              <c:pt idx="0">
                <c:v>0.2906</c:v>
              </c:pt>
              <c:pt idx="1">
                <c:v>0.1438</c:v>
              </c:pt>
            </c:numLit>
          </c:val>
        </c:ser>
        <c:dLbls>
          <c:txPr>
            <a:bodyPr xmlns:a="http://schemas.openxmlformats.org/drawingml/2006/main" anchorCtr="1"/>
            <a:lstStyle xmlns:a="http://schemas.openxmlformats.org/drawingml/2006/main"/>
            <a:p xmlns:a="http://schemas.openxmlformats.org/drawingml/2006/main">
              <a:pPr>
                <a:defRPr sz="975" b="1">
                  <a:solidFill>
                    <a:srgbClr val="F8FAFC"/>
                  </a:solidFill>
                  <a:latin typeface="Arial"/>
                  <a:ea typeface="Arial"/>
                  <a:cs typeface="Arial"/>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45F"/>
            </a:solidFill>
          </a:ln>
        </c:spPr>
        <c:txPr>
          <a:bodyPr xmlns:a="http://schemas.openxmlformats.org/drawingml/2006/main" anchorCtr="1"/>
          <a:lstStyle xmlns:a="http://schemas.openxmlformats.org/drawingml/2006/main"/>
          <a:p xmlns:a="http://schemas.openxmlformats.org/drawingml/2006/main">
            <a:pPr>
              <a:defRPr sz="1275">
                <a:solidFill>
                  <a:srgbClr val="F8FAFC"/>
                </a:solidFill>
                <a:latin typeface="Arial"/>
                <a:ea typeface="Arial"/>
                <a:cs typeface="Arial"/>
              </a:defRPr>
            </a:pPr>
          </a:p>
        </c:txPr>
        <c:crossAx val="48672768"/>
      </c:catAx>
      <c:valAx>
        <c:axId val="48672768"/>
        <c:scaling>
          <c:orientation val="minMax"/>
          <c:max val="0.55"/>
          <c:min val="0"/>
        </c:scaling>
        <c:delete val="0"/>
        <c:axPos val="l"/>
        <c:majorGridlines>
          <c:spPr>
            <a:ln xmlns:a="http://schemas.openxmlformats.org/drawingml/2006/main" w="9525">
              <a:solidFill>
                <a:srgbClr val="29445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A8B6C8"/>
                </a:solidFill>
                <a:latin typeface="Arial"/>
                <a:ea typeface="Arial"/>
                <a:cs typeface="Arial"/>
              </a:defRPr>
            </a:pPr>
          </a:p>
        </c:txPr>
        <c:crossAx val="48650112"/>
        <c:crossBetween val="between"/>
        <c:majorUnit val="0.1"/>
      </c:valAx>
      <c:spPr>
        <a:solidFill xmlns:a="http://schemas.openxmlformats.org/drawingml/2006/main">
          <a:srgbClr val="0F1D2D"/>
        </a:solidFill>
        <a:ln xmlns:a="http://schemas.openxmlformats.org/drawingml/2006/main" w="9525">
          <a:solidFill>
            <a:srgbClr val="29445F"/>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8FAFC"/>
              </a:solidFill>
              <a:latin typeface="Arial"/>
              <a:ea typeface="Arial"/>
              <a:cs typeface="Arial"/>
            </a:defRPr>
          </a:pPr>
        </a:p>
      </c:txPr>
    </c:legend>
    <c:plotVisOnly val="1"/>
  </c:chart>
  <c:spPr>
    <a:solidFill xmlns:a="http://schemas.openxmlformats.org/drawingml/2006/main">
      <a:srgbClr val="07111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446260-64B0-48D5-AC25-0F3F5F3A223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C12F58-5B4C-4C82-8701-D6D0D2890573}"/>
              </a:ext>
            </a:extLst>
          </p:cNvPr>
          <p:cNvSpPr>
            <a:spLocks xmlns:a="http://schemas.openxmlformats.org/drawingml/2006/main" noGrp="1"/>
          </p:cNvSpPr>
          <p:nvPr/>
        </p:nvSpPr>
        <p:spPr>
          <a:xfrm xmlns:a="http://schemas.openxmlformats.org/drawingml/2006/main">
            <a:off x="723900" y="128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700" b="1">
                <a:solidFill>
                  <a:srgbClr val="F8FAFC"/>
                </a:solidFill>
                <a:latin typeface="Arial"/>
                <a:ea typeface="Arial"/>
                <a:cs typeface="Arial"/>
              </a:defRPr>
            </a:pPr>
            <a:r>
              <a:rPr sz="5700" b="1">
                <a:solidFill>
                  <a:srgbClr val="F8FAFC"/>
                </a:solidFill>
                <a:latin typeface="Arial"/>
                <a:ea typeface="Arial"/>
                <a:cs typeface="Arial"/>
              </a:rPr>
              <a:t>AeroGuard</a:t>
            </a:r>
          </a:p>
        </p:txBody>
      </p:sp>
      <p:sp>
        <p:nvSpPr>
          <p:cNvPr id="3" name="">
            <a:extLst xmlns:a="http://schemas.openxmlformats.org/drawingml/2006/main">
              <a:ext uri="{FF2B5EF4-FFF2-40B4-BE49-F238E27FC236}">
                <a16:creationId xmlns:a16="http://schemas.microsoft.com/office/drawing/2014/main" id="{B70B0850-613F-4CF9-803C-3B0911A6E7AA}"/>
              </a:ext>
            </a:extLst>
          </p:cNvPr>
          <p:cNvSpPr>
            <a:spLocks xmlns:a="http://schemas.openxmlformats.org/drawingml/2006/main" noGrp="1"/>
          </p:cNvSpPr>
          <p:nvPr/>
        </p:nvSpPr>
        <p:spPr>
          <a:xfrm xmlns:a="http://schemas.openxmlformats.org/drawingml/2006/main">
            <a:off x="762000" y="22288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22D3EE"/>
                </a:solidFill>
                <a:latin typeface="Arial"/>
                <a:ea typeface="Arial"/>
                <a:cs typeface="Arial"/>
              </a:defRPr>
            </a:pPr>
            <a:r>
              <a:rPr sz="3600" b="1">
                <a:solidFill>
                  <a:srgbClr val="22D3EE"/>
                </a:solidFill>
                <a:latin typeface="Arial"/>
                <a:ea typeface="Arial"/>
                <a:cs typeface="Arial"/>
              </a:rPr>
              <a:t>Review 2 evidence</a:t>
            </a:r>
          </a:p>
        </p:txBody>
      </p:sp>
      <p:sp>
        <p:nvSpPr>
          <p:cNvPr id="4" name="">
            <a:extLst xmlns:a="http://schemas.openxmlformats.org/drawingml/2006/main">
              <a:ext uri="{FF2B5EF4-FFF2-40B4-BE49-F238E27FC236}">
                <a16:creationId xmlns:a16="http://schemas.microsoft.com/office/drawing/2014/main" id="{F0412849-7613-4EBE-B744-435447F00272}"/>
              </a:ext>
            </a:extLst>
          </p:cNvPr>
          <p:cNvSpPr>
            <a:spLocks xmlns:a="http://schemas.openxmlformats.org/drawingml/2006/main" noGrp="1"/>
          </p:cNvSpPr>
          <p:nvPr/>
        </p:nvSpPr>
        <p:spPr>
          <a:xfrm xmlns:a="http://schemas.openxmlformats.org/drawingml/2006/main">
            <a:off x="781050" y="3143250"/>
            <a:ext cx="971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A8B6C8"/>
                </a:solidFill>
                <a:latin typeface="Arial"/>
                <a:ea typeface="Arial"/>
                <a:cs typeface="Arial"/>
              </a:defRPr>
            </a:pPr>
            <a:r>
              <a:rPr sz="2175" b="0">
                <a:solidFill>
                  <a:srgbClr val="A8B6C8"/>
                </a:solidFill>
                <a:latin typeface="Arial"/>
                <a:ea typeface="Arial"/>
                <a:cs typeface="Arial"/>
              </a:rPr>
              <a:t>Full training history, held-out accuracy measures, telemetry stress tests, and a safer adapter experiment</a:t>
            </a:r>
          </a:p>
        </p:txBody>
      </p:sp>
      <p:sp>
        <p:nvSpPr>
          <p:cNvPr id="5" name="">
            <a:extLst xmlns:a="http://schemas.openxmlformats.org/drawingml/2006/main">
              <a:ext uri="{FF2B5EF4-FFF2-40B4-BE49-F238E27FC236}">
                <a16:creationId xmlns:a16="http://schemas.microsoft.com/office/drawing/2014/main" id="{E2492103-9965-48B3-913F-B8ACB0F522C0}"/>
              </a:ext>
            </a:extLst>
          </p:cNvPr>
          <p:cNvSpPr>
            <a:spLocks xmlns:a="http://schemas.openxmlformats.org/drawingml/2006/main" noGrp="1"/>
          </p:cNvSpPr>
          <p:nvPr/>
        </p:nvSpPr>
        <p:spPr>
          <a:xfrm xmlns:a="http://schemas.openxmlformats.org/drawingml/2006/main">
            <a:off x="781050" y="50958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8FAFC"/>
                </a:solidFill>
                <a:latin typeface="Arial"/>
                <a:ea typeface="Arial"/>
                <a:cs typeface="Arial"/>
              </a:defRPr>
            </a:pPr>
            <a:r>
              <a:rPr sz="1875" b="1">
                <a:solidFill>
                  <a:srgbClr val="F8FAFC"/>
                </a:solidFill>
                <a:latin typeface="Arial"/>
                <a:ea typeface="Arial"/>
                <a:cs typeface="Arial"/>
              </a:rPr>
              <a:t>32,823 AU-AIR frames</a:t>
            </a:r>
          </a:p>
        </p:txBody>
      </p:sp>
      <p:sp>
        <p:nvSpPr>
          <p:cNvPr id="6" name="">
            <a:extLst xmlns:a="http://schemas.openxmlformats.org/drawingml/2006/main">
              <a:ext uri="{FF2B5EF4-FFF2-40B4-BE49-F238E27FC236}">
                <a16:creationId xmlns:a16="http://schemas.microsoft.com/office/drawing/2014/main" id="{9E8D5C3C-1CEF-42FB-AEB8-DC2354096826}"/>
              </a:ext>
            </a:extLst>
          </p:cNvPr>
          <p:cNvSpPr>
            <a:spLocks xmlns:a="http://schemas.openxmlformats.org/drawingml/2006/main" noGrp="1"/>
          </p:cNvSpPr>
          <p:nvPr/>
        </p:nvSpPr>
        <p:spPr>
          <a:xfrm xmlns:a="http://schemas.openxmlformats.org/drawingml/2006/main">
            <a:off x="4476750" y="5095875"/>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8FAFC"/>
                </a:solidFill>
                <a:latin typeface="Arial"/>
                <a:ea typeface="Arial"/>
                <a:cs typeface="Arial"/>
              </a:defRPr>
            </a:pPr>
            <a:r>
              <a:rPr sz="1875" b="1">
                <a:solidFill>
                  <a:srgbClr val="F8FAFC"/>
                </a:solidFill>
                <a:latin typeface="Arial"/>
                <a:ea typeface="Arial"/>
                <a:cs typeface="Arial"/>
              </a:rPr>
              <a:t>2 Tesla T4 GPUs</a:t>
            </a:r>
          </a:p>
        </p:txBody>
      </p:sp>
      <p:sp>
        <p:nvSpPr>
          <p:cNvPr id="7" name="">
            <a:extLst xmlns:a="http://schemas.openxmlformats.org/drawingml/2006/main">
              <a:ext uri="{FF2B5EF4-FFF2-40B4-BE49-F238E27FC236}">
                <a16:creationId xmlns:a16="http://schemas.microsoft.com/office/drawing/2014/main" id="{844FCE29-CA50-41E8-9629-89B67D0B5F7E}"/>
              </a:ext>
            </a:extLst>
          </p:cNvPr>
          <p:cNvSpPr>
            <a:spLocks xmlns:a="http://schemas.openxmlformats.org/drawingml/2006/main" noGrp="1"/>
          </p:cNvSpPr>
          <p:nvPr/>
        </p:nvSpPr>
        <p:spPr>
          <a:xfrm xmlns:a="http://schemas.openxmlformats.org/drawingml/2006/main">
            <a:off x="7762875" y="5095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59E0B"/>
                </a:solidFill>
                <a:latin typeface="Arial"/>
                <a:ea typeface="Arial"/>
                <a:cs typeface="Arial"/>
              </a:defRPr>
            </a:pPr>
            <a:r>
              <a:rPr sz="1875" b="1">
                <a:solidFill>
                  <a:srgbClr val="F59E0B"/>
                </a:solidFill>
                <a:latin typeface="Arial"/>
                <a:ea typeface="Arial"/>
                <a:cs typeface="Arial"/>
              </a:rPr>
              <a:t>Final test sealed</a:t>
            </a:r>
          </a:p>
        </p:txBody>
      </p:sp>
      <p:sp>
        <p:nvSpPr>
          <p:cNvPr id="8" name="">
            <a:extLst xmlns:a="http://schemas.openxmlformats.org/drawingml/2006/main">
              <a:ext uri="{FF2B5EF4-FFF2-40B4-BE49-F238E27FC236}">
                <a16:creationId xmlns:a16="http://schemas.microsoft.com/office/drawing/2014/main" id="{92503779-5EA3-4142-98ED-8640FB0B4E2D}"/>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AeroGuard • supervised offline UAV perception review</a:t>
            </a:r>
          </a:p>
        </p:txBody>
      </p:sp>
      <p:sp>
        <p:nvSpPr>
          <p:cNvPr id="9" name="">
            <a:extLst xmlns:a="http://schemas.openxmlformats.org/drawingml/2006/main">
              <a:ext uri="{FF2B5EF4-FFF2-40B4-BE49-F238E27FC236}">
                <a16:creationId xmlns:a16="http://schemas.microsoft.com/office/drawing/2014/main" id="{4F97301F-FD1D-4800-9F17-CE61D53F9322}"/>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1</a:t>
            </a:r>
          </a:p>
        </p:txBody>
      </p:sp>
    </p:spTree>
    <p:extLst>
      <p:ext uri="{BB962C8B-B14F-4D97-AF65-F5344CB8AC3E}">
        <p14:creationId xmlns:p14="http://schemas.microsoft.com/office/powerpoint/2010/main" val="1985922837"/>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84743D-F509-48FE-82AB-D21ED6D5FCC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88310C-CDCD-41E2-9C5B-CD95BE47ED7F}"/>
              </a:ext>
            </a:extLst>
          </p:cNvPr>
          <p:cNvSpPr>
            <a:spLocks xmlns:a="http://schemas.openxmlformats.org/drawingml/2006/main" noGrp="1"/>
          </p:cNvSpPr>
          <p:nvPr/>
        </p:nvSpPr>
        <p:spPr>
          <a:xfrm xmlns:a="http://schemas.openxmlformats.org/drawingml/2006/main">
            <a:off x="628650" y="400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8FAFC"/>
                </a:solidFill>
                <a:latin typeface="Arial"/>
                <a:ea typeface="Arial"/>
                <a:cs typeface="Arial"/>
              </a:defRPr>
            </a:pPr>
            <a:r>
              <a:rPr sz="3375" b="1">
                <a:solidFill>
                  <a:srgbClr val="F8FAFC"/>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D2218207-9655-46C3-ACC4-6F8E5432532A}"/>
              </a:ext>
            </a:extLst>
          </p:cNvPr>
          <p:cNvSpPr>
            <a:spLocks xmlns:a="http://schemas.openxmlformats.org/drawingml/2006/main" noGrp="1"/>
          </p:cNvSpPr>
          <p:nvPr/>
        </p:nvSpPr>
        <p:spPr>
          <a:xfrm xmlns:a="http://schemas.openxmlformats.org/drawingml/2006/main">
            <a:off x="647700" y="1000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Small road users are hard to detect from a moving drone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b3dc083bcbe4207"/>
          <a:stretch xmlns:a="http://schemas.openxmlformats.org/drawingml/2006/main"/>
        </p:blipFill>
        <p:spPr>
          <a:xfrm xmlns:a="http://schemas.openxmlformats.org/drawingml/2006/main">
            <a:off x="6191250" y="1544864"/>
            <a:ext cx="5381625" cy="405402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E357E9-E7FD-415F-9949-37B8B55675A1}"/>
              </a:ext>
            </a:extLst>
          </p:cNvPr>
          <p:cNvSpPr>
            <a:spLocks xmlns:a="http://schemas.openxmlformats.org/drawingml/2006/main" noGrp="1"/>
          </p:cNvSpPr>
          <p:nvPr/>
        </p:nvSpPr>
        <p:spPr>
          <a:xfrm xmlns:a="http://schemas.openxmlformats.org/drawingml/2006/main">
            <a:off x="685800" y="16668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lgn="l">
              <a:spcAft>
                <a:spcPts val="1500"/>
              </a:spcAft>
              <a:buChar char="•"/>
              <a:defRPr sz="2025" b="0">
                <a:solidFill>
                  <a:srgbClr val="F8FAFC"/>
                </a:solidFill>
                <a:latin typeface="Arial"/>
                <a:ea typeface="Arial"/>
                <a:cs typeface="Arial"/>
              </a:defRPr>
            </a:pPr>
            <a:r>
              <a:rPr sz="2025" b="0">
                <a:solidFill>
                  <a:srgbClr val="F8FAFC"/>
                </a:solidFill>
                <a:latin typeface="Arial"/>
                <a:ea typeface="Arial"/>
                <a:cs typeface="Arial"/>
              </a:rPr>
              <a:t>Aerial objects are small and change scale as the drone moves.</a:t>
            </a:r>
          </a:p>
          <a:p xmlns:a="http://schemas.openxmlformats.org/drawingml/2006/main">
            <a:pPr marL="228600" indent="-114300" algn="l">
              <a:spcAft>
                <a:spcPts val="1500"/>
              </a:spcAft>
              <a:buChar char="•"/>
              <a:defRPr sz="2025" b="0">
                <a:solidFill>
                  <a:srgbClr val="F8FAFC"/>
                </a:solidFill>
                <a:latin typeface="Arial"/>
                <a:ea typeface="Arial"/>
                <a:cs typeface="Arial"/>
              </a:defRPr>
            </a:pPr>
            <a:r>
              <a:rPr sz="2025" b="0">
                <a:solidFill>
                  <a:srgbClr val="F8FAFC"/>
                </a:solidFill>
                <a:latin typeface="Arial"/>
                <a:ea typeface="Arial"/>
                <a:cs typeface="Arial"/>
              </a:rPr>
              <a:t>Normal image detectors ignore flight height, speed, and orientation.</a:t>
            </a:r>
          </a:p>
          <a:p xmlns:a="http://schemas.openxmlformats.org/drawingml/2006/main">
            <a:pPr marL="228600" indent="-114300" algn="l">
              <a:spcAft>
                <a:spcPts val="1500"/>
              </a:spcAft>
              <a:buChar char="•"/>
              <a:defRPr sz="2025" b="0">
                <a:solidFill>
                  <a:srgbClr val="F8FAFC"/>
                </a:solidFill>
                <a:latin typeface="Arial"/>
                <a:ea typeface="Arial"/>
                <a:cs typeface="Arial"/>
              </a:defRPr>
            </a:pPr>
            <a:r>
              <a:rPr sz="2025" b="0">
                <a:solidFill>
                  <a:srgbClr val="F8FAFC"/>
                </a:solidFill>
                <a:latin typeface="Arial"/>
                <a:ea typeface="Arial"/>
                <a:cs typeface="Arial"/>
              </a:rPr>
              <a:t>AeroGuard tests whether correctly paired flight state improves detection.</a:t>
            </a:r>
          </a:p>
          <a:p xmlns:a="http://schemas.openxmlformats.org/drawingml/2006/main">
            <a:pPr marL="228600" indent="-114300" algn="l">
              <a:spcAft>
                <a:spcPts val="1500"/>
              </a:spcAft>
              <a:buChar char="•"/>
              <a:defRPr sz="2025" b="0">
                <a:solidFill>
                  <a:srgbClr val="F8FAFC"/>
                </a:solidFill>
                <a:latin typeface="Arial"/>
                <a:ea typeface="Arial"/>
                <a:cs typeface="Arial"/>
              </a:defRPr>
            </a:pPr>
            <a:r>
              <a:rPr sz="2025" b="0">
                <a:solidFill>
                  <a:srgbClr val="F8FAFC"/>
                </a:solidFill>
                <a:latin typeface="Arial"/>
                <a:ea typeface="Arial"/>
                <a:cs typeface="Arial"/>
              </a:rPr>
              <a:t>A human reviews every result. The system never controls the drone.</a:t>
            </a:r>
          </a:p>
        </p:txBody>
      </p:sp>
      <p:sp>
        <p:nvSpPr>
          <p:cNvPr id="6" name="">
            <a:extLst xmlns:a="http://schemas.openxmlformats.org/drawingml/2006/main">
              <a:ext uri="{FF2B5EF4-FFF2-40B4-BE49-F238E27FC236}">
                <a16:creationId xmlns:a16="http://schemas.microsoft.com/office/drawing/2014/main" id="{DF6DFDF5-53E1-4369-9713-0653EFBABCDF}"/>
              </a:ext>
            </a:extLst>
          </p:cNvPr>
          <p:cNvSpPr>
            <a:spLocks xmlns:a="http://schemas.openxmlformats.org/drawingml/2006/main" noGrp="1"/>
          </p:cNvSpPr>
          <p:nvPr/>
        </p:nvSpPr>
        <p:spPr>
          <a:xfrm xmlns:a="http://schemas.openxmlformats.org/drawingml/2006/main">
            <a:off x="704850" y="49530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2D3EE"/>
                </a:solidFill>
                <a:latin typeface="Arial"/>
                <a:ea typeface="Arial"/>
                <a:cs typeface="Arial"/>
              </a:defRPr>
            </a:pPr>
            <a:r>
              <a:rPr sz="1725" b="1">
                <a:solidFill>
                  <a:srgbClr val="22D3EE"/>
                </a:solidFill>
                <a:latin typeface="Arial"/>
                <a:ea typeface="Arial"/>
                <a:cs typeface="Arial"/>
              </a:rPr>
              <a:t>Eight object classes</a:t>
            </a:r>
          </a:p>
        </p:txBody>
      </p:sp>
      <p:sp>
        <p:nvSpPr>
          <p:cNvPr id="7" name="">
            <a:extLst xmlns:a="http://schemas.openxmlformats.org/drawingml/2006/main">
              <a:ext uri="{FF2B5EF4-FFF2-40B4-BE49-F238E27FC236}">
                <a16:creationId xmlns:a16="http://schemas.microsoft.com/office/drawing/2014/main" id="{D91B85AC-1FF0-40C8-A338-226D42EFACE5}"/>
              </a:ext>
            </a:extLst>
          </p:cNvPr>
          <p:cNvSpPr>
            <a:spLocks xmlns:a="http://schemas.openxmlformats.org/drawingml/2006/main" noGrp="1"/>
          </p:cNvSpPr>
          <p:nvPr/>
        </p:nvSpPr>
        <p:spPr>
          <a:xfrm xmlns:a="http://schemas.openxmlformats.org/drawingml/2006/main">
            <a:off x="704850" y="5381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Human, car, truck, van, motorbike, bicycle, bus, trailer</a:t>
            </a:r>
          </a:p>
        </p:txBody>
      </p:sp>
      <p:sp>
        <p:nvSpPr>
          <p:cNvPr id="8" name="">
            <a:extLst xmlns:a="http://schemas.openxmlformats.org/drawingml/2006/main">
              <a:ext uri="{FF2B5EF4-FFF2-40B4-BE49-F238E27FC236}">
                <a16:creationId xmlns:a16="http://schemas.microsoft.com/office/drawing/2014/main" id="{90574004-B529-4927-BB68-9AEB757DB341}"/>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Development evidence only. Final test remains sealed.</a:t>
            </a:r>
          </a:p>
        </p:txBody>
      </p:sp>
      <p:sp>
        <p:nvSpPr>
          <p:cNvPr id="9" name="">
            <a:extLst xmlns:a="http://schemas.openxmlformats.org/drawingml/2006/main">
              <a:ext uri="{FF2B5EF4-FFF2-40B4-BE49-F238E27FC236}">
                <a16:creationId xmlns:a16="http://schemas.microsoft.com/office/drawing/2014/main" id="{6E8A6C7B-AB13-4DD4-ADEC-AFD1769E35E2}"/>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2</a:t>
            </a:r>
          </a:p>
        </p:txBody>
      </p:sp>
    </p:spTree>
    <p:extLst>
      <p:ext uri="{BB962C8B-B14F-4D97-AF65-F5344CB8AC3E}">
        <p14:creationId xmlns:p14="http://schemas.microsoft.com/office/powerpoint/2010/main" val="1075371280"/>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EB63BB-4711-41FC-9BA6-BC652D247CD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D87DA0-5BA1-4055-BE4F-C36B2BA69B75}"/>
              </a:ext>
            </a:extLst>
          </p:cNvPr>
          <p:cNvSpPr>
            <a:spLocks xmlns:a="http://schemas.openxmlformats.org/drawingml/2006/main" noGrp="1"/>
          </p:cNvSpPr>
          <p:nvPr/>
        </p:nvSpPr>
        <p:spPr>
          <a:xfrm xmlns:a="http://schemas.openxmlformats.org/drawingml/2006/main">
            <a:off x="628650" y="400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8FAFC"/>
                </a:solidFill>
                <a:latin typeface="Arial"/>
                <a:ea typeface="Arial"/>
                <a:cs typeface="Arial"/>
              </a:defRPr>
            </a:pPr>
            <a:r>
              <a:rPr sz="3375" b="1">
                <a:solidFill>
                  <a:srgbClr val="F8FAFC"/>
                </a:solidFill>
                <a:latin typeface="Arial"/>
                <a:ea typeface="Arial"/>
                <a:cs typeface="Arial"/>
              </a:rPr>
              <a:t>Dataset split</a:t>
            </a:r>
          </a:p>
        </p:txBody>
      </p:sp>
      <p:sp>
        <p:nvSpPr>
          <p:cNvPr id="3" name="">
            <a:extLst xmlns:a="http://schemas.openxmlformats.org/drawingml/2006/main">
              <a:ext uri="{FF2B5EF4-FFF2-40B4-BE49-F238E27FC236}">
                <a16:creationId xmlns:a16="http://schemas.microsoft.com/office/drawing/2014/main" id="{B2ACE82F-9E52-48BE-824F-4F6A26DDCC88}"/>
              </a:ext>
            </a:extLst>
          </p:cNvPr>
          <p:cNvSpPr>
            <a:spLocks xmlns:a="http://schemas.openxmlformats.org/drawingml/2006/main" noGrp="1"/>
          </p:cNvSpPr>
          <p:nvPr/>
        </p:nvSpPr>
        <p:spPr>
          <a:xfrm xmlns:a="http://schemas.openxmlformats.org/drawingml/2006/main">
            <a:off x="647700" y="1000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Complete flight recordings stay together to prevent near-duplicate leakage</a:t>
            </a:r>
          </a:p>
        </p:txBody>
      </p:sp>
      <p:graphicFrame>
        <p:nvGraphicFramePr>
          <p:cNvPr id="16" name="Chart"/>
          <p:cNvGraphicFramePr/>
          <p:nvPr/>
        </p:nvGraphicFramePr>
        <p:xfrm>
          <a:off xmlns:a="http://schemas.openxmlformats.org/drawingml/2006/main" x="666750" y="1619250"/>
          <a:ext xmlns:a="http://schemas.openxmlformats.org/drawingml/2006/main" cx="7239000" cy="4000500"/>
        </p:xfrm>
        <a:graphic xmlns:a="http://schemas.openxmlformats.org/drawingml/2006/main">
          <a:graphicData uri="http://schemas.openxmlformats.org/drawingml/2006/chart">
            <c:chart xmlns:r="http://schemas.openxmlformats.org/officeDocument/2006/relationships" xmlns:c="http://schemas.openxmlformats.org/drawingml/2006/chart" r:id="R19e55050842c4e94"/>
          </a:graphicData>
        </a:graphic>
      </p:graphicFrame>
      <p:sp>
        <p:nvSpPr>
          <p:cNvPr id="5" name="">
            <a:extLst xmlns:a="http://schemas.openxmlformats.org/drawingml/2006/main">
              <a:ext uri="{FF2B5EF4-FFF2-40B4-BE49-F238E27FC236}">
                <a16:creationId xmlns:a16="http://schemas.microsoft.com/office/drawing/2014/main" id="{D080110B-CE9E-4AC8-BB52-AD0D43CFCC9B}"/>
              </a:ext>
            </a:extLst>
          </p:cNvPr>
          <p:cNvSpPr>
            <a:spLocks xmlns:a="http://schemas.openxmlformats.org/drawingml/2006/main" noGrp="1"/>
          </p:cNvSpPr>
          <p:nvPr/>
        </p:nvSpPr>
        <p:spPr>
          <a:xfrm xmlns:a="http://schemas.openxmlformats.org/drawingml/2006/main">
            <a:off x="8572500" y="19526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22D3EE"/>
                </a:solidFill>
                <a:latin typeface="Arial"/>
                <a:ea typeface="Arial"/>
                <a:cs typeface="Arial"/>
              </a:defRPr>
            </a:pPr>
            <a:r>
              <a:rPr sz="3150" b="1">
                <a:solidFill>
                  <a:srgbClr val="22D3EE"/>
                </a:solidFill>
                <a:latin typeface="Arial"/>
                <a:ea typeface="Arial"/>
                <a:cs typeface="Arial"/>
              </a:rPr>
              <a:t>56.43%</a:t>
            </a:r>
          </a:p>
        </p:txBody>
      </p:sp>
      <p:sp>
        <p:nvSpPr>
          <p:cNvPr id="6" name="">
            <a:extLst xmlns:a="http://schemas.openxmlformats.org/drawingml/2006/main">
              <a:ext uri="{FF2B5EF4-FFF2-40B4-BE49-F238E27FC236}">
                <a16:creationId xmlns:a16="http://schemas.microsoft.com/office/drawing/2014/main" id="{F199E547-7571-4A7B-8FDA-CA7B0B011817}"/>
              </a:ext>
            </a:extLst>
          </p:cNvPr>
          <p:cNvSpPr>
            <a:spLocks xmlns:a="http://schemas.openxmlformats.org/drawingml/2006/main" noGrp="1"/>
          </p:cNvSpPr>
          <p:nvPr/>
        </p:nvSpPr>
        <p:spPr>
          <a:xfrm xmlns:a="http://schemas.openxmlformats.org/drawingml/2006/main">
            <a:off x="8610600" y="24765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A8B6C8"/>
                </a:solidFill>
                <a:latin typeface="Arial"/>
                <a:ea typeface="Arial"/>
                <a:cs typeface="Arial"/>
              </a:defRPr>
            </a:pPr>
            <a:r>
              <a:rPr sz="1650" b="0">
                <a:solidFill>
                  <a:srgbClr val="A8B6C8"/>
                </a:solidFill>
                <a:latin typeface="Arial"/>
                <a:ea typeface="Arial"/>
                <a:cs typeface="Arial"/>
              </a:rPr>
              <a:t>training</a:t>
            </a:r>
          </a:p>
        </p:txBody>
      </p:sp>
      <p:sp>
        <p:nvSpPr>
          <p:cNvPr id="7" name="">
            <a:extLst xmlns:a="http://schemas.openxmlformats.org/drawingml/2006/main">
              <a:ext uri="{FF2B5EF4-FFF2-40B4-BE49-F238E27FC236}">
                <a16:creationId xmlns:a16="http://schemas.microsoft.com/office/drawing/2014/main" id="{3A0C138B-20F2-4D85-A1A2-E0F167DFF5D6}"/>
              </a:ext>
            </a:extLst>
          </p:cNvPr>
          <p:cNvSpPr>
            <a:spLocks xmlns:a="http://schemas.openxmlformats.org/drawingml/2006/main" noGrp="1"/>
          </p:cNvSpPr>
          <p:nvPr/>
        </p:nvSpPr>
        <p:spPr>
          <a:xfrm xmlns:a="http://schemas.openxmlformats.org/drawingml/2006/main">
            <a:off x="8572500" y="319087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F59E0B"/>
                </a:solidFill>
                <a:latin typeface="Arial"/>
                <a:ea typeface="Arial"/>
                <a:cs typeface="Arial"/>
              </a:defRPr>
            </a:pPr>
            <a:r>
              <a:rPr sz="3150" b="1">
                <a:solidFill>
                  <a:srgbClr val="F59E0B"/>
                </a:solidFill>
                <a:latin typeface="Arial"/>
                <a:ea typeface="Arial"/>
                <a:cs typeface="Arial"/>
              </a:rPr>
              <a:t>17.47%</a:t>
            </a:r>
          </a:p>
        </p:txBody>
      </p:sp>
      <p:sp>
        <p:nvSpPr>
          <p:cNvPr id="8" name="">
            <a:extLst xmlns:a="http://schemas.openxmlformats.org/drawingml/2006/main">
              <a:ext uri="{FF2B5EF4-FFF2-40B4-BE49-F238E27FC236}">
                <a16:creationId xmlns:a16="http://schemas.microsoft.com/office/drawing/2014/main" id="{29063851-15E0-422C-B380-CDEDDA7B493C}"/>
              </a:ext>
            </a:extLst>
          </p:cNvPr>
          <p:cNvSpPr>
            <a:spLocks xmlns:a="http://schemas.openxmlformats.org/drawingml/2006/main" noGrp="1"/>
          </p:cNvSpPr>
          <p:nvPr/>
        </p:nvSpPr>
        <p:spPr>
          <a:xfrm xmlns:a="http://schemas.openxmlformats.org/drawingml/2006/main">
            <a:off x="8610600" y="37147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A8B6C8"/>
                </a:solidFill>
                <a:latin typeface="Arial"/>
                <a:ea typeface="Arial"/>
                <a:cs typeface="Arial"/>
              </a:defRPr>
            </a:pPr>
            <a:r>
              <a:rPr sz="1650" b="0">
                <a:solidFill>
                  <a:srgbClr val="A8B6C8"/>
                </a:solidFill>
                <a:latin typeface="Arial"/>
                <a:ea typeface="Arial"/>
                <a:cs typeface="Arial"/>
              </a:rPr>
              <a:t>development</a:t>
            </a:r>
          </a:p>
        </p:txBody>
      </p:sp>
      <p:sp>
        <p:nvSpPr>
          <p:cNvPr id="9" name="">
            <a:extLst xmlns:a="http://schemas.openxmlformats.org/drawingml/2006/main">
              <a:ext uri="{FF2B5EF4-FFF2-40B4-BE49-F238E27FC236}">
                <a16:creationId xmlns:a16="http://schemas.microsoft.com/office/drawing/2014/main" id="{5D138D0E-508A-4337-B5A8-F3A4EE717E96}"/>
              </a:ext>
            </a:extLst>
          </p:cNvPr>
          <p:cNvSpPr>
            <a:spLocks xmlns:a="http://schemas.openxmlformats.org/drawingml/2006/main" noGrp="1"/>
          </p:cNvSpPr>
          <p:nvPr/>
        </p:nvSpPr>
        <p:spPr>
          <a:xfrm xmlns:a="http://schemas.openxmlformats.org/drawingml/2006/main">
            <a:off x="8572500" y="44291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A78BFA"/>
                </a:solidFill>
                <a:latin typeface="Arial"/>
                <a:ea typeface="Arial"/>
                <a:cs typeface="Arial"/>
              </a:defRPr>
            </a:pPr>
            <a:r>
              <a:rPr sz="3150" b="1">
                <a:solidFill>
                  <a:srgbClr val="A78BFA"/>
                </a:solidFill>
                <a:latin typeface="Arial"/>
                <a:ea typeface="Arial"/>
                <a:cs typeface="Arial"/>
              </a:rPr>
              <a:t>26.10%</a:t>
            </a:r>
          </a:p>
        </p:txBody>
      </p:sp>
      <p:sp>
        <p:nvSpPr>
          <p:cNvPr id="10" name="">
            <a:extLst xmlns:a="http://schemas.openxmlformats.org/drawingml/2006/main">
              <a:ext uri="{FF2B5EF4-FFF2-40B4-BE49-F238E27FC236}">
                <a16:creationId xmlns:a16="http://schemas.microsoft.com/office/drawing/2014/main" id="{4AC6515E-CA0B-4E8E-AC15-4ADF7DD283E5}"/>
              </a:ext>
            </a:extLst>
          </p:cNvPr>
          <p:cNvSpPr>
            <a:spLocks xmlns:a="http://schemas.openxmlformats.org/drawingml/2006/main" noGrp="1"/>
          </p:cNvSpPr>
          <p:nvPr/>
        </p:nvSpPr>
        <p:spPr>
          <a:xfrm xmlns:a="http://schemas.openxmlformats.org/drawingml/2006/main">
            <a:off x="8610600" y="49530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A8B6C8"/>
                </a:solidFill>
                <a:latin typeface="Arial"/>
                <a:ea typeface="Arial"/>
                <a:cs typeface="Arial"/>
              </a:defRPr>
            </a:pPr>
            <a:r>
              <a:rPr sz="1650" b="0">
                <a:solidFill>
                  <a:srgbClr val="A8B6C8"/>
                </a:solidFill>
                <a:latin typeface="Arial"/>
                <a:ea typeface="Arial"/>
                <a:cs typeface="Arial"/>
              </a:rPr>
              <a:t>sealed test</a:t>
            </a:r>
          </a:p>
        </p:txBody>
      </p:sp>
      <p:sp>
        <p:nvSpPr>
          <p:cNvPr id="11" name="">
            <a:extLst xmlns:a="http://schemas.openxmlformats.org/drawingml/2006/main">
              <a:ext uri="{FF2B5EF4-FFF2-40B4-BE49-F238E27FC236}">
                <a16:creationId xmlns:a16="http://schemas.microsoft.com/office/drawing/2014/main" id="{42189566-0908-4F55-ACE2-DB054BF1C7D5}"/>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Development evidence only. Final test remains sealed.</a:t>
            </a:r>
          </a:p>
        </p:txBody>
      </p:sp>
      <p:sp>
        <p:nvSpPr>
          <p:cNvPr id="12" name="">
            <a:extLst xmlns:a="http://schemas.openxmlformats.org/drawingml/2006/main">
              <a:ext uri="{FF2B5EF4-FFF2-40B4-BE49-F238E27FC236}">
                <a16:creationId xmlns:a16="http://schemas.microsoft.com/office/drawing/2014/main" id="{BA43E344-C5D1-45D6-9186-BC9AD7FE1F35}"/>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3</a:t>
            </a:r>
          </a:p>
        </p:txBody>
      </p:sp>
    </p:spTree>
    <p:extLst>
      <p:ext uri="{BB962C8B-B14F-4D97-AF65-F5344CB8AC3E}">
        <p14:creationId xmlns:p14="http://schemas.microsoft.com/office/powerpoint/2010/main" val="1175554528"/>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9062E8-F3B5-4904-9EC2-18F82C6735B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D0FD16-A81C-43C1-AC71-3122CD09E64D}"/>
              </a:ext>
            </a:extLst>
          </p:cNvPr>
          <p:cNvSpPr>
            <a:spLocks xmlns:a="http://schemas.openxmlformats.org/drawingml/2006/main" noGrp="1"/>
          </p:cNvSpPr>
          <p:nvPr/>
        </p:nvSpPr>
        <p:spPr>
          <a:xfrm xmlns:a="http://schemas.openxmlformats.org/drawingml/2006/main">
            <a:off x="628650" y="400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8FAFC"/>
                </a:solidFill>
                <a:latin typeface="Arial"/>
                <a:ea typeface="Arial"/>
                <a:cs typeface="Arial"/>
              </a:defRPr>
            </a:pPr>
            <a:r>
              <a:rPr sz="3375" b="1">
                <a:solidFill>
                  <a:srgbClr val="F8FAFC"/>
                </a:solidFill>
                <a:latin typeface="Arial"/>
                <a:ea typeface="Arial"/>
                <a:cs typeface="Arial"/>
              </a:rPr>
              <a:t>Matched model architecture</a:t>
            </a:r>
          </a:p>
        </p:txBody>
      </p:sp>
      <p:sp>
        <p:nvSpPr>
          <p:cNvPr id="3" name="">
            <a:extLst xmlns:a="http://schemas.openxmlformats.org/drawingml/2006/main">
              <a:ext uri="{FF2B5EF4-FFF2-40B4-BE49-F238E27FC236}">
                <a16:creationId xmlns:a16="http://schemas.microsoft.com/office/drawing/2014/main" id="{140257E6-7186-41EA-82EF-560B60169DE1}"/>
              </a:ext>
            </a:extLst>
          </p:cNvPr>
          <p:cNvSpPr>
            <a:spLocks xmlns:a="http://schemas.openxmlformats.org/drawingml/2006/main" noGrp="1"/>
          </p:cNvSpPr>
          <p:nvPr/>
        </p:nvSpPr>
        <p:spPr>
          <a:xfrm xmlns:a="http://schemas.openxmlformats.org/drawingml/2006/main">
            <a:off x="647700" y="1000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E1 and E2 share the same detector, initialization, and frame order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9c36a7dd53449bb"/>
          <a:stretch xmlns:a="http://schemas.openxmlformats.org/drawingml/2006/main"/>
        </p:blipFill>
        <p:spPr>
          <a:xfrm xmlns:a="http://schemas.openxmlformats.org/drawingml/2006/main">
            <a:off x="1623013" y="1381125"/>
            <a:ext cx="8945974"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1A2E0C-65B4-4DFF-9FFB-BAA86EE4FDA6}"/>
              </a:ext>
            </a:extLst>
          </p:cNvPr>
          <p:cNvSpPr>
            <a:spLocks xmlns:a="http://schemas.openxmlformats.org/drawingml/2006/main" noGrp="1"/>
          </p:cNvSpPr>
          <p:nvPr/>
        </p:nvSpPr>
        <p:spPr>
          <a:xfrm xmlns:a="http://schemas.openxmlformats.org/drawingml/2006/main">
            <a:off x="1381125" y="5810250"/>
            <a:ext cx="942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75" b="1">
                <a:solidFill>
                  <a:srgbClr val="22D3EE"/>
                </a:solidFill>
                <a:latin typeface="Arial"/>
                <a:ea typeface="Arial"/>
                <a:cs typeface="Arial"/>
              </a:defRPr>
            </a:pPr>
            <a:r>
              <a:rPr sz="1575" b="1">
                <a:solidFill>
                  <a:srgbClr val="22D3EE"/>
                </a:solidFill>
                <a:latin typeface="Arial"/>
                <a:ea typeface="Arial"/>
                <a:cs typeface="Arial"/>
              </a:rPr>
              <a:t>Review 2: 18,523 steps per arm. E1 masks state. E2 applies gated FiLM to five feature levels.</a:t>
            </a:r>
          </a:p>
        </p:txBody>
      </p:sp>
      <p:sp>
        <p:nvSpPr>
          <p:cNvPr id="6" name="">
            <a:extLst xmlns:a="http://schemas.openxmlformats.org/drawingml/2006/main">
              <a:ext uri="{FF2B5EF4-FFF2-40B4-BE49-F238E27FC236}">
                <a16:creationId xmlns:a16="http://schemas.microsoft.com/office/drawing/2014/main" id="{A981DF3F-4912-4C7B-B0B2-6F02C52274C3}"/>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Development evidence only. Final test remains sealed.</a:t>
            </a:r>
          </a:p>
        </p:txBody>
      </p:sp>
      <p:sp>
        <p:nvSpPr>
          <p:cNvPr id="7" name="">
            <a:extLst xmlns:a="http://schemas.openxmlformats.org/drawingml/2006/main">
              <a:ext uri="{FF2B5EF4-FFF2-40B4-BE49-F238E27FC236}">
                <a16:creationId xmlns:a16="http://schemas.microsoft.com/office/drawing/2014/main" id="{C59DCB0F-554B-4252-B876-EA6F8FBD027D}"/>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4</a:t>
            </a:r>
          </a:p>
        </p:txBody>
      </p:sp>
    </p:spTree>
    <p:extLst>
      <p:ext uri="{BB962C8B-B14F-4D97-AF65-F5344CB8AC3E}">
        <p14:creationId xmlns:p14="http://schemas.microsoft.com/office/powerpoint/2010/main" val="368093991"/>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8A560F-7960-4D51-94B9-32DF65B0D74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CFB9F8-AFAB-4E2A-AA00-961737D38EE9}"/>
              </a:ext>
            </a:extLst>
          </p:cNvPr>
          <p:cNvSpPr>
            <a:spLocks xmlns:a="http://schemas.openxmlformats.org/drawingml/2006/main" noGrp="1"/>
          </p:cNvSpPr>
          <p:nvPr/>
        </p:nvSpPr>
        <p:spPr>
          <a:xfrm xmlns:a="http://schemas.openxmlformats.org/drawingml/2006/main">
            <a:off x="628650" y="400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8FAFC"/>
                </a:solidFill>
                <a:latin typeface="Arial"/>
                <a:ea typeface="Arial"/>
                <a:cs typeface="Arial"/>
              </a:defRPr>
            </a:pPr>
            <a:r>
              <a:rPr sz="3375" b="1">
                <a:solidFill>
                  <a:srgbClr val="F8FAFC"/>
                </a:solidFill>
                <a:latin typeface="Arial"/>
                <a:ea typeface="Arial"/>
                <a:cs typeface="Arial"/>
              </a:rPr>
              <a:t>Complete training record</a:t>
            </a:r>
          </a:p>
        </p:txBody>
      </p:sp>
      <p:sp>
        <p:nvSpPr>
          <p:cNvPr id="3" name="">
            <a:extLst xmlns:a="http://schemas.openxmlformats.org/drawingml/2006/main">
              <a:ext uri="{FF2B5EF4-FFF2-40B4-BE49-F238E27FC236}">
                <a16:creationId xmlns:a16="http://schemas.microsoft.com/office/drawing/2014/main" id="{B6661701-B1ED-46EE-8723-98A099FD97A1}"/>
              </a:ext>
            </a:extLst>
          </p:cNvPr>
          <p:cNvSpPr>
            <a:spLocks xmlns:a="http://schemas.openxmlformats.org/drawingml/2006/main" noGrp="1"/>
          </p:cNvSpPr>
          <p:nvPr/>
        </p:nvSpPr>
        <p:spPr>
          <a:xfrm xmlns:a="http://schemas.openxmlformats.org/drawingml/2006/main">
            <a:off x="647700" y="1000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Every optimizer step is stored for both full-pass runs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1c58d2e0cbe4ac1"/>
          <a:stretch xmlns:a="http://schemas.openxmlformats.org/drawingml/2006/main"/>
        </p:blipFill>
        <p:spPr>
          <a:xfrm xmlns:a="http://schemas.openxmlformats.org/drawingml/2006/main">
            <a:off x="1211385" y="1285875"/>
            <a:ext cx="9769231"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D29C75-461B-4F62-BB72-161B67E07D8F}"/>
              </a:ext>
            </a:extLst>
          </p:cNvPr>
          <p:cNvSpPr>
            <a:spLocks xmlns:a="http://schemas.openxmlformats.org/drawingml/2006/main" noGrp="1"/>
          </p:cNvSpPr>
          <p:nvPr/>
        </p:nvSpPr>
        <p:spPr>
          <a:xfrm xmlns:a="http://schemas.openxmlformats.org/drawingml/2006/main">
            <a:off x="1238250" y="5953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22D3EE"/>
                </a:solidFill>
                <a:latin typeface="Arial"/>
                <a:ea typeface="Arial"/>
                <a:cs typeface="Arial"/>
              </a:defRPr>
            </a:pPr>
            <a:r>
              <a:rPr sz="1650" b="1">
                <a:solidFill>
                  <a:srgbClr val="22D3EE"/>
                </a:solidFill>
                <a:latin typeface="Arial"/>
                <a:ea typeface="Arial"/>
                <a:cs typeface="Arial"/>
              </a:rPr>
              <a:t>18,523 steps each</a:t>
            </a:r>
          </a:p>
        </p:txBody>
      </p:sp>
      <p:sp>
        <p:nvSpPr>
          <p:cNvPr id="6" name="">
            <a:extLst xmlns:a="http://schemas.openxmlformats.org/drawingml/2006/main">
              <a:ext uri="{FF2B5EF4-FFF2-40B4-BE49-F238E27FC236}">
                <a16:creationId xmlns:a16="http://schemas.microsoft.com/office/drawing/2014/main" id="{816CF26E-0B94-45E5-8006-7AD789FB2931}"/>
              </a:ext>
            </a:extLst>
          </p:cNvPr>
          <p:cNvSpPr>
            <a:spLocks xmlns:a="http://schemas.openxmlformats.org/drawingml/2006/main" noGrp="1"/>
          </p:cNvSpPr>
          <p:nvPr/>
        </p:nvSpPr>
        <p:spPr>
          <a:xfrm xmlns:a="http://schemas.openxmlformats.org/drawingml/2006/main">
            <a:off x="4667250" y="5953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34D399"/>
                </a:solidFill>
                <a:latin typeface="Arial"/>
                <a:ea typeface="Arial"/>
                <a:cs typeface="Arial"/>
              </a:defRPr>
            </a:pPr>
            <a:r>
              <a:rPr sz="1650" b="1">
                <a:solidFill>
                  <a:srgbClr val="34D399"/>
                </a:solidFill>
                <a:latin typeface="Arial"/>
                <a:ea typeface="Arial"/>
                <a:cs typeface="Arial"/>
              </a:rPr>
              <a:t>100% training coverage</a:t>
            </a:r>
          </a:p>
        </p:txBody>
      </p:sp>
      <p:sp>
        <p:nvSpPr>
          <p:cNvPr id="7" name="">
            <a:extLst xmlns:a="http://schemas.openxmlformats.org/drawingml/2006/main">
              <a:ext uri="{FF2B5EF4-FFF2-40B4-BE49-F238E27FC236}">
                <a16:creationId xmlns:a16="http://schemas.microsoft.com/office/drawing/2014/main" id="{F76B4D26-9863-4921-B635-8CE491531E5C}"/>
              </a:ext>
            </a:extLst>
          </p:cNvPr>
          <p:cNvSpPr>
            <a:spLocks xmlns:a="http://schemas.openxmlformats.org/drawingml/2006/main" noGrp="1"/>
          </p:cNvSpPr>
          <p:nvPr/>
        </p:nvSpPr>
        <p:spPr>
          <a:xfrm xmlns:a="http://schemas.openxmlformats.org/drawingml/2006/main">
            <a:off x="8096250" y="5953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F59E0B"/>
                </a:solidFill>
                <a:latin typeface="Arial"/>
                <a:ea typeface="Arial"/>
                <a:cs typeface="Arial"/>
              </a:defRPr>
            </a:pPr>
            <a:r>
              <a:rPr sz="1650" b="1">
                <a:solidFill>
                  <a:srgbClr val="F59E0B"/>
                </a:solidFill>
                <a:latin typeface="Arial"/>
                <a:ea typeface="Arial"/>
                <a:cs typeface="Arial"/>
              </a:rPr>
              <a:t>47.6 minutes in parallel</a:t>
            </a:r>
          </a:p>
        </p:txBody>
      </p:sp>
      <p:sp>
        <p:nvSpPr>
          <p:cNvPr id="8" name="">
            <a:extLst xmlns:a="http://schemas.openxmlformats.org/drawingml/2006/main">
              <a:ext uri="{FF2B5EF4-FFF2-40B4-BE49-F238E27FC236}">
                <a16:creationId xmlns:a16="http://schemas.microsoft.com/office/drawing/2014/main" id="{97479160-B655-457D-BD77-FB0838AB0B8C}"/>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Development evidence only. Final test remains sealed.</a:t>
            </a:r>
          </a:p>
        </p:txBody>
      </p:sp>
      <p:sp>
        <p:nvSpPr>
          <p:cNvPr id="9" name="">
            <a:extLst xmlns:a="http://schemas.openxmlformats.org/drawingml/2006/main">
              <a:ext uri="{FF2B5EF4-FFF2-40B4-BE49-F238E27FC236}">
                <a16:creationId xmlns:a16="http://schemas.microsoft.com/office/drawing/2014/main" id="{BB4EB0D1-C89F-40C2-B6F0-4423DA572E74}"/>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5</a:t>
            </a:r>
          </a:p>
        </p:txBody>
      </p:sp>
    </p:spTree>
    <p:extLst>
      <p:ext uri="{BB962C8B-B14F-4D97-AF65-F5344CB8AC3E}">
        <p14:creationId xmlns:p14="http://schemas.microsoft.com/office/powerpoint/2010/main" val="666355432"/>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F62E64-9572-447F-8CFF-3D7F61F0C63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31BA7A-B1C0-476E-B7D5-6D28D877EF2D}"/>
              </a:ext>
            </a:extLst>
          </p:cNvPr>
          <p:cNvSpPr>
            <a:spLocks xmlns:a="http://schemas.openxmlformats.org/drawingml/2006/main" noGrp="1"/>
          </p:cNvSpPr>
          <p:nvPr/>
        </p:nvSpPr>
        <p:spPr>
          <a:xfrm xmlns:a="http://schemas.openxmlformats.org/drawingml/2006/main">
            <a:off x="628650" y="400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8FAFC"/>
                </a:solidFill>
                <a:latin typeface="Arial"/>
                <a:ea typeface="Arial"/>
                <a:cs typeface="Arial"/>
              </a:defRPr>
            </a:pPr>
            <a:r>
              <a:rPr sz="3375" b="1">
                <a:solidFill>
                  <a:srgbClr val="F8FAFC"/>
                </a:solidFill>
                <a:latin typeface="Arial"/>
                <a:ea typeface="Arial"/>
                <a:cs typeface="Arial"/>
              </a:rPr>
              <a:t>Held-out development results</a:t>
            </a:r>
          </a:p>
        </p:txBody>
      </p:sp>
      <p:sp>
        <p:nvSpPr>
          <p:cNvPr id="3" name="">
            <a:extLst xmlns:a="http://schemas.openxmlformats.org/drawingml/2006/main">
              <a:ext uri="{FF2B5EF4-FFF2-40B4-BE49-F238E27FC236}">
                <a16:creationId xmlns:a16="http://schemas.microsoft.com/office/drawing/2014/main" id="{38B6020A-639F-466C-864F-F0F65DE87DD9}"/>
              </a:ext>
            </a:extLst>
          </p:cNvPr>
          <p:cNvSpPr>
            <a:spLocks xmlns:a="http://schemas.openxmlformats.org/drawingml/2006/main" noGrp="1"/>
          </p:cNvSpPr>
          <p:nvPr/>
        </p:nvSpPr>
        <p:spPr>
          <a:xfrm xmlns:a="http://schemas.openxmlformats.org/drawingml/2006/main">
            <a:off x="647700" y="1000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The full pass improved both models, but E1 now leads the jointly trained E2</a:t>
            </a:r>
          </a:p>
        </p:txBody>
      </p:sp>
      <p:graphicFrame>
        <p:nvGraphicFramePr>
          <p:cNvPr id="15" name="Chart"/>
          <p:cNvGraphicFramePr/>
          <p:nvPr/>
        </p:nvGraphicFramePr>
        <p:xfrm>
          <a:off xmlns:a="http://schemas.openxmlformats.org/drawingml/2006/main" x="523875" y="1571625"/>
          <a:ext xmlns:a="http://schemas.openxmlformats.org/drawingml/2006/main" cx="6858000" cy="3810000"/>
        </p:xfrm>
        <a:graphic xmlns:a="http://schemas.openxmlformats.org/drawingml/2006/main">
          <a:graphicData uri="http://schemas.openxmlformats.org/drawingml/2006/chart">
            <c:chart xmlns:r="http://schemas.openxmlformats.org/officeDocument/2006/relationships" xmlns:c="http://schemas.openxmlformats.org/drawingml/2006/chart" r:id="R8a9b140b7b294889"/>
          </a:graphicData>
        </a:graphic>
      </p:graphicFrame>
      <p:sp>
        <p:nvSpPr>
          <p:cNvPr id="5" name="">
            <a:extLst xmlns:a="http://schemas.openxmlformats.org/drawingml/2006/main">
              <a:ext uri="{FF2B5EF4-FFF2-40B4-BE49-F238E27FC236}">
                <a16:creationId xmlns:a16="http://schemas.microsoft.com/office/drawing/2014/main" id="{E27B3732-2447-4B9E-B4D2-5D37507937C5}"/>
              </a:ext>
            </a:extLst>
          </p:cNvPr>
          <p:cNvSpPr>
            <a:spLocks xmlns:a="http://schemas.openxmlformats.org/drawingml/2006/main" noGrp="1"/>
          </p:cNvSpPr>
          <p:nvPr/>
        </p:nvSpPr>
        <p:spPr>
          <a:xfrm xmlns:a="http://schemas.openxmlformats.org/drawingml/2006/main">
            <a:off x="8143875" y="16954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2D3EE"/>
                </a:solidFill>
                <a:latin typeface="Arial"/>
                <a:ea typeface="Arial"/>
                <a:cs typeface="Arial"/>
              </a:defRPr>
            </a:pPr>
            <a:r>
              <a:rPr sz="3000" b="1">
                <a:solidFill>
                  <a:srgbClr val="22D3EE"/>
                </a:solidFill>
                <a:latin typeface="Arial"/>
                <a:ea typeface="Arial"/>
                <a:cs typeface="Arial"/>
              </a:rPr>
              <a:t>E1</a:t>
            </a:r>
          </a:p>
        </p:txBody>
      </p:sp>
      <p:sp>
        <p:nvSpPr>
          <p:cNvPr id="6" name="">
            <a:extLst xmlns:a="http://schemas.openxmlformats.org/drawingml/2006/main">
              <a:ext uri="{FF2B5EF4-FFF2-40B4-BE49-F238E27FC236}">
                <a16:creationId xmlns:a16="http://schemas.microsoft.com/office/drawing/2014/main" id="{73A82900-65BE-499F-BBCA-687BC9E868AF}"/>
              </a:ext>
            </a:extLst>
          </p:cNvPr>
          <p:cNvSpPr>
            <a:spLocks xmlns:a="http://schemas.openxmlformats.org/drawingml/2006/main" noGrp="1"/>
          </p:cNvSpPr>
          <p:nvPr/>
        </p:nvSpPr>
        <p:spPr>
          <a:xfrm xmlns:a="http://schemas.openxmlformats.org/drawingml/2006/main">
            <a:off x="8143875" y="2238375"/>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F8FAFC"/>
                </a:solidFill>
                <a:latin typeface="Arial"/>
                <a:ea typeface="Arial"/>
                <a:cs typeface="Arial"/>
              </a:defRPr>
            </a:pPr>
            <a:r>
              <a:rPr sz="1950" b="0">
                <a:solidFill>
                  <a:srgbClr val="F8FAFC"/>
                </a:solidFill>
                <a:latin typeface="Arial"/>
                <a:ea typeface="Arial"/>
                <a:cs typeface="Arial"/>
              </a:rPr>
              <a:t>AP50 0.1698</a:t>
            </a:r>
          </a:p>
          <a:p xmlns:a="http://schemas.openxmlformats.org/drawingml/2006/main">
            <a:pPr algn="l">
              <a:defRPr sz="1950" b="0">
                <a:solidFill>
                  <a:srgbClr val="F8FAFC"/>
                </a:solidFill>
                <a:latin typeface="Arial"/>
                <a:ea typeface="Arial"/>
                <a:cs typeface="Arial"/>
              </a:defRPr>
            </a:pPr>
            <a:r>
              <a:rPr sz="1950" b="0">
                <a:solidFill>
                  <a:srgbClr val="F8FAFC"/>
                </a:solidFill>
                <a:latin typeface="Arial"/>
                <a:ea typeface="Arial"/>
                <a:cs typeface="Arial"/>
              </a:rPr>
              <a:t>F1 0.4503</a:t>
            </a:r>
          </a:p>
          <a:p xmlns:a="http://schemas.openxmlformats.org/drawingml/2006/main">
            <a:pPr algn="l">
              <a:defRPr sz="1950" b="0">
                <a:solidFill>
                  <a:srgbClr val="F8FAFC"/>
                </a:solidFill>
                <a:latin typeface="Arial"/>
                <a:ea typeface="Arial"/>
                <a:cs typeface="Arial"/>
              </a:defRPr>
            </a:pPr>
            <a:r>
              <a:rPr sz="1950" b="0">
                <a:solidFill>
                  <a:srgbClr val="F8FAFC"/>
                </a:solidFill>
                <a:latin typeface="Arial"/>
                <a:ea typeface="Arial"/>
                <a:cs typeface="Arial"/>
              </a:rPr>
              <a:t>Accuracy 0.2906</a:t>
            </a:r>
          </a:p>
        </p:txBody>
      </p:sp>
      <p:sp>
        <p:nvSpPr>
          <p:cNvPr id="7" name="">
            <a:extLst xmlns:a="http://schemas.openxmlformats.org/drawingml/2006/main">
              <a:ext uri="{FF2B5EF4-FFF2-40B4-BE49-F238E27FC236}">
                <a16:creationId xmlns:a16="http://schemas.microsoft.com/office/drawing/2014/main" id="{CE7DFE00-2DB2-435B-A3F7-BF825A18A5A1}"/>
              </a:ext>
            </a:extLst>
          </p:cNvPr>
          <p:cNvSpPr>
            <a:spLocks xmlns:a="http://schemas.openxmlformats.org/drawingml/2006/main" noGrp="1"/>
          </p:cNvSpPr>
          <p:nvPr/>
        </p:nvSpPr>
        <p:spPr>
          <a:xfrm xmlns:a="http://schemas.openxmlformats.org/drawingml/2006/main">
            <a:off x="8143875" y="385762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F59E0B"/>
                </a:solidFill>
                <a:latin typeface="Arial"/>
                <a:ea typeface="Arial"/>
                <a:cs typeface="Arial"/>
              </a:defRPr>
            </a:pPr>
            <a:r>
              <a:rPr sz="3000" b="1">
                <a:solidFill>
                  <a:srgbClr val="F59E0B"/>
                </a:solidFill>
                <a:latin typeface="Arial"/>
                <a:ea typeface="Arial"/>
                <a:cs typeface="Arial"/>
              </a:rPr>
              <a:t>E2</a:t>
            </a:r>
          </a:p>
        </p:txBody>
      </p:sp>
      <p:sp>
        <p:nvSpPr>
          <p:cNvPr id="8" name="">
            <a:extLst xmlns:a="http://schemas.openxmlformats.org/drawingml/2006/main">
              <a:ext uri="{FF2B5EF4-FFF2-40B4-BE49-F238E27FC236}">
                <a16:creationId xmlns:a16="http://schemas.microsoft.com/office/drawing/2014/main" id="{0C14AF6A-8831-47ED-9EDC-38CA11A42A34}"/>
              </a:ext>
            </a:extLst>
          </p:cNvPr>
          <p:cNvSpPr>
            <a:spLocks xmlns:a="http://schemas.openxmlformats.org/drawingml/2006/main" noGrp="1"/>
          </p:cNvSpPr>
          <p:nvPr/>
        </p:nvSpPr>
        <p:spPr>
          <a:xfrm xmlns:a="http://schemas.openxmlformats.org/drawingml/2006/main">
            <a:off x="8143875" y="44005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F8FAFC"/>
                </a:solidFill>
                <a:latin typeface="Arial"/>
                <a:ea typeface="Arial"/>
                <a:cs typeface="Arial"/>
              </a:defRPr>
            </a:pPr>
            <a:r>
              <a:rPr sz="1950" b="0">
                <a:solidFill>
                  <a:srgbClr val="F8FAFC"/>
                </a:solidFill>
                <a:latin typeface="Arial"/>
                <a:ea typeface="Arial"/>
                <a:cs typeface="Arial"/>
              </a:rPr>
              <a:t>AP50 0.1146</a:t>
            </a:r>
          </a:p>
          <a:p xmlns:a="http://schemas.openxmlformats.org/drawingml/2006/main">
            <a:pPr algn="l">
              <a:defRPr sz="1950" b="0">
                <a:solidFill>
                  <a:srgbClr val="F8FAFC"/>
                </a:solidFill>
                <a:latin typeface="Arial"/>
                <a:ea typeface="Arial"/>
                <a:cs typeface="Arial"/>
              </a:defRPr>
            </a:pPr>
            <a:r>
              <a:rPr sz="1950" b="0">
                <a:solidFill>
                  <a:srgbClr val="F8FAFC"/>
                </a:solidFill>
                <a:latin typeface="Arial"/>
                <a:ea typeface="Arial"/>
                <a:cs typeface="Arial"/>
              </a:rPr>
              <a:t>F1 0.2515</a:t>
            </a:r>
          </a:p>
          <a:p xmlns:a="http://schemas.openxmlformats.org/drawingml/2006/main">
            <a:pPr algn="l">
              <a:defRPr sz="1950" b="0">
                <a:solidFill>
                  <a:srgbClr val="F8FAFC"/>
                </a:solidFill>
                <a:latin typeface="Arial"/>
                <a:ea typeface="Arial"/>
                <a:cs typeface="Arial"/>
              </a:defRPr>
            </a:pPr>
            <a:r>
              <a:rPr sz="1950" b="0">
                <a:solidFill>
                  <a:srgbClr val="F8FAFC"/>
                </a:solidFill>
                <a:latin typeface="Arial"/>
                <a:ea typeface="Arial"/>
                <a:cs typeface="Arial"/>
              </a:rPr>
              <a:t>Accuracy 0.1438</a:t>
            </a:r>
          </a:p>
        </p:txBody>
      </p:sp>
      <p:sp>
        <p:nvSpPr>
          <p:cNvPr id="9" name="">
            <a:extLst xmlns:a="http://schemas.openxmlformats.org/drawingml/2006/main">
              <a:ext uri="{FF2B5EF4-FFF2-40B4-BE49-F238E27FC236}">
                <a16:creationId xmlns:a16="http://schemas.microsoft.com/office/drawing/2014/main" id="{4DDF1EFF-07BF-4441-B3B0-3054A5D9EE48}"/>
              </a:ext>
            </a:extLst>
          </p:cNvPr>
          <p:cNvSpPr>
            <a:spLocks xmlns:a="http://schemas.openxmlformats.org/drawingml/2006/main" noGrp="1"/>
          </p:cNvSpPr>
          <p:nvPr/>
        </p:nvSpPr>
        <p:spPr>
          <a:xfrm xmlns:a="http://schemas.openxmlformats.org/drawingml/2006/main">
            <a:off x="7858125" y="58578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A8B6C8"/>
                </a:solidFill>
                <a:latin typeface="Arial"/>
                <a:ea typeface="Arial"/>
                <a:cs typeface="Arial"/>
              </a:defRPr>
            </a:pPr>
            <a:r>
              <a:rPr sz="1350" b="0">
                <a:solidFill>
                  <a:srgbClr val="A8B6C8"/>
                </a:solidFill>
                <a:latin typeface="Arial"/>
                <a:ea typeface="Arial"/>
                <a:cs typeface="Arial"/>
              </a:rPr>
              <a:t>Accuracy means TP / (TP + FP + FN)</a:t>
            </a:r>
          </a:p>
        </p:txBody>
      </p:sp>
      <p:sp>
        <p:nvSpPr>
          <p:cNvPr id="10" name="">
            <a:extLst xmlns:a="http://schemas.openxmlformats.org/drawingml/2006/main">
              <a:ext uri="{FF2B5EF4-FFF2-40B4-BE49-F238E27FC236}">
                <a16:creationId xmlns:a16="http://schemas.microsoft.com/office/drawing/2014/main" id="{B493354B-0452-49CF-B140-A68AB6CE27B5}"/>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Development evidence only. Final test remains sealed.</a:t>
            </a:r>
          </a:p>
        </p:txBody>
      </p:sp>
      <p:sp>
        <p:nvSpPr>
          <p:cNvPr id="11" name="">
            <a:extLst xmlns:a="http://schemas.openxmlformats.org/drawingml/2006/main">
              <a:ext uri="{FF2B5EF4-FFF2-40B4-BE49-F238E27FC236}">
                <a16:creationId xmlns:a16="http://schemas.microsoft.com/office/drawing/2014/main" id="{07D5D4C5-036D-439B-A899-BF083281DDD4}"/>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6</a:t>
            </a:r>
          </a:p>
        </p:txBody>
      </p:sp>
    </p:spTree>
    <p:extLst>
      <p:ext uri="{BB962C8B-B14F-4D97-AF65-F5344CB8AC3E}">
        <p14:creationId xmlns:p14="http://schemas.microsoft.com/office/powerpoint/2010/main" val="53085282"/>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9F0582-9BCC-4F6B-9836-E5D99E7FA59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CFD120-D219-46CB-88B9-EE71CB991F90}"/>
              </a:ext>
            </a:extLst>
          </p:cNvPr>
          <p:cNvSpPr>
            <a:spLocks xmlns:a="http://schemas.openxmlformats.org/drawingml/2006/main" noGrp="1"/>
          </p:cNvSpPr>
          <p:nvPr/>
        </p:nvSpPr>
        <p:spPr>
          <a:xfrm xmlns:a="http://schemas.openxmlformats.org/drawingml/2006/main">
            <a:off x="628650" y="400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8FAFC"/>
                </a:solidFill>
                <a:latin typeface="Arial"/>
                <a:ea typeface="Arial"/>
                <a:cs typeface="Arial"/>
              </a:defRPr>
            </a:pPr>
            <a:r>
              <a:rPr sz="3375" b="1">
                <a:solidFill>
                  <a:srgbClr val="F8FAFC"/>
                </a:solidFill>
                <a:latin typeface="Arial"/>
                <a:ea typeface="Arial"/>
                <a:cs typeface="Arial"/>
              </a:rPr>
              <a:t>Why E2 fell behind</a:t>
            </a:r>
          </a:p>
        </p:txBody>
      </p:sp>
      <p:sp>
        <p:nvSpPr>
          <p:cNvPr id="3" name="">
            <a:extLst xmlns:a="http://schemas.openxmlformats.org/drawingml/2006/main">
              <a:ext uri="{FF2B5EF4-FFF2-40B4-BE49-F238E27FC236}">
                <a16:creationId xmlns:a16="http://schemas.microsoft.com/office/drawing/2014/main" id="{097F39D0-2F60-4E70-8667-F362BA80BCEC}"/>
              </a:ext>
            </a:extLst>
          </p:cNvPr>
          <p:cNvSpPr>
            <a:spLocks xmlns:a="http://schemas.openxmlformats.org/drawingml/2006/main" noGrp="1"/>
          </p:cNvSpPr>
          <p:nvPr/>
        </p:nvSpPr>
        <p:spPr>
          <a:xfrm xmlns:a="http://schemas.openxmlformats.org/drawingml/2006/main">
            <a:off x="647700" y="1000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Correct, absent, and shifted telemetry give almost the same E2 result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a42be7b6fc745ae"/>
          <a:stretch xmlns:a="http://schemas.openxmlformats.org/drawingml/2006/main"/>
        </p:blipFill>
        <p:spPr>
          <a:xfrm xmlns:a="http://schemas.openxmlformats.org/drawingml/2006/main">
            <a:off x="457200" y="1737717"/>
            <a:ext cx="7524750" cy="366831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7A5A8B3-8C42-43BB-985B-3A32E6A16ABE}"/>
              </a:ext>
            </a:extLst>
          </p:cNvPr>
          <p:cNvSpPr>
            <a:spLocks xmlns:a="http://schemas.openxmlformats.org/drawingml/2006/main" noGrp="1"/>
          </p:cNvSpPr>
          <p:nvPr/>
        </p:nvSpPr>
        <p:spPr>
          <a:xfrm xmlns:a="http://schemas.openxmlformats.org/drawingml/2006/main">
            <a:off x="8524875" y="17145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F59E0B"/>
                </a:solidFill>
                <a:latin typeface="Arial"/>
                <a:ea typeface="Arial"/>
                <a:cs typeface="Arial"/>
              </a:defRPr>
            </a:pPr>
            <a:r>
              <a:rPr sz="1650" b="0">
                <a:solidFill>
                  <a:srgbClr val="F59E0B"/>
                </a:solidFill>
                <a:latin typeface="Arial"/>
                <a:ea typeface="Arial"/>
                <a:cs typeface="Arial"/>
              </a:rPr>
              <a:t>Paired</a:t>
            </a:r>
          </a:p>
        </p:txBody>
      </p:sp>
      <p:sp>
        <p:nvSpPr>
          <p:cNvPr id="6" name="">
            <a:extLst xmlns:a="http://schemas.openxmlformats.org/drawingml/2006/main">
              <a:ext uri="{FF2B5EF4-FFF2-40B4-BE49-F238E27FC236}">
                <a16:creationId xmlns:a16="http://schemas.microsoft.com/office/drawing/2014/main" id="{7D7C23E6-07CB-40B8-B5E4-F77C1EF20C2F}"/>
              </a:ext>
            </a:extLst>
          </p:cNvPr>
          <p:cNvSpPr>
            <a:spLocks xmlns:a="http://schemas.openxmlformats.org/drawingml/2006/main" noGrp="1"/>
          </p:cNvSpPr>
          <p:nvPr/>
        </p:nvSpPr>
        <p:spPr>
          <a:xfrm xmlns:a="http://schemas.openxmlformats.org/drawingml/2006/main">
            <a:off x="8524875" y="20955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F8FAFC"/>
                </a:solidFill>
                <a:latin typeface="Arial"/>
                <a:ea typeface="Arial"/>
                <a:cs typeface="Arial"/>
              </a:defRPr>
            </a:pPr>
            <a:r>
              <a:rPr sz="2550" b="1">
                <a:solidFill>
                  <a:srgbClr val="F8FAFC"/>
                </a:solidFill>
                <a:latin typeface="Arial"/>
                <a:ea typeface="Arial"/>
                <a:cs typeface="Arial"/>
              </a:rPr>
              <a:t>0.1146 AP50</a:t>
            </a:r>
          </a:p>
        </p:txBody>
      </p:sp>
      <p:sp>
        <p:nvSpPr>
          <p:cNvPr id="7" name="">
            <a:extLst xmlns:a="http://schemas.openxmlformats.org/drawingml/2006/main">
              <a:ext uri="{FF2B5EF4-FFF2-40B4-BE49-F238E27FC236}">
                <a16:creationId xmlns:a16="http://schemas.microsoft.com/office/drawing/2014/main" id="{EF6F1E79-55BA-49D3-8ED2-58289F99F51F}"/>
              </a:ext>
            </a:extLst>
          </p:cNvPr>
          <p:cNvSpPr>
            <a:spLocks xmlns:a="http://schemas.openxmlformats.org/drawingml/2006/main" noGrp="1"/>
          </p:cNvSpPr>
          <p:nvPr/>
        </p:nvSpPr>
        <p:spPr>
          <a:xfrm xmlns:a="http://schemas.openxmlformats.org/drawingml/2006/main">
            <a:off x="8524875" y="29527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A78BFA"/>
                </a:solidFill>
                <a:latin typeface="Arial"/>
                <a:ea typeface="Arial"/>
                <a:cs typeface="Arial"/>
              </a:defRPr>
            </a:pPr>
            <a:r>
              <a:rPr sz="1650" b="0">
                <a:solidFill>
                  <a:srgbClr val="A78BFA"/>
                </a:solidFill>
                <a:latin typeface="Arial"/>
                <a:ea typeface="Arial"/>
                <a:cs typeface="Arial"/>
              </a:rPr>
              <a:t>Masked</a:t>
            </a:r>
          </a:p>
        </p:txBody>
      </p:sp>
      <p:sp>
        <p:nvSpPr>
          <p:cNvPr id="8" name="">
            <a:extLst xmlns:a="http://schemas.openxmlformats.org/drawingml/2006/main">
              <a:ext uri="{FF2B5EF4-FFF2-40B4-BE49-F238E27FC236}">
                <a16:creationId xmlns:a16="http://schemas.microsoft.com/office/drawing/2014/main" id="{7842B27E-2A9B-48F6-BE28-5FD21FA9F3C7}"/>
              </a:ext>
            </a:extLst>
          </p:cNvPr>
          <p:cNvSpPr>
            <a:spLocks xmlns:a="http://schemas.openxmlformats.org/drawingml/2006/main" noGrp="1"/>
          </p:cNvSpPr>
          <p:nvPr/>
        </p:nvSpPr>
        <p:spPr>
          <a:xfrm xmlns:a="http://schemas.openxmlformats.org/drawingml/2006/main">
            <a:off x="8524875" y="33337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F8FAFC"/>
                </a:solidFill>
                <a:latin typeface="Arial"/>
                <a:ea typeface="Arial"/>
                <a:cs typeface="Arial"/>
              </a:defRPr>
            </a:pPr>
            <a:r>
              <a:rPr sz="2550" b="1">
                <a:solidFill>
                  <a:srgbClr val="F8FAFC"/>
                </a:solidFill>
                <a:latin typeface="Arial"/>
                <a:ea typeface="Arial"/>
                <a:cs typeface="Arial"/>
              </a:rPr>
              <a:t>0.1167 AP50</a:t>
            </a:r>
          </a:p>
        </p:txBody>
      </p:sp>
      <p:sp>
        <p:nvSpPr>
          <p:cNvPr id="9" name="">
            <a:extLst xmlns:a="http://schemas.openxmlformats.org/drawingml/2006/main">
              <a:ext uri="{FF2B5EF4-FFF2-40B4-BE49-F238E27FC236}">
                <a16:creationId xmlns:a16="http://schemas.microsoft.com/office/drawing/2014/main" id="{54B5BE7E-45D4-4601-A751-157EDA755780}"/>
              </a:ext>
            </a:extLst>
          </p:cNvPr>
          <p:cNvSpPr>
            <a:spLocks xmlns:a="http://schemas.openxmlformats.org/drawingml/2006/main" noGrp="1"/>
          </p:cNvSpPr>
          <p:nvPr/>
        </p:nvSpPr>
        <p:spPr>
          <a:xfrm xmlns:a="http://schemas.openxmlformats.org/drawingml/2006/main">
            <a:off x="8524875" y="41910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FB7185"/>
                </a:solidFill>
                <a:latin typeface="Arial"/>
                <a:ea typeface="Arial"/>
                <a:cs typeface="Arial"/>
              </a:defRPr>
            </a:pPr>
            <a:r>
              <a:rPr sz="1650" b="0">
                <a:solidFill>
                  <a:srgbClr val="FB7185"/>
                </a:solidFill>
                <a:latin typeface="Arial"/>
                <a:ea typeface="Arial"/>
                <a:cs typeface="Arial"/>
              </a:rPr>
              <a:t>Shifted</a:t>
            </a:r>
          </a:p>
        </p:txBody>
      </p:sp>
      <p:sp>
        <p:nvSpPr>
          <p:cNvPr id="10" name="">
            <a:extLst xmlns:a="http://schemas.openxmlformats.org/drawingml/2006/main">
              <a:ext uri="{FF2B5EF4-FFF2-40B4-BE49-F238E27FC236}">
                <a16:creationId xmlns:a16="http://schemas.microsoft.com/office/drawing/2014/main" id="{60217845-C992-4BC6-8BC4-4AB89DF60E0A}"/>
              </a:ext>
            </a:extLst>
          </p:cNvPr>
          <p:cNvSpPr>
            <a:spLocks xmlns:a="http://schemas.openxmlformats.org/drawingml/2006/main" noGrp="1"/>
          </p:cNvSpPr>
          <p:nvPr/>
        </p:nvSpPr>
        <p:spPr>
          <a:xfrm xmlns:a="http://schemas.openxmlformats.org/drawingml/2006/main">
            <a:off x="8524875" y="45720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F8FAFC"/>
                </a:solidFill>
                <a:latin typeface="Arial"/>
                <a:ea typeface="Arial"/>
                <a:cs typeface="Arial"/>
              </a:defRPr>
            </a:pPr>
            <a:r>
              <a:rPr sz="2550" b="1">
                <a:solidFill>
                  <a:srgbClr val="F8FAFC"/>
                </a:solidFill>
                <a:latin typeface="Arial"/>
                <a:ea typeface="Arial"/>
                <a:cs typeface="Arial"/>
              </a:rPr>
              <a:t>0.1138 AP50</a:t>
            </a:r>
          </a:p>
        </p:txBody>
      </p:sp>
      <p:sp>
        <p:nvSpPr>
          <p:cNvPr id="11" name="">
            <a:extLst xmlns:a="http://schemas.openxmlformats.org/drawingml/2006/main">
              <a:ext uri="{FF2B5EF4-FFF2-40B4-BE49-F238E27FC236}">
                <a16:creationId xmlns:a16="http://schemas.microsoft.com/office/drawing/2014/main" id="{C1AAB2D7-1E65-481A-9E43-B23372549A5E}"/>
              </a:ext>
            </a:extLst>
          </p:cNvPr>
          <p:cNvSpPr>
            <a:spLocks xmlns:a="http://schemas.openxmlformats.org/drawingml/2006/main" noGrp="1"/>
          </p:cNvSpPr>
          <p:nvPr/>
        </p:nvSpPr>
        <p:spPr>
          <a:xfrm xmlns:a="http://schemas.openxmlformats.org/drawingml/2006/main">
            <a:off x="8096250" y="53340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F8FAFC"/>
                </a:solidFill>
                <a:latin typeface="Arial"/>
                <a:ea typeface="Arial"/>
                <a:cs typeface="Arial"/>
              </a:defRPr>
            </a:pPr>
            <a:r>
              <a:rPr sz="1650" b="1">
                <a:solidFill>
                  <a:srgbClr val="F8FAFC"/>
                </a:solidFill>
                <a:latin typeface="Arial"/>
                <a:ea typeface="Arial"/>
                <a:cs typeface="Arial"/>
              </a:rPr>
              <a:t>Main finding: joint training changed the visual weights more than the state values changed the output.</a:t>
            </a:r>
          </a:p>
        </p:txBody>
      </p:sp>
      <p:sp>
        <p:nvSpPr>
          <p:cNvPr id="12" name="">
            <a:extLst xmlns:a="http://schemas.openxmlformats.org/drawingml/2006/main">
              <a:ext uri="{FF2B5EF4-FFF2-40B4-BE49-F238E27FC236}">
                <a16:creationId xmlns:a16="http://schemas.microsoft.com/office/drawing/2014/main" id="{A4557817-26CB-40F3-B35F-DAE2AADE5786}"/>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Development evidence only. Final test remains sealed.</a:t>
            </a:r>
          </a:p>
        </p:txBody>
      </p:sp>
      <p:sp>
        <p:nvSpPr>
          <p:cNvPr id="13" name="">
            <a:extLst xmlns:a="http://schemas.openxmlformats.org/drawingml/2006/main">
              <a:ext uri="{FF2B5EF4-FFF2-40B4-BE49-F238E27FC236}">
                <a16:creationId xmlns:a16="http://schemas.microsoft.com/office/drawing/2014/main" id="{D5040069-9EE1-4FD8-B8AB-540FE64BF2D2}"/>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7</a:t>
            </a:r>
          </a:p>
        </p:txBody>
      </p:sp>
    </p:spTree>
    <p:extLst>
      <p:ext uri="{BB962C8B-B14F-4D97-AF65-F5344CB8AC3E}">
        <p14:creationId xmlns:p14="http://schemas.microsoft.com/office/powerpoint/2010/main" val="616856576"/>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17CBB0-E1EC-414F-8262-CD89E08997E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B5797E-56FD-4B0D-8066-61C349ACCE73}"/>
              </a:ext>
            </a:extLst>
          </p:cNvPr>
          <p:cNvSpPr>
            <a:spLocks xmlns:a="http://schemas.openxmlformats.org/drawingml/2006/main" noGrp="1"/>
          </p:cNvSpPr>
          <p:nvPr/>
        </p:nvSpPr>
        <p:spPr>
          <a:xfrm xmlns:a="http://schemas.openxmlformats.org/drawingml/2006/main">
            <a:off x="628650" y="400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8FAFC"/>
                </a:solidFill>
                <a:latin typeface="Arial"/>
                <a:ea typeface="Arial"/>
                <a:cs typeface="Arial"/>
              </a:defRPr>
            </a:pPr>
            <a:r>
              <a:rPr sz="3375" b="1">
                <a:solidFill>
                  <a:srgbClr val="F8FAFC"/>
                </a:solidFill>
                <a:latin typeface="Arial"/>
                <a:ea typeface="Arial"/>
                <a:cs typeface="Arial"/>
              </a:rPr>
              <a:t>Ready for the next review</a:t>
            </a:r>
          </a:p>
        </p:txBody>
      </p:sp>
      <p:sp>
        <p:nvSpPr>
          <p:cNvPr id="3" name="">
            <a:extLst xmlns:a="http://schemas.openxmlformats.org/drawingml/2006/main">
              <a:ext uri="{FF2B5EF4-FFF2-40B4-BE49-F238E27FC236}">
                <a16:creationId xmlns:a16="http://schemas.microsoft.com/office/drawing/2014/main" id="{FF227D22-6364-46AA-A893-122FAA457A13}"/>
              </a:ext>
            </a:extLst>
          </p:cNvPr>
          <p:cNvSpPr>
            <a:spLocks xmlns:a="http://schemas.openxmlformats.org/drawingml/2006/main" noGrp="1"/>
          </p:cNvSpPr>
          <p:nvPr/>
        </p:nvSpPr>
        <p:spPr>
          <a:xfrm xmlns:a="http://schemas.openxmlformats.org/drawingml/2006/main">
            <a:off x="647700" y="1000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A8B6C8"/>
                </a:solidFill>
                <a:latin typeface="Arial"/>
                <a:ea typeface="Arial"/>
                <a:cs typeface="Arial"/>
              </a:defRPr>
            </a:pPr>
            <a:r>
              <a:rPr sz="1575" b="0">
                <a:solidFill>
                  <a:srgbClr val="A8B6C8"/>
                </a:solidFill>
                <a:latin typeface="Arial"/>
                <a:ea typeface="Arial"/>
                <a:cs typeface="Arial"/>
              </a:rPr>
              <a:t>Evidence, backend, and a safer telemetry experiment now move in parallel</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7831da04dc54a0c"/>
          <a:stretch xmlns:a="http://schemas.openxmlformats.org/drawingml/2006/main"/>
        </p:blipFill>
        <p:spPr>
          <a:xfrm xmlns:a="http://schemas.openxmlformats.org/drawingml/2006/main">
            <a:off x="6238875" y="1999452"/>
            <a:ext cx="5334000" cy="300197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969279-7F7C-4FDB-B2A3-FEF24D78429C}"/>
              </a:ext>
            </a:extLst>
          </p:cNvPr>
          <p:cNvSpPr>
            <a:spLocks xmlns:a="http://schemas.openxmlformats.org/drawingml/2006/main" noGrp="1"/>
          </p:cNvSpPr>
          <p:nvPr/>
        </p:nvSpPr>
        <p:spPr>
          <a:xfrm xmlns:a="http://schemas.openxmlformats.org/drawingml/2006/main">
            <a:off x="685800" y="1571625"/>
            <a:ext cx="4857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lgn="l">
              <a:spcAft>
                <a:spcPts val="1300"/>
              </a:spcAft>
              <a:buChar char="•"/>
              <a:defRPr sz="1725" b="0">
                <a:solidFill>
                  <a:srgbClr val="F8FAFC"/>
                </a:solidFill>
                <a:latin typeface="Arial"/>
                <a:ea typeface="Arial"/>
                <a:cs typeface="Arial"/>
              </a:defRPr>
            </a:pPr>
            <a:r>
              <a:rPr sz="1725" b="0">
                <a:solidFill>
                  <a:srgbClr val="F8FAFC"/>
                </a:solidFill>
                <a:latin typeface="Arial"/>
                <a:ea typeface="Arial"/>
                <a:cs typeface="Arial"/>
              </a:rPr>
              <a:t>FastAPI backend is complete for health, reports, inference, replay, and human reviews.</a:t>
            </a:r>
          </a:p>
          <a:p xmlns:a="http://schemas.openxmlformats.org/drawingml/2006/main">
            <a:pPr marL="228600" indent="-114300" algn="l">
              <a:spcAft>
                <a:spcPts val="1300"/>
              </a:spcAft>
              <a:buChar char="•"/>
              <a:defRPr sz="1725" b="0">
                <a:solidFill>
                  <a:srgbClr val="F8FAFC"/>
                </a:solidFill>
                <a:latin typeface="Arial"/>
                <a:ea typeface="Arial"/>
                <a:cs typeface="Arial"/>
              </a:defRPr>
            </a:pPr>
            <a:r>
              <a:rPr sz="1725" b="0">
                <a:solidFill>
                  <a:srgbClr val="F8FAFC"/>
                </a:solidFill>
                <a:latin typeface="Arial"/>
                <a:ea typeface="Arial"/>
                <a:cs typeface="Arial"/>
              </a:rPr>
              <a:t>Graphs cover the exact split, every loss step, AP, precision, recall, F1, and detection accuracy.</a:t>
            </a:r>
          </a:p>
          <a:p xmlns:a="http://schemas.openxmlformats.org/drawingml/2006/main">
            <a:pPr marL="228600" indent="-114300" algn="l">
              <a:spcAft>
                <a:spcPts val="1300"/>
              </a:spcAft>
              <a:buChar char="•"/>
              <a:defRPr sz="1725" b="0">
                <a:solidFill>
                  <a:srgbClr val="F8FAFC"/>
                </a:solidFill>
                <a:latin typeface="Arial"/>
                <a:ea typeface="Arial"/>
                <a:cs typeface="Arial"/>
              </a:defRPr>
            </a:pPr>
            <a:r>
              <a:rPr sz="1725" b="0">
                <a:solidFill>
                  <a:srgbClr val="F8FAFC"/>
                </a:solidFill>
                <a:latin typeface="Arial"/>
                <a:ea typeface="Arial"/>
                <a:cs typeface="Arial"/>
              </a:rPr>
              <a:t>E3 and E4 freeze the stronger E1 visual detector and train only the state adapter. One adapter also drops state on half the training steps.</a:t>
            </a:r>
          </a:p>
          <a:p xmlns:a="http://schemas.openxmlformats.org/drawingml/2006/main">
            <a:pPr marL="228600" indent="-114300" algn="l">
              <a:spcAft>
                <a:spcPts val="1300"/>
              </a:spcAft>
              <a:buChar char="•"/>
              <a:defRPr sz="1725" b="0">
                <a:solidFill>
                  <a:srgbClr val="F8FAFC"/>
                </a:solidFill>
                <a:latin typeface="Arial"/>
                <a:ea typeface="Arial"/>
                <a:cs typeface="Arial"/>
              </a:defRPr>
            </a:pPr>
            <a:r>
              <a:rPr sz="1725" b="0">
                <a:solidFill>
                  <a:srgbClr val="F8FAFC"/>
                </a:solidFill>
                <a:latin typeface="Arial"/>
                <a:ea typeface="Arial"/>
                <a:cs typeface="Arial"/>
              </a:rPr>
              <a:t>The final test remains sealed until the model and threshold are frozen.</a:t>
            </a:r>
          </a:p>
        </p:txBody>
      </p:sp>
      <p:sp>
        <p:nvSpPr>
          <p:cNvPr id="6" name="">
            <a:extLst xmlns:a="http://schemas.openxmlformats.org/drawingml/2006/main">
              <a:ext uri="{FF2B5EF4-FFF2-40B4-BE49-F238E27FC236}">
                <a16:creationId xmlns:a16="http://schemas.microsoft.com/office/drawing/2014/main" id="{4328962D-9FE3-46FC-8E81-41A39ADF7B21}"/>
              </a:ext>
            </a:extLst>
          </p:cNvPr>
          <p:cNvSpPr>
            <a:spLocks xmlns:a="http://schemas.openxmlformats.org/drawingml/2006/main" noGrp="1"/>
          </p:cNvSpPr>
          <p:nvPr/>
        </p:nvSpPr>
        <p:spPr>
          <a:xfrm xmlns:a="http://schemas.openxmlformats.org/drawingml/2006/main">
            <a:off x="714375" y="52863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22D3EE"/>
                </a:solidFill>
                <a:latin typeface="Arial"/>
                <a:ea typeface="Arial"/>
                <a:cs typeface="Arial"/>
              </a:defRPr>
            </a:pPr>
            <a:r>
              <a:rPr sz="1650" b="1">
                <a:solidFill>
                  <a:srgbClr val="22D3EE"/>
                </a:solidFill>
                <a:latin typeface="Arial"/>
                <a:ea typeface="Arial"/>
                <a:cs typeface="Arial"/>
              </a:rPr>
              <a:t>Decision rule</a:t>
            </a:r>
          </a:p>
        </p:txBody>
      </p:sp>
      <p:sp>
        <p:nvSpPr>
          <p:cNvPr id="7" name="">
            <a:extLst xmlns:a="http://schemas.openxmlformats.org/drawingml/2006/main">
              <a:ext uri="{FF2B5EF4-FFF2-40B4-BE49-F238E27FC236}">
                <a16:creationId xmlns:a16="http://schemas.microsoft.com/office/drawing/2014/main" id="{06069A69-E41A-4FD1-8E17-1230E5723C69}"/>
              </a:ext>
            </a:extLst>
          </p:cNvPr>
          <p:cNvSpPr>
            <a:spLocks xmlns:a="http://schemas.openxmlformats.org/drawingml/2006/main" noGrp="1"/>
          </p:cNvSpPr>
          <p:nvPr/>
        </p:nvSpPr>
        <p:spPr>
          <a:xfrm xmlns:a="http://schemas.openxmlformats.org/drawingml/2006/main">
            <a:off x="714375" y="56388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A8B6C8"/>
                </a:solidFill>
                <a:latin typeface="Arial"/>
                <a:ea typeface="Arial"/>
                <a:cs typeface="Arial"/>
              </a:defRPr>
            </a:pPr>
            <a:r>
              <a:rPr sz="1350" b="0">
                <a:solidFill>
                  <a:srgbClr val="A8B6C8"/>
                </a:solidFill>
                <a:latin typeface="Arial"/>
                <a:ea typeface="Arial"/>
                <a:cs typeface="Arial"/>
              </a:rPr>
              <a:t>Keep E1 unless a frozen-visual adapter beats it on development without weakening the masked fallback.</a:t>
            </a:r>
          </a:p>
        </p:txBody>
      </p:sp>
      <p:sp>
        <p:nvSpPr>
          <p:cNvPr id="8" name="">
            <a:extLst xmlns:a="http://schemas.openxmlformats.org/drawingml/2006/main">
              <a:ext uri="{FF2B5EF4-FFF2-40B4-BE49-F238E27FC236}">
                <a16:creationId xmlns:a16="http://schemas.microsoft.com/office/drawing/2014/main" id="{548282A3-99FA-407E-ADE2-4F9F008959D9}"/>
              </a:ext>
            </a:extLst>
          </p:cNvPr>
          <p:cNvSpPr>
            <a:spLocks xmlns:a="http://schemas.openxmlformats.org/drawingml/2006/main" noGrp="1"/>
          </p:cNvSpPr>
          <p:nvPr/>
        </p:nvSpPr>
        <p:spPr>
          <a:xfrm xmlns:a="http://schemas.openxmlformats.org/drawingml/2006/main">
            <a:off x="628650" y="64960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A8B6C8"/>
                </a:solidFill>
                <a:latin typeface="Arial"/>
                <a:ea typeface="Arial"/>
                <a:cs typeface="Arial"/>
              </a:defRPr>
            </a:pPr>
            <a:r>
              <a:rPr sz="1050" b="0">
                <a:solidFill>
                  <a:srgbClr val="A8B6C8"/>
                </a:solidFill>
                <a:latin typeface="Arial"/>
                <a:ea typeface="Arial"/>
                <a:cs typeface="Arial"/>
              </a:rPr>
              <a:t>Development evidence only. Final test remains sealed.</a:t>
            </a:r>
          </a:p>
        </p:txBody>
      </p:sp>
      <p:sp>
        <p:nvSpPr>
          <p:cNvPr id="9" name="">
            <a:extLst xmlns:a="http://schemas.openxmlformats.org/drawingml/2006/main">
              <a:ext uri="{FF2B5EF4-FFF2-40B4-BE49-F238E27FC236}">
                <a16:creationId xmlns:a16="http://schemas.microsoft.com/office/drawing/2014/main" id="{2B443810-ECD0-4951-BD1C-1ABD3A20734A}"/>
              </a:ext>
            </a:extLst>
          </p:cNvPr>
          <p:cNvSpPr>
            <a:spLocks xmlns:a="http://schemas.openxmlformats.org/drawingml/2006/main" noGrp="1"/>
          </p:cNvSpPr>
          <p:nvPr/>
        </p:nvSpPr>
        <p:spPr>
          <a:xfrm xmlns:a="http://schemas.openxmlformats.org/drawingml/2006/main">
            <a:off x="1114425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A8B6C8"/>
                </a:solidFill>
                <a:latin typeface="Arial"/>
                <a:ea typeface="Arial"/>
                <a:cs typeface="Arial"/>
              </a:defRPr>
            </a:pPr>
            <a:r>
              <a:rPr sz="1050" b="0">
                <a:solidFill>
                  <a:srgbClr val="A8B6C8"/>
                </a:solidFill>
                <a:latin typeface="Arial"/>
                <a:ea typeface="Arial"/>
                <a:cs typeface="Arial"/>
              </a:rPr>
              <a:t>8</a:t>
            </a:r>
          </a:p>
        </p:txBody>
      </p:sp>
    </p:spTree>
    <p:extLst>
      <p:ext uri="{BB962C8B-B14F-4D97-AF65-F5344CB8AC3E}">
        <p14:creationId xmlns:p14="http://schemas.microsoft.com/office/powerpoint/2010/main" val="988444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2026-09-18T18:11:28.0510000Z</dcterms:created>
  <dcterms:modified xsi:type="dcterms:W3CDTF">2026-09-18T18:11:28.0510000Z</dcterms:modified>
</coreProperties>
</file>